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58" r:id="rId5"/>
    <p:sldId id="262" r:id="rId6"/>
    <p:sldId id="259" r:id="rId7"/>
    <p:sldId id="261" r:id="rId8"/>
    <p:sldId id="266" r:id="rId9"/>
    <p:sldId id="264" r:id="rId10"/>
    <p:sldId id="267" r:id="rId11"/>
    <p:sldId id="268" r:id="rId12"/>
    <p:sldId id="269" r:id="rId13"/>
    <p:sldId id="270" r:id="rId14"/>
    <p:sldId id="271" r:id="rId15"/>
    <p:sldId id="273" r:id="rId16"/>
    <p:sldId id="274" r:id="rId17"/>
    <p:sldId id="275" r:id="rId18"/>
    <p:sldId id="276" r:id="rId19"/>
    <p:sldId id="277" r:id="rId20"/>
    <p:sldId id="278" r:id="rId21"/>
    <p:sldId id="272" r:id="rId22"/>
    <p:sldId id="263" r:id="rId23"/>
    <p:sldId id="26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19"/>
    <p:restoredTop sz="94691"/>
  </p:normalViewPr>
  <p:slideViewPr>
    <p:cSldViewPr snapToGrid="0">
      <p:cViewPr varScale="1">
        <p:scale>
          <a:sx n="117" d="100"/>
          <a:sy n="117" d="100"/>
        </p:scale>
        <p:origin x="192" y="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825C6A-DFF7-2B41-898E-3CCFFC07D2CA}" type="doc">
      <dgm:prSet loTypeId="urn:microsoft.com/office/officeart/2005/8/layout/hList7" loCatId="" qsTypeId="urn:microsoft.com/office/officeart/2005/8/quickstyle/simple1" qsCatId="simple" csTypeId="urn:microsoft.com/office/officeart/2005/8/colors/accent1_2" csCatId="accent1" phldr="1"/>
      <dgm:spPr/>
    </dgm:pt>
    <dgm:pt modelId="{81A6BF8B-8601-F343-9881-E5B390450769}">
      <dgm:prSet phldrT="[Text]" custT="1"/>
      <dgm:spPr/>
      <dgm:t>
        <a:bodyPr/>
        <a:lstStyle/>
        <a:p>
          <a:r>
            <a:rPr lang="sr-Latn-RS" sz="3200" noProof="0" dirty="0" err="1"/>
            <a:t>Interpretability</a:t>
          </a:r>
          <a:endParaRPr lang="sr-Latn-RS" sz="3200" noProof="0" dirty="0"/>
        </a:p>
        <a:p>
          <a:r>
            <a:rPr lang="sr-Latn-RS" sz="2000" noProof="0" dirty="0"/>
            <a:t>•</a:t>
          </a:r>
          <a:r>
            <a:rPr lang="sr-Latn-RS" sz="2000" noProof="0" dirty="0" err="1"/>
            <a:t>Dependent</a:t>
          </a:r>
          <a:r>
            <a:rPr lang="sr-Latn-RS" sz="2000" noProof="0" dirty="0"/>
            <a:t> on model </a:t>
          </a:r>
          <a:r>
            <a:rPr lang="sr-Latn-RS" sz="2000" noProof="0" dirty="0" err="1"/>
            <a:t>architecture</a:t>
          </a:r>
          <a:endParaRPr lang="sr-Latn-RS" sz="2000" noProof="0" dirty="0"/>
        </a:p>
        <a:p>
          <a:r>
            <a:rPr lang="sr-Latn-RS" sz="2000" noProof="0" dirty="0"/>
            <a:t>•</a:t>
          </a:r>
          <a:r>
            <a:rPr lang="sr-Latn-RS" sz="2000" noProof="0" dirty="0" err="1"/>
            <a:t>Computationally</a:t>
          </a:r>
          <a:r>
            <a:rPr lang="sr-Latn-RS" sz="2000" noProof="0" dirty="0"/>
            <a:t> </a:t>
          </a:r>
          <a:r>
            <a:rPr lang="sr-Latn-RS" sz="2000" noProof="0" dirty="0" err="1"/>
            <a:t>fast</a:t>
          </a:r>
          <a:endParaRPr lang="sr-Latn-RS" sz="2000" noProof="0" dirty="0"/>
        </a:p>
        <a:p>
          <a:r>
            <a:rPr lang="sr-Latn-RS" sz="2000" noProof="0" dirty="0"/>
            <a:t>•</a:t>
          </a:r>
          <a:r>
            <a:rPr lang="sr-Latn-RS" sz="2000" noProof="0" dirty="0" err="1"/>
            <a:t>Can</a:t>
          </a:r>
          <a:r>
            <a:rPr lang="sr-Latn-RS" sz="2000" noProof="0" dirty="0"/>
            <a:t> be </a:t>
          </a:r>
          <a:r>
            <a:rPr lang="sr-Latn-RS" sz="2000" noProof="0" dirty="0" err="1"/>
            <a:t>inferred</a:t>
          </a:r>
          <a:r>
            <a:rPr lang="sr-Latn-RS" sz="2000" noProof="0" dirty="0"/>
            <a:t> from </a:t>
          </a:r>
          <a:r>
            <a:rPr lang="sr-Latn-RS" sz="2000" noProof="0" dirty="0" err="1"/>
            <a:t>the</a:t>
          </a:r>
          <a:r>
            <a:rPr lang="sr-Latn-RS" sz="2000" noProof="0" dirty="0"/>
            <a:t> model </a:t>
          </a:r>
          <a:r>
            <a:rPr lang="sr-Latn-RS" sz="2000" noProof="0" dirty="0" err="1"/>
            <a:t>alone</a:t>
          </a:r>
          <a:endParaRPr lang="sr-Latn-RS" sz="2000" noProof="0" dirty="0"/>
        </a:p>
      </dgm:t>
    </dgm:pt>
    <dgm:pt modelId="{AED563EE-428A-304C-AEDE-22A9FD3B83F5}" type="parTrans" cxnId="{536A5214-1BA8-F24B-8DB8-AC5C49D4A17F}">
      <dgm:prSet/>
      <dgm:spPr/>
      <dgm:t>
        <a:bodyPr/>
        <a:lstStyle/>
        <a:p>
          <a:endParaRPr lang="en-US"/>
        </a:p>
      </dgm:t>
    </dgm:pt>
    <dgm:pt modelId="{871F0DCD-448D-6E43-AB19-9D4D76EC7054}" type="sibTrans" cxnId="{536A5214-1BA8-F24B-8DB8-AC5C49D4A17F}">
      <dgm:prSet/>
      <dgm:spPr/>
      <dgm:t>
        <a:bodyPr/>
        <a:lstStyle/>
        <a:p>
          <a:endParaRPr lang="en-US"/>
        </a:p>
      </dgm:t>
    </dgm:pt>
    <dgm:pt modelId="{2BE38102-CAEA-4746-ABB2-2C7DEE2ABDD9}">
      <dgm:prSet phldrT="[Text]" custT="1"/>
      <dgm:spPr/>
      <dgm:t>
        <a:bodyPr/>
        <a:lstStyle/>
        <a:p>
          <a:r>
            <a:rPr lang="sr-Latn-RS" sz="3200" noProof="0" dirty="0" err="1"/>
            <a:t>Explainability</a:t>
          </a:r>
          <a:endParaRPr lang="sr-Latn-RS" sz="3200" noProof="0" dirty="0"/>
        </a:p>
        <a:p>
          <a:r>
            <a:rPr lang="sr-Latn-RS" sz="2000" noProof="0" dirty="0"/>
            <a:t>•Model-</a:t>
          </a:r>
          <a:r>
            <a:rPr lang="sr-Latn-RS" sz="2000" noProof="0" dirty="0" err="1"/>
            <a:t>agnostic</a:t>
          </a:r>
          <a:endParaRPr lang="sr-Latn-RS" sz="2000" noProof="0" dirty="0"/>
        </a:p>
        <a:p>
          <a:r>
            <a:rPr lang="sr-Latn-RS" sz="2000" noProof="0" dirty="0"/>
            <a:t>•</a:t>
          </a:r>
          <a:r>
            <a:rPr lang="sr-Latn-RS" sz="2000" noProof="0" dirty="0" err="1"/>
            <a:t>Computationally</a:t>
          </a:r>
          <a:r>
            <a:rPr lang="sr-Latn-RS" sz="2000" noProof="0" dirty="0"/>
            <a:t> </a:t>
          </a:r>
          <a:r>
            <a:rPr lang="sr-Latn-RS" sz="2000" noProof="0" dirty="0" err="1"/>
            <a:t>intensive</a:t>
          </a:r>
          <a:endParaRPr lang="sr-Latn-RS" sz="2000" noProof="0" dirty="0"/>
        </a:p>
        <a:p>
          <a:r>
            <a:rPr lang="sr-Latn-RS" sz="2000" noProof="0" dirty="0"/>
            <a:t>•</a:t>
          </a:r>
          <a:r>
            <a:rPr lang="sr-Latn-RS" sz="2000" noProof="0" dirty="0" err="1"/>
            <a:t>Based</a:t>
          </a:r>
          <a:r>
            <a:rPr lang="sr-Latn-RS" sz="2000" noProof="0" dirty="0"/>
            <a:t> on </a:t>
          </a:r>
          <a:r>
            <a:rPr lang="sr-Latn-RS" sz="2000" noProof="0" dirty="0" err="1"/>
            <a:t>feature</a:t>
          </a:r>
          <a:r>
            <a:rPr lang="sr-Latn-RS" sz="2000" noProof="0" dirty="0"/>
            <a:t> </a:t>
          </a:r>
          <a:r>
            <a:rPr lang="sr-Latn-RS" sz="2000" noProof="0" dirty="0" err="1"/>
            <a:t>values</a:t>
          </a:r>
          <a:r>
            <a:rPr lang="sr-Latn-RS" sz="2000" noProof="0" dirty="0"/>
            <a:t> </a:t>
          </a:r>
          <a:r>
            <a:rPr lang="sr-Latn-RS" sz="2000" noProof="0" dirty="0" err="1"/>
            <a:t>and</a:t>
          </a:r>
          <a:r>
            <a:rPr lang="sr-Latn-RS" sz="2000" noProof="0" dirty="0"/>
            <a:t> </a:t>
          </a:r>
          <a:r>
            <a:rPr lang="sr-Latn-RS" sz="2000" noProof="0" dirty="0" err="1"/>
            <a:t>predictions</a:t>
          </a:r>
          <a:endParaRPr lang="sr-Latn-RS" sz="2000" noProof="0" dirty="0"/>
        </a:p>
      </dgm:t>
    </dgm:pt>
    <dgm:pt modelId="{BBF56725-4938-D240-A5C6-038B9DC9DEC4}" type="sibTrans" cxnId="{9B7C213D-F59F-5943-9325-7B2BC7D2A3A7}">
      <dgm:prSet/>
      <dgm:spPr/>
      <dgm:t>
        <a:bodyPr/>
        <a:lstStyle/>
        <a:p>
          <a:endParaRPr lang="en-US"/>
        </a:p>
      </dgm:t>
    </dgm:pt>
    <dgm:pt modelId="{364B514F-D934-DE42-9652-71C3870ADBA4}" type="parTrans" cxnId="{9B7C213D-F59F-5943-9325-7B2BC7D2A3A7}">
      <dgm:prSet/>
      <dgm:spPr/>
      <dgm:t>
        <a:bodyPr/>
        <a:lstStyle/>
        <a:p>
          <a:endParaRPr lang="en-US"/>
        </a:p>
      </dgm:t>
    </dgm:pt>
    <dgm:pt modelId="{35F3C944-00DA-634A-A598-51F506FB7E8C}" type="pres">
      <dgm:prSet presAssocID="{F6825C6A-DFF7-2B41-898E-3CCFFC07D2CA}" presName="Name0" presStyleCnt="0">
        <dgm:presLayoutVars>
          <dgm:dir/>
          <dgm:resizeHandles val="exact"/>
        </dgm:presLayoutVars>
      </dgm:prSet>
      <dgm:spPr/>
    </dgm:pt>
    <dgm:pt modelId="{CAA7942C-EB67-2045-B017-58E4B170CF02}" type="pres">
      <dgm:prSet presAssocID="{F6825C6A-DFF7-2B41-898E-3CCFFC07D2CA}" presName="fgShape" presStyleLbl="fgShp" presStyleIdx="0" presStyleCnt="1" custScaleX="114049" custScaleY="64185" custLinFactNeighborY="35489"/>
      <dgm:spPr/>
    </dgm:pt>
    <dgm:pt modelId="{EBD7C921-E237-2346-89A2-C486ED3F538B}" type="pres">
      <dgm:prSet presAssocID="{F6825C6A-DFF7-2B41-898E-3CCFFC07D2CA}" presName="linComp" presStyleCnt="0"/>
      <dgm:spPr/>
    </dgm:pt>
    <dgm:pt modelId="{4CD93638-6AE2-6A44-A22F-B0CDCA98B07E}" type="pres">
      <dgm:prSet presAssocID="{81A6BF8B-8601-F343-9881-E5B390450769}" presName="compNode" presStyleCnt="0"/>
      <dgm:spPr/>
    </dgm:pt>
    <dgm:pt modelId="{91803ED7-AB08-D14D-8C72-99EE5062C92D}" type="pres">
      <dgm:prSet presAssocID="{81A6BF8B-8601-F343-9881-E5B390450769}" presName="bkgdShape" presStyleLbl="node1" presStyleIdx="0" presStyleCnt="2" custScaleX="34236" custLinFactX="-328040" custLinFactNeighborX="-400000"/>
      <dgm:spPr/>
    </dgm:pt>
    <dgm:pt modelId="{6829EE54-553E-AB48-B7F7-5C2E3BF73491}" type="pres">
      <dgm:prSet presAssocID="{81A6BF8B-8601-F343-9881-E5B390450769}" presName="nodeTx" presStyleLbl="node1" presStyleIdx="0" presStyleCnt="2">
        <dgm:presLayoutVars>
          <dgm:bulletEnabled val="1"/>
        </dgm:presLayoutVars>
      </dgm:prSet>
      <dgm:spPr/>
    </dgm:pt>
    <dgm:pt modelId="{33C6C45B-B004-594A-AD22-080DE9EE19D4}" type="pres">
      <dgm:prSet presAssocID="{81A6BF8B-8601-F343-9881-E5B390450769}" presName="invisiNode" presStyleLbl="node1" presStyleIdx="0" presStyleCnt="2"/>
      <dgm:spPr/>
    </dgm:pt>
    <dgm:pt modelId="{BD7B1B5A-DB43-2241-95D6-B8D0140C8295}" type="pres">
      <dgm:prSet presAssocID="{81A6BF8B-8601-F343-9881-E5B390450769}" presName="imagNode" presStyleLbl="fgImgPlace1" presStyleIdx="0" presStyleCnt="2" custLinFactX="-100000" custLinFactNeighborX="-118564" custLinFactNeighborY="-7364"/>
      <dgm:spPr>
        <a:solidFill>
          <a:schemeClr val="accent1">
            <a:tint val="50000"/>
            <a:hueOff val="0"/>
            <a:satOff val="0"/>
            <a:lumOff val="0"/>
            <a:alpha val="0"/>
          </a:schemeClr>
        </a:solidFill>
        <a:ln>
          <a:solidFill>
            <a:schemeClr val="lt1">
              <a:hueOff val="0"/>
              <a:satOff val="0"/>
              <a:lumOff val="0"/>
              <a:alpha val="0"/>
            </a:schemeClr>
          </a:solidFill>
        </a:ln>
      </dgm:spPr>
    </dgm:pt>
    <dgm:pt modelId="{F13F3225-A5C9-6B49-BE62-2F66C8EDA555}" type="pres">
      <dgm:prSet presAssocID="{871F0DCD-448D-6E43-AB19-9D4D76EC7054}" presName="sibTrans" presStyleLbl="sibTrans2D1" presStyleIdx="0" presStyleCnt="0"/>
      <dgm:spPr/>
    </dgm:pt>
    <dgm:pt modelId="{92552033-C18E-5D4B-8D0F-10EF72320BD2}" type="pres">
      <dgm:prSet presAssocID="{2BE38102-CAEA-4746-ABB2-2C7DEE2ABDD9}" presName="compNode" presStyleCnt="0"/>
      <dgm:spPr/>
    </dgm:pt>
    <dgm:pt modelId="{2AEB96F0-468F-AB46-9297-3E1A09524455}" type="pres">
      <dgm:prSet presAssocID="{2BE38102-CAEA-4746-ABB2-2C7DEE2ABDD9}" presName="bkgdShape" presStyleLbl="node1" presStyleIdx="1" presStyleCnt="2" custScaleX="34520" custLinFactNeighborX="32824"/>
      <dgm:spPr/>
    </dgm:pt>
    <dgm:pt modelId="{E3CA13BB-E267-8245-93F2-76C144A3EDB9}" type="pres">
      <dgm:prSet presAssocID="{2BE38102-CAEA-4746-ABB2-2C7DEE2ABDD9}" presName="nodeTx" presStyleLbl="node1" presStyleIdx="1" presStyleCnt="2">
        <dgm:presLayoutVars>
          <dgm:bulletEnabled val="1"/>
        </dgm:presLayoutVars>
      </dgm:prSet>
      <dgm:spPr/>
    </dgm:pt>
    <dgm:pt modelId="{77D06A28-DB01-9040-A75D-B2AABF4DF403}" type="pres">
      <dgm:prSet presAssocID="{2BE38102-CAEA-4746-ABB2-2C7DEE2ABDD9}" presName="invisiNode" presStyleLbl="node1" presStyleIdx="1" presStyleCnt="2"/>
      <dgm:spPr/>
    </dgm:pt>
    <dgm:pt modelId="{42E5A9FD-F995-7847-83CA-1721630AD957}" type="pres">
      <dgm:prSet presAssocID="{2BE38102-CAEA-4746-ABB2-2C7DEE2ABDD9}" presName="imagNode" presStyleLbl="fgImgPlace1" presStyleIdx="1" presStyleCnt="2" custLinFactNeighborX="99998" custLinFactNeighborY="-7364"/>
      <dgm:spPr>
        <a:solidFill>
          <a:schemeClr val="accent1">
            <a:tint val="50000"/>
            <a:hueOff val="0"/>
            <a:satOff val="0"/>
            <a:lumOff val="0"/>
            <a:alpha val="0"/>
          </a:schemeClr>
        </a:solidFill>
        <a:ln>
          <a:solidFill>
            <a:schemeClr val="lt1">
              <a:hueOff val="0"/>
              <a:satOff val="0"/>
              <a:lumOff val="0"/>
              <a:alpha val="0"/>
            </a:schemeClr>
          </a:solidFill>
        </a:ln>
      </dgm:spPr>
    </dgm:pt>
  </dgm:ptLst>
  <dgm:cxnLst>
    <dgm:cxn modelId="{536A5214-1BA8-F24B-8DB8-AC5C49D4A17F}" srcId="{F6825C6A-DFF7-2B41-898E-3CCFFC07D2CA}" destId="{81A6BF8B-8601-F343-9881-E5B390450769}" srcOrd="0" destOrd="0" parTransId="{AED563EE-428A-304C-AEDE-22A9FD3B83F5}" sibTransId="{871F0DCD-448D-6E43-AB19-9D4D76EC7054}"/>
    <dgm:cxn modelId="{9B7C213D-F59F-5943-9325-7B2BC7D2A3A7}" srcId="{F6825C6A-DFF7-2B41-898E-3CCFFC07D2CA}" destId="{2BE38102-CAEA-4746-ABB2-2C7DEE2ABDD9}" srcOrd="1" destOrd="0" parTransId="{364B514F-D934-DE42-9652-71C3870ADBA4}" sibTransId="{BBF56725-4938-D240-A5C6-038B9DC9DEC4}"/>
    <dgm:cxn modelId="{CD75DA50-2F69-5B4D-89E6-94B79918722C}" type="presOf" srcId="{871F0DCD-448D-6E43-AB19-9D4D76EC7054}" destId="{F13F3225-A5C9-6B49-BE62-2F66C8EDA555}" srcOrd="0" destOrd="0" presId="urn:microsoft.com/office/officeart/2005/8/layout/hList7"/>
    <dgm:cxn modelId="{9B984285-F43D-0640-A122-60EF9058A8D5}" type="presOf" srcId="{81A6BF8B-8601-F343-9881-E5B390450769}" destId="{6829EE54-553E-AB48-B7F7-5C2E3BF73491}" srcOrd="1" destOrd="0" presId="urn:microsoft.com/office/officeart/2005/8/layout/hList7"/>
    <dgm:cxn modelId="{E836A9A2-8AA2-8B42-91AD-6012BD0D1E06}" type="presOf" srcId="{F6825C6A-DFF7-2B41-898E-3CCFFC07D2CA}" destId="{35F3C944-00DA-634A-A598-51F506FB7E8C}" srcOrd="0" destOrd="0" presId="urn:microsoft.com/office/officeart/2005/8/layout/hList7"/>
    <dgm:cxn modelId="{972523B5-8E3E-C742-9520-22BE658CF5ED}" type="presOf" srcId="{81A6BF8B-8601-F343-9881-E5B390450769}" destId="{91803ED7-AB08-D14D-8C72-99EE5062C92D}" srcOrd="0" destOrd="0" presId="urn:microsoft.com/office/officeart/2005/8/layout/hList7"/>
    <dgm:cxn modelId="{60AFFBB9-1F94-174C-9BCF-A74AB1AAD5F3}" type="presOf" srcId="{2BE38102-CAEA-4746-ABB2-2C7DEE2ABDD9}" destId="{2AEB96F0-468F-AB46-9297-3E1A09524455}" srcOrd="0" destOrd="0" presId="urn:microsoft.com/office/officeart/2005/8/layout/hList7"/>
    <dgm:cxn modelId="{CE1A8BF3-74C4-9F48-BD28-879FC2DBE005}" type="presOf" srcId="{2BE38102-CAEA-4746-ABB2-2C7DEE2ABDD9}" destId="{E3CA13BB-E267-8245-93F2-76C144A3EDB9}" srcOrd="1" destOrd="0" presId="urn:microsoft.com/office/officeart/2005/8/layout/hList7"/>
    <dgm:cxn modelId="{0F5D41E9-E3C2-E74A-A166-06700A30B8E0}" type="presParOf" srcId="{35F3C944-00DA-634A-A598-51F506FB7E8C}" destId="{CAA7942C-EB67-2045-B017-58E4B170CF02}" srcOrd="0" destOrd="0" presId="urn:microsoft.com/office/officeart/2005/8/layout/hList7"/>
    <dgm:cxn modelId="{D3B46C0C-9356-974C-9EA5-507FF274119B}" type="presParOf" srcId="{35F3C944-00DA-634A-A598-51F506FB7E8C}" destId="{EBD7C921-E237-2346-89A2-C486ED3F538B}" srcOrd="1" destOrd="0" presId="urn:microsoft.com/office/officeart/2005/8/layout/hList7"/>
    <dgm:cxn modelId="{018D4FCC-CD42-5346-BA33-234347ADE418}" type="presParOf" srcId="{EBD7C921-E237-2346-89A2-C486ED3F538B}" destId="{4CD93638-6AE2-6A44-A22F-B0CDCA98B07E}" srcOrd="0" destOrd="0" presId="urn:microsoft.com/office/officeart/2005/8/layout/hList7"/>
    <dgm:cxn modelId="{65717C1F-C580-E340-946C-90173B413AF3}" type="presParOf" srcId="{4CD93638-6AE2-6A44-A22F-B0CDCA98B07E}" destId="{91803ED7-AB08-D14D-8C72-99EE5062C92D}" srcOrd="0" destOrd="0" presId="urn:microsoft.com/office/officeart/2005/8/layout/hList7"/>
    <dgm:cxn modelId="{32C49EFA-4972-DA46-AABE-AC2B4C802152}" type="presParOf" srcId="{4CD93638-6AE2-6A44-A22F-B0CDCA98B07E}" destId="{6829EE54-553E-AB48-B7F7-5C2E3BF73491}" srcOrd="1" destOrd="0" presId="urn:microsoft.com/office/officeart/2005/8/layout/hList7"/>
    <dgm:cxn modelId="{ED88A6D9-F7F2-1D43-80F6-1EA8CDF87FB5}" type="presParOf" srcId="{4CD93638-6AE2-6A44-A22F-B0CDCA98B07E}" destId="{33C6C45B-B004-594A-AD22-080DE9EE19D4}" srcOrd="2" destOrd="0" presId="urn:microsoft.com/office/officeart/2005/8/layout/hList7"/>
    <dgm:cxn modelId="{B16BEBA4-93B0-0748-BCB8-FE5C653D12B5}" type="presParOf" srcId="{4CD93638-6AE2-6A44-A22F-B0CDCA98B07E}" destId="{BD7B1B5A-DB43-2241-95D6-B8D0140C8295}" srcOrd="3" destOrd="0" presId="urn:microsoft.com/office/officeart/2005/8/layout/hList7"/>
    <dgm:cxn modelId="{91AB671C-7DDF-2F4C-BFA6-93ADB5FD0398}" type="presParOf" srcId="{EBD7C921-E237-2346-89A2-C486ED3F538B}" destId="{F13F3225-A5C9-6B49-BE62-2F66C8EDA555}" srcOrd="1" destOrd="0" presId="urn:microsoft.com/office/officeart/2005/8/layout/hList7"/>
    <dgm:cxn modelId="{25571884-040D-B04B-956C-5B2CF9C106A9}" type="presParOf" srcId="{EBD7C921-E237-2346-89A2-C486ED3F538B}" destId="{92552033-C18E-5D4B-8D0F-10EF72320BD2}" srcOrd="2" destOrd="0" presId="urn:microsoft.com/office/officeart/2005/8/layout/hList7"/>
    <dgm:cxn modelId="{E5612038-11F5-9547-9893-C4E586A17DA4}" type="presParOf" srcId="{92552033-C18E-5D4B-8D0F-10EF72320BD2}" destId="{2AEB96F0-468F-AB46-9297-3E1A09524455}" srcOrd="0" destOrd="0" presId="urn:microsoft.com/office/officeart/2005/8/layout/hList7"/>
    <dgm:cxn modelId="{033EB17A-F0CB-514B-A874-46EB9383D70B}" type="presParOf" srcId="{92552033-C18E-5D4B-8D0F-10EF72320BD2}" destId="{E3CA13BB-E267-8245-93F2-76C144A3EDB9}" srcOrd="1" destOrd="0" presId="urn:microsoft.com/office/officeart/2005/8/layout/hList7"/>
    <dgm:cxn modelId="{CDE9647A-0AAD-3D42-AA69-BCA108D59D58}" type="presParOf" srcId="{92552033-C18E-5D4B-8D0F-10EF72320BD2}" destId="{77D06A28-DB01-9040-A75D-B2AABF4DF403}" srcOrd="2" destOrd="0" presId="urn:microsoft.com/office/officeart/2005/8/layout/hList7"/>
    <dgm:cxn modelId="{1BE6817E-C01E-4D49-A85B-1A6C72D94C52}" type="presParOf" srcId="{92552033-C18E-5D4B-8D0F-10EF72320BD2}" destId="{42E5A9FD-F995-7847-83CA-1721630AD957}"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89911F-A047-4041-9A4C-99F8952F5100}" type="doc">
      <dgm:prSet loTypeId="urn:microsoft.com/office/officeart/2026/layout/SmallDotsHorizontal" loCatId="" qsTypeId="urn:microsoft.com/office/officeart/2005/8/quickstyle/simple1" qsCatId="simple" csTypeId="urn:microsoft.com/office/officeart/2005/8/colors/accent1_2" csCatId="accent1" phldr="1"/>
      <dgm:spPr/>
      <dgm:t>
        <a:bodyPr/>
        <a:lstStyle/>
        <a:p>
          <a:endParaRPr lang="en-US"/>
        </a:p>
      </dgm:t>
    </dgm:pt>
    <dgm:pt modelId="{A1B18F0D-E745-2046-9CDF-5C19863A4268}">
      <dgm:prSet phldrT="Title" custT="1"/>
      <dgm:spPr/>
      <dgm:t>
        <a:bodyPr/>
        <a:lstStyle/>
        <a:p>
          <a:pPr>
            <a:defRPr b="1">
              <a:solidFill>
                <a:schemeClr val="accent1"/>
              </a:solidFill>
            </a:defRPr>
          </a:pPr>
          <a:r>
            <a:rPr lang="sr-Latn-RS" sz="2400" noProof="0" dirty="0" err="1"/>
            <a:t>Decision</a:t>
          </a:r>
          <a:r>
            <a:rPr lang="sr-Latn-RS" sz="2000" noProof="0" dirty="0"/>
            <a:t> </a:t>
          </a:r>
          <a:r>
            <a:rPr lang="sr-Latn-RS" sz="2400" noProof="0" dirty="0" err="1"/>
            <a:t>rules</a:t>
          </a:r>
          <a:endParaRPr lang="sr-Latn-RS" sz="2000" noProof="0" dirty="0"/>
        </a:p>
      </dgm:t>
    </dgm:pt>
    <dgm:pt modelId="{39519440-8360-CF49-A36C-741359F2649A}" type="parTrans" cxnId="{73C37882-FFA4-D645-988F-9203A76B8C87}">
      <dgm:prSet/>
      <dgm:spPr/>
      <dgm:t>
        <a:bodyPr/>
        <a:lstStyle/>
        <a:p>
          <a:endParaRPr lang="en-US"/>
        </a:p>
      </dgm:t>
    </dgm:pt>
    <dgm:pt modelId="{CEA831D0-6FEB-7144-B29F-BC25F8DAC219}" type="sibTrans" cxnId="{73C37882-FFA4-D645-988F-9203A76B8C87}">
      <dgm:prSet/>
      <dgm:spPr/>
      <dgm:t>
        <a:bodyPr/>
        <a:lstStyle/>
        <a:p>
          <a:endParaRPr lang="en-US"/>
        </a:p>
      </dgm:t>
    </dgm:pt>
    <dgm:pt modelId="{5336216C-D439-194D-9590-16964E10BB62}">
      <dgm:prSet phldrT="Title" custT="1"/>
      <dgm:spPr/>
      <dgm:t>
        <a:bodyPr/>
        <a:lstStyle/>
        <a:p>
          <a:pPr>
            <a:defRPr b="1">
              <a:solidFill>
                <a:schemeClr val="accent1"/>
              </a:solidFill>
            </a:defRPr>
          </a:pPr>
          <a:r>
            <a:rPr lang="sr-Latn-RS" sz="2400" noProof="0" dirty="0" err="1"/>
            <a:t>TCAVs</a:t>
          </a:r>
          <a:endParaRPr lang="sr-Latn-RS" sz="2700" noProof="0" dirty="0"/>
        </a:p>
      </dgm:t>
    </dgm:pt>
    <dgm:pt modelId="{A4637D61-5921-2344-ACB9-8F8899106945}" type="parTrans" cxnId="{A21D5196-EB97-CA41-8858-7F89ABD49E16}">
      <dgm:prSet/>
      <dgm:spPr/>
      <dgm:t>
        <a:bodyPr/>
        <a:lstStyle/>
        <a:p>
          <a:endParaRPr lang="en-US"/>
        </a:p>
      </dgm:t>
    </dgm:pt>
    <dgm:pt modelId="{8483BD8B-761A-C446-802B-4BF76884FCA4}" type="sibTrans" cxnId="{A21D5196-EB97-CA41-8858-7F89ABD49E16}">
      <dgm:prSet/>
      <dgm:spPr/>
      <dgm:t>
        <a:bodyPr/>
        <a:lstStyle/>
        <a:p>
          <a:endParaRPr lang="en-US"/>
        </a:p>
      </dgm:t>
    </dgm:pt>
    <dgm:pt modelId="{002F52E4-5979-074C-ABFF-AF0949B42B49}">
      <dgm:prSet phldrT="Title" custT="1"/>
      <dgm:spPr/>
      <dgm:t>
        <a:bodyPr/>
        <a:lstStyle/>
        <a:p>
          <a:pPr>
            <a:defRPr b="1">
              <a:solidFill>
                <a:schemeClr val="accent1"/>
              </a:solidFill>
            </a:defRPr>
          </a:pPr>
          <a:r>
            <a:rPr lang="sr-Latn-RS" sz="2400" noProof="0" dirty="0"/>
            <a:t>LIME</a:t>
          </a:r>
          <a:endParaRPr lang="sr-Latn-RS" sz="2700" noProof="0" dirty="0"/>
        </a:p>
      </dgm:t>
    </dgm:pt>
    <dgm:pt modelId="{AB97CC84-1E67-5E4E-9B81-28D73E361044}" type="parTrans" cxnId="{F682BDAE-D6C8-2F46-A19B-136E41CDBF41}">
      <dgm:prSet/>
      <dgm:spPr/>
      <dgm:t>
        <a:bodyPr/>
        <a:lstStyle/>
        <a:p>
          <a:endParaRPr lang="en-US"/>
        </a:p>
      </dgm:t>
    </dgm:pt>
    <dgm:pt modelId="{A79F3D77-E8AA-6044-8BD5-1830967747F4}" type="sibTrans" cxnId="{F682BDAE-D6C8-2F46-A19B-136E41CDBF41}">
      <dgm:prSet/>
      <dgm:spPr/>
      <dgm:t>
        <a:bodyPr/>
        <a:lstStyle/>
        <a:p>
          <a:endParaRPr lang="en-US"/>
        </a:p>
      </dgm:t>
    </dgm:pt>
    <dgm:pt modelId="{34BD5B9D-225F-6946-B0B9-ACF8B9064230}">
      <dgm:prSet phldrT="Title" custT="1"/>
      <dgm:spPr/>
      <dgm:t>
        <a:bodyPr/>
        <a:lstStyle/>
        <a:p>
          <a:pPr>
            <a:defRPr b="1">
              <a:solidFill>
                <a:schemeClr val="accent1"/>
              </a:solidFill>
            </a:defRPr>
          </a:pPr>
          <a:r>
            <a:rPr lang="sr-Latn-RS" sz="2400" noProof="0" dirty="0" err="1"/>
            <a:t>Sampled</a:t>
          </a:r>
          <a:r>
            <a:rPr lang="sr-Latn-RS" sz="2400" noProof="0" dirty="0"/>
            <a:t> </a:t>
          </a:r>
          <a:r>
            <a:rPr lang="sr-Latn-RS" sz="2400" noProof="0" dirty="0" err="1"/>
            <a:t>Shapley</a:t>
          </a:r>
          <a:endParaRPr lang="sr-Latn-RS" sz="2700" noProof="0" dirty="0"/>
        </a:p>
      </dgm:t>
    </dgm:pt>
    <dgm:pt modelId="{C1C0EDEE-69EF-0749-8D42-0A34FB9040E1}" type="parTrans" cxnId="{D4B9DA7A-A5B2-1844-BD9E-8DAE041AF4A4}">
      <dgm:prSet/>
      <dgm:spPr/>
      <dgm:t>
        <a:bodyPr/>
        <a:lstStyle/>
        <a:p>
          <a:endParaRPr lang="en-US"/>
        </a:p>
      </dgm:t>
    </dgm:pt>
    <dgm:pt modelId="{E76E0AC8-AB9C-4B47-BD3B-8C72D388283D}" type="sibTrans" cxnId="{D4B9DA7A-A5B2-1844-BD9E-8DAE041AF4A4}">
      <dgm:prSet/>
      <dgm:spPr/>
      <dgm:t>
        <a:bodyPr/>
        <a:lstStyle/>
        <a:p>
          <a:endParaRPr lang="en-US"/>
        </a:p>
      </dgm:t>
    </dgm:pt>
    <dgm:pt modelId="{314DD9AF-6873-994A-A1E9-C8E169AEF0A6}" type="pres">
      <dgm:prSet presAssocID="{7D89911F-A047-4041-9A4C-99F8952F5100}" presName="root" presStyleCnt="0">
        <dgm:presLayoutVars>
          <dgm:dir/>
          <dgm:resizeHandles val="exact"/>
        </dgm:presLayoutVars>
      </dgm:prSet>
      <dgm:spPr/>
    </dgm:pt>
    <dgm:pt modelId="{E86DBE3B-FDE0-6A4D-9823-19C4F6CA09FF}" type="pres">
      <dgm:prSet presAssocID="{7D89911F-A047-4041-9A4C-99F8952F5100}" presName="connLine" presStyleLbl="dkBgShp" presStyleIdx="0" presStyleCnt="1"/>
      <dgm:spPr>
        <a:gradFill rotWithShape="0">
          <a:gsLst>
            <a:gs pos="0">
              <a:schemeClr val="accent1">
                <a:tint val="76000"/>
              </a:schemeClr>
            </a:gs>
            <a:gs pos="100000">
              <a:schemeClr val="accent1">
                <a:tint val="76000"/>
              </a:schemeClr>
            </a:gs>
          </a:gsLst>
          <a:lin ang="0" scaled="0"/>
        </a:gradFill>
        <a:ln>
          <a:noFill/>
        </a:ln>
        <a:effectLst/>
      </dgm:spPr>
    </dgm:pt>
    <dgm:pt modelId="{630E3B86-6852-9D4F-97F1-1FD2047E0BAC}" type="pres">
      <dgm:prSet presAssocID="{7D89911F-A047-4041-9A4C-99F8952F5100}" presName="itemsFlow" presStyleCnt="0"/>
      <dgm:spPr/>
    </dgm:pt>
    <dgm:pt modelId="{1FABF855-0028-234D-8E8D-77597595525D}" type="pres">
      <dgm:prSet presAssocID="{A1B18F0D-E745-2046-9CDF-5C19863A4268}" presName="item" presStyleCnt="0"/>
      <dgm:spPr/>
    </dgm:pt>
    <dgm:pt modelId="{3AE9BC98-27EA-8F4A-8E06-F36D6AC7971E}" type="pres">
      <dgm:prSet presAssocID="{A1B18F0D-E745-2046-9CDF-5C19863A4268}" presName="anchor" presStyleCnt="0"/>
      <dgm:spPr/>
    </dgm:pt>
    <dgm:pt modelId="{23BDCD39-5075-DC46-A8D6-3A34660348D0}" type="pres">
      <dgm:prSet presAssocID="{A1B18F0D-E745-2046-9CDF-5C19863A4268}" presName="titleText" presStyleLbl="revTx" presStyleIdx="0" presStyleCnt="0">
        <dgm:presLayoutVars>
          <dgm:chMax val="0"/>
          <dgm:chPref val="0"/>
        </dgm:presLayoutVars>
      </dgm:prSet>
      <dgm:spPr/>
    </dgm:pt>
    <dgm:pt modelId="{A80A5769-E8E6-4D40-B468-9D145CD5D05B}" type="pres">
      <dgm:prSet presAssocID="{A1B18F0D-E745-2046-9CDF-5C19863A4268}" presName="dot" presStyleLbl="node1" presStyleIdx="0" presStyleCnt="4"/>
      <dgm:spPr/>
    </dgm:pt>
    <dgm:pt modelId="{332317E0-45FA-7142-B6EC-B6EBD9941D99}" type="pres">
      <dgm:prSet presAssocID="{A1B18F0D-E745-2046-9CDF-5C19863A4268}" presName="descText" presStyleLbl="revTx" presStyleIdx="0" presStyleCnt="0">
        <dgm:presLayoutVars>
          <dgm:chMax val="0"/>
          <dgm:chPref val="0"/>
        </dgm:presLayoutVars>
      </dgm:prSet>
      <dgm:spPr/>
    </dgm:pt>
    <dgm:pt modelId="{5FFD2646-1B41-5D42-91F6-84F5B007AD83}" type="pres">
      <dgm:prSet presAssocID="{CEA831D0-6FEB-7144-B29F-BC25F8DAC219}" presName="spacer" presStyleCnt="0"/>
      <dgm:spPr/>
    </dgm:pt>
    <dgm:pt modelId="{E17ED9BE-B3E0-9145-BFCE-FA9B4D2A2FA8}" type="pres">
      <dgm:prSet presAssocID="{5336216C-D439-194D-9590-16964E10BB62}" presName="item" presStyleCnt="0"/>
      <dgm:spPr/>
    </dgm:pt>
    <dgm:pt modelId="{9D49D5B5-CEAE-0748-9718-D562B113B6E8}" type="pres">
      <dgm:prSet presAssocID="{5336216C-D439-194D-9590-16964E10BB62}" presName="anchor" presStyleCnt="0"/>
      <dgm:spPr/>
    </dgm:pt>
    <dgm:pt modelId="{EECBF9CF-68C0-0441-94EE-D7E9A06E0A0B}" type="pres">
      <dgm:prSet presAssocID="{5336216C-D439-194D-9590-16964E10BB62}" presName="titleText" presStyleLbl="revTx" presStyleIdx="0" presStyleCnt="0">
        <dgm:presLayoutVars>
          <dgm:chMax val="0"/>
          <dgm:chPref val="0"/>
        </dgm:presLayoutVars>
      </dgm:prSet>
      <dgm:spPr/>
    </dgm:pt>
    <dgm:pt modelId="{A994EE0C-851E-834A-8F35-56FBCBC38358}" type="pres">
      <dgm:prSet presAssocID="{5336216C-D439-194D-9590-16964E10BB62}" presName="dot" presStyleLbl="node1" presStyleIdx="1" presStyleCnt="4"/>
      <dgm:spPr/>
    </dgm:pt>
    <dgm:pt modelId="{F7C52D51-B1C9-9F4D-B960-87F70FB29472}" type="pres">
      <dgm:prSet presAssocID="{5336216C-D439-194D-9590-16964E10BB62}" presName="descText" presStyleLbl="revTx" presStyleIdx="0" presStyleCnt="0">
        <dgm:presLayoutVars>
          <dgm:chMax val="0"/>
          <dgm:chPref val="0"/>
        </dgm:presLayoutVars>
      </dgm:prSet>
      <dgm:spPr/>
    </dgm:pt>
    <dgm:pt modelId="{631D1A51-17DC-A44A-A729-15EA8DE05967}" type="pres">
      <dgm:prSet presAssocID="{8483BD8B-761A-C446-802B-4BF76884FCA4}" presName="spacer" presStyleCnt="0"/>
      <dgm:spPr/>
    </dgm:pt>
    <dgm:pt modelId="{71D95840-98ED-8641-9B38-C2C96332A05C}" type="pres">
      <dgm:prSet presAssocID="{002F52E4-5979-074C-ABFF-AF0949B42B49}" presName="item" presStyleCnt="0"/>
      <dgm:spPr/>
    </dgm:pt>
    <dgm:pt modelId="{0F4A5B23-AF97-7D46-9616-B2539847E5A9}" type="pres">
      <dgm:prSet presAssocID="{002F52E4-5979-074C-ABFF-AF0949B42B49}" presName="anchor" presStyleCnt="0"/>
      <dgm:spPr/>
    </dgm:pt>
    <dgm:pt modelId="{955187A6-84DF-1D4C-9BD1-EAFE775A0301}" type="pres">
      <dgm:prSet presAssocID="{002F52E4-5979-074C-ABFF-AF0949B42B49}" presName="titleText" presStyleLbl="revTx" presStyleIdx="0" presStyleCnt="0">
        <dgm:presLayoutVars>
          <dgm:chMax val="0"/>
          <dgm:chPref val="0"/>
        </dgm:presLayoutVars>
      </dgm:prSet>
      <dgm:spPr/>
    </dgm:pt>
    <dgm:pt modelId="{F5FF8542-1D57-CA4C-98A3-691DF21143C5}" type="pres">
      <dgm:prSet presAssocID="{002F52E4-5979-074C-ABFF-AF0949B42B49}" presName="dot" presStyleLbl="node1" presStyleIdx="2" presStyleCnt="4"/>
      <dgm:spPr/>
    </dgm:pt>
    <dgm:pt modelId="{D099F737-1C15-9F45-83B7-7867106137B2}" type="pres">
      <dgm:prSet presAssocID="{002F52E4-5979-074C-ABFF-AF0949B42B49}" presName="descText" presStyleLbl="revTx" presStyleIdx="0" presStyleCnt="0">
        <dgm:presLayoutVars>
          <dgm:chMax val="0"/>
          <dgm:chPref val="0"/>
        </dgm:presLayoutVars>
      </dgm:prSet>
      <dgm:spPr/>
    </dgm:pt>
    <dgm:pt modelId="{6233144F-8D5C-3946-94EF-273783267AF8}" type="pres">
      <dgm:prSet presAssocID="{A79F3D77-E8AA-6044-8BD5-1830967747F4}" presName="spacer" presStyleCnt="0"/>
      <dgm:spPr/>
    </dgm:pt>
    <dgm:pt modelId="{63B946FD-D4CD-5D4C-B452-2E2EE3507E50}" type="pres">
      <dgm:prSet presAssocID="{34BD5B9D-225F-6946-B0B9-ACF8B9064230}" presName="item" presStyleCnt="0"/>
      <dgm:spPr/>
    </dgm:pt>
    <dgm:pt modelId="{DC21E8C6-542A-1F4A-BB12-FBC3DD1978C4}" type="pres">
      <dgm:prSet presAssocID="{34BD5B9D-225F-6946-B0B9-ACF8B9064230}" presName="anchor" presStyleCnt="0"/>
      <dgm:spPr/>
    </dgm:pt>
    <dgm:pt modelId="{0DBDF494-6206-0446-B804-188BC2EEAF55}" type="pres">
      <dgm:prSet presAssocID="{34BD5B9D-225F-6946-B0B9-ACF8B9064230}" presName="titleText" presStyleLbl="revTx" presStyleIdx="0" presStyleCnt="0">
        <dgm:presLayoutVars>
          <dgm:chMax val="0"/>
          <dgm:chPref val="0"/>
        </dgm:presLayoutVars>
      </dgm:prSet>
      <dgm:spPr/>
    </dgm:pt>
    <dgm:pt modelId="{8A41021E-2A9E-BB4C-AA17-8874F06DD535}" type="pres">
      <dgm:prSet presAssocID="{34BD5B9D-225F-6946-B0B9-ACF8B9064230}" presName="dot" presStyleLbl="node1" presStyleIdx="3" presStyleCnt="4"/>
      <dgm:spPr/>
    </dgm:pt>
    <dgm:pt modelId="{50481178-18D6-AA40-BAFC-D8EFE2A7FF98}" type="pres">
      <dgm:prSet presAssocID="{34BD5B9D-225F-6946-B0B9-ACF8B9064230}" presName="descText" presStyleLbl="revTx" presStyleIdx="0" presStyleCnt="0">
        <dgm:presLayoutVars>
          <dgm:chMax val="0"/>
          <dgm:chPref val="0"/>
        </dgm:presLayoutVars>
      </dgm:prSet>
      <dgm:spPr/>
    </dgm:pt>
  </dgm:ptLst>
  <dgm:cxnLst>
    <dgm:cxn modelId="{83EA6612-46F3-1048-A76F-918160B97118}" type="presOf" srcId="{34BD5B9D-225F-6946-B0B9-ACF8B9064230}" destId="{0DBDF494-6206-0446-B804-188BC2EEAF55}" srcOrd="0" destOrd="0" presId="urn:microsoft.com/office/officeart/2026/layout/SmallDotsHorizontal"/>
    <dgm:cxn modelId="{BB393C77-380F-C740-99C5-B8EB447DD314}" type="presOf" srcId="{A1B18F0D-E745-2046-9CDF-5C19863A4268}" destId="{23BDCD39-5075-DC46-A8D6-3A34660348D0}" srcOrd="0" destOrd="0" presId="urn:microsoft.com/office/officeart/2026/layout/SmallDotsHorizontal"/>
    <dgm:cxn modelId="{D4B9DA7A-A5B2-1844-BD9E-8DAE041AF4A4}" srcId="{7D89911F-A047-4041-9A4C-99F8952F5100}" destId="{34BD5B9D-225F-6946-B0B9-ACF8B9064230}" srcOrd="3" destOrd="0" parTransId="{C1C0EDEE-69EF-0749-8D42-0A34FB9040E1}" sibTransId="{E76E0AC8-AB9C-4B47-BD3B-8C72D388283D}"/>
    <dgm:cxn modelId="{73C37882-FFA4-D645-988F-9203A76B8C87}" srcId="{7D89911F-A047-4041-9A4C-99F8952F5100}" destId="{A1B18F0D-E745-2046-9CDF-5C19863A4268}" srcOrd="0" destOrd="0" parTransId="{39519440-8360-CF49-A36C-741359F2649A}" sibTransId="{CEA831D0-6FEB-7144-B29F-BC25F8DAC219}"/>
    <dgm:cxn modelId="{A21D5196-EB97-CA41-8858-7F89ABD49E16}" srcId="{7D89911F-A047-4041-9A4C-99F8952F5100}" destId="{5336216C-D439-194D-9590-16964E10BB62}" srcOrd="1" destOrd="0" parTransId="{A4637D61-5921-2344-ACB9-8F8899106945}" sibTransId="{8483BD8B-761A-C446-802B-4BF76884FCA4}"/>
    <dgm:cxn modelId="{F9318F99-865A-1841-9DDA-3C0C306B8179}" type="presOf" srcId="{7D89911F-A047-4041-9A4C-99F8952F5100}" destId="{314DD9AF-6873-994A-A1E9-C8E169AEF0A6}" srcOrd="0" destOrd="0" presId="urn:microsoft.com/office/officeart/2026/layout/SmallDotsHorizontal"/>
    <dgm:cxn modelId="{2D31FD9B-2E7F-8C4C-BC21-637AEDBE0020}" type="presOf" srcId="{002F52E4-5979-074C-ABFF-AF0949B42B49}" destId="{955187A6-84DF-1D4C-9BD1-EAFE775A0301}" srcOrd="0" destOrd="0" presId="urn:microsoft.com/office/officeart/2026/layout/SmallDotsHorizontal"/>
    <dgm:cxn modelId="{F682BDAE-D6C8-2F46-A19B-136E41CDBF41}" srcId="{7D89911F-A047-4041-9A4C-99F8952F5100}" destId="{002F52E4-5979-074C-ABFF-AF0949B42B49}" srcOrd="2" destOrd="0" parTransId="{AB97CC84-1E67-5E4E-9B81-28D73E361044}" sibTransId="{A79F3D77-E8AA-6044-8BD5-1830967747F4}"/>
    <dgm:cxn modelId="{1AFEA2BB-6B21-2C44-A617-3A34C3CA63BA}" type="presOf" srcId="{5336216C-D439-194D-9590-16964E10BB62}" destId="{EECBF9CF-68C0-0441-94EE-D7E9A06E0A0B}" srcOrd="0" destOrd="0" presId="urn:microsoft.com/office/officeart/2026/layout/SmallDotsHorizontal"/>
    <dgm:cxn modelId="{93AAAFF3-420F-7645-9E0E-44156DF16F3F}" type="presParOf" srcId="{314DD9AF-6873-994A-A1E9-C8E169AEF0A6}" destId="{E86DBE3B-FDE0-6A4D-9823-19C4F6CA09FF}" srcOrd="0" destOrd="0" presId="urn:microsoft.com/office/officeart/2026/layout/SmallDotsHorizontal"/>
    <dgm:cxn modelId="{A24155DF-1BD4-D640-89B1-555F506B94F6}" type="presParOf" srcId="{314DD9AF-6873-994A-A1E9-C8E169AEF0A6}" destId="{630E3B86-6852-9D4F-97F1-1FD2047E0BAC}" srcOrd="1" destOrd="0" presId="urn:microsoft.com/office/officeart/2026/layout/SmallDotsHorizontal"/>
    <dgm:cxn modelId="{8D41D4EF-42CC-E949-AB86-C537402FA2A3}" type="presParOf" srcId="{630E3B86-6852-9D4F-97F1-1FD2047E0BAC}" destId="{1FABF855-0028-234D-8E8D-77597595525D}" srcOrd="0" destOrd="0" presId="urn:microsoft.com/office/officeart/2026/layout/SmallDotsHorizontal"/>
    <dgm:cxn modelId="{C7359AC3-7A07-DA46-BEF4-8E71FF2ADDC4}" type="presParOf" srcId="{1FABF855-0028-234D-8E8D-77597595525D}" destId="{3AE9BC98-27EA-8F4A-8E06-F36D6AC7971E}" srcOrd="0" destOrd="0" presId="urn:microsoft.com/office/officeart/2026/layout/SmallDotsHorizontal"/>
    <dgm:cxn modelId="{194BF4AC-4320-C643-B409-FBFC06CD8102}" type="presParOf" srcId="{1FABF855-0028-234D-8E8D-77597595525D}" destId="{23BDCD39-5075-DC46-A8D6-3A34660348D0}" srcOrd="1" destOrd="0" presId="urn:microsoft.com/office/officeart/2026/layout/SmallDotsHorizontal"/>
    <dgm:cxn modelId="{DA877CA4-C5A1-9A43-B770-7A277C229B27}" type="presParOf" srcId="{1FABF855-0028-234D-8E8D-77597595525D}" destId="{A80A5769-E8E6-4D40-B468-9D145CD5D05B}" srcOrd="2" destOrd="0" presId="urn:microsoft.com/office/officeart/2026/layout/SmallDotsHorizontal"/>
    <dgm:cxn modelId="{A6923AC8-5362-4C40-B43B-8D30331EA6C4}" type="presParOf" srcId="{1FABF855-0028-234D-8E8D-77597595525D}" destId="{332317E0-45FA-7142-B6EC-B6EBD9941D99}" srcOrd="3" destOrd="0" presId="urn:microsoft.com/office/officeart/2026/layout/SmallDotsHorizontal"/>
    <dgm:cxn modelId="{07D1E82E-1643-154D-8D64-FD22F9BC7F48}" type="presParOf" srcId="{630E3B86-6852-9D4F-97F1-1FD2047E0BAC}" destId="{5FFD2646-1B41-5D42-91F6-84F5B007AD83}" srcOrd="1" destOrd="0" presId="urn:microsoft.com/office/officeart/2026/layout/SmallDotsHorizontal"/>
    <dgm:cxn modelId="{1C336BE2-639B-494E-A5FC-09027F724563}" type="presParOf" srcId="{630E3B86-6852-9D4F-97F1-1FD2047E0BAC}" destId="{E17ED9BE-B3E0-9145-BFCE-FA9B4D2A2FA8}" srcOrd="2" destOrd="0" presId="urn:microsoft.com/office/officeart/2026/layout/SmallDotsHorizontal"/>
    <dgm:cxn modelId="{C17D6367-34BF-524E-84F2-72B80AF9D259}" type="presParOf" srcId="{E17ED9BE-B3E0-9145-BFCE-FA9B4D2A2FA8}" destId="{9D49D5B5-CEAE-0748-9718-D562B113B6E8}" srcOrd="0" destOrd="0" presId="urn:microsoft.com/office/officeart/2026/layout/SmallDotsHorizontal"/>
    <dgm:cxn modelId="{38922912-3D75-A648-AAA4-6C6A7442F002}" type="presParOf" srcId="{E17ED9BE-B3E0-9145-BFCE-FA9B4D2A2FA8}" destId="{EECBF9CF-68C0-0441-94EE-D7E9A06E0A0B}" srcOrd="1" destOrd="0" presId="urn:microsoft.com/office/officeart/2026/layout/SmallDotsHorizontal"/>
    <dgm:cxn modelId="{D39EEFCC-B160-1743-BF3B-189AB54CBB33}" type="presParOf" srcId="{E17ED9BE-B3E0-9145-BFCE-FA9B4D2A2FA8}" destId="{A994EE0C-851E-834A-8F35-56FBCBC38358}" srcOrd="2" destOrd="0" presId="urn:microsoft.com/office/officeart/2026/layout/SmallDotsHorizontal"/>
    <dgm:cxn modelId="{99127B23-597A-0849-95AA-F7CC5155D2F8}" type="presParOf" srcId="{E17ED9BE-B3E0-9145-BFCE-FA9B4D2A2FA8}" destId="{F7C52D51-B1C9-9F4D-B960-87F70FB29472}" srcOrd="3" destOrd="0" presId="urn:microsoft.com/office/officeart/2026/layout/SmallDotsHorizontal"/>
    <dgm:cxn modelId="{1DF6B9FB-BA6F-F949-8B52-1A20EB0F0F92}" type="presParOf" srcId="{630E3B86-6852-9D4F-97F1-1FD2047E0BAC}" destId="{631D1A51-17DC-A44A-A729-15EA8DE05967}" srcOrd="3" destOrd="0" presId="urn:microsoft.com/office/officeart/2026/layout/SmallDotsHorizontal"/>
    <dgm:cxn modelId="{97FCF601-B881-674C-A59A-F8912D27E118}" type="presParOf" srcId="{630E3B86-6852-9D4F-97F1-1FD2047E0BAC}" destId="{71D95840-98ED-8641-9B38-C2C96332A05C}" srcOrd="4" destOrd="0" presId="urn:microsoft.com/office/officeart/2026/layout/SmallDotsHorizontal"/>
    <dgm:cxn modelId="{7F9A944B-9980-E745-9783-422FB4DEEB1F}" type="presParOf" srcId="{71D95840-98ED-8641-9B38-C2C96332A05C}" destId="{0F4A5B23-AF97-7D46-9616-B2539847E5A9}" srcOrd="0" destOrd="0" presId="urn:microsoft.com/office/officeart/2026/layout/SmallDotsHorizontal"/>
    <dgm:cxn modelId="{9DA56C90-5A95-154B-9A87-CD5E2E46FBA2}" type="presParOf" srcId="{71D95840-98ED-8641-9B38-C2C96332A05C}" destId="{955187A6-84DF-1D4C-9BD1-EAFE775A0301}" srcOrd="1" destOrd="0" presId="urn:microsoft.com/office/officeart/2026/layout/SmallDotsHorizontal"/>
    <dgm:cxn modelId="{3DC46A55-C578-FF49-8697-67D6ECA13B8F}" type="presParOf" srcId="{71D95840-98ED-8641-9B38-C2C96332A05C}" destId="{F5FF8542-1D57-CA4C-98A3-691DF21143C5}" srcOrd="2" destOrd="0" presId="urn:microsoft.com/office/officeart/2026/layout/SmallDotsHorizontal"/>
    <dgm:cxn modelId="{4F652912-B74A-E944-930D-6F1E966B1D60}" type="presParOf" srcId="{71D95840-98ED-8641-9B38-C2C96332A05C}" destId="{D099F737-1C15-9F45-83B7-7867106137B2}" srcOrd="3" destOrd="0" presId="urn:microsoft.com/office/officeart/2026/layout/SmallDotsHorizontal"/>
    <dgm:cxn modelId="{D9AF8F23-DFCF-8B42-B2DF-5CB6D6F45EE9}" type="presParOf" srcId="{630E3B86-6852-9D4F-97F1-1FD2047E0BAC}" destId="{6233144F-8D5C-3946-94EF-273783267AF8}" srcOrd="5" destOrd="0" presId="urn:microsoft.com/office/officeart/2026/layout/SmallDotsHorizontal"/>
    <dgm:cxn modelId="{0C576AD1-E52A-8443-97AD-1AC51A1B2BE9}" type="presParOf" srcId="{630E3B86-6852-9D4F-97F1-1FD2047E0BAC}" destId="{63B946FD-D4CD-5D4C-B452-2E2EE3507E50}" srcOrd="6" destOrd="0" presId="urn:microsoft.com/office/officeart/2026/layout/SmallDotsHorizontal"/>
    <dgm:cxn modelId="{40EC6911-C95D-694E-A30A-14A2D5154AFA}" type="presParOf" srcId="{63B946FD-D4CD-5D4C-B452-2E2EE3507E50}" destId="{DC21E8C6-542A-1F4A-BB12-FBC3DD1978C4}" srcOrd="0" destOrd="0" presId="urn:microsoft.com/office/officeart/2026/layout/SmallDotsHorizontal"/>
    <dgm:cxn modelId="{4309DE01-E31F-4E49-82B4-656A33693262}" type="presParOf" srcId="{63B946FD-D4CD-5D4C-B452-2E2EE3507E50}" destId="{0DBDF494-6206-0446-B804-188BC2EEAF55}" srcOrd="1" destOrd="0" presId="urn:microsoft.com/office/officeart/2026/layout/SmallDotsHorizontal"/>
    <dgm:cxn modelId="{EDF5848D-2DEB-CB40-9CEF-E09CCA603BFF}" type="presParOf" srcId="{63B946FD-D4CD-5D4C-B452-2E2EE3507E50}" destId="{8A41021E-2A9E-BB4C-AA17-8874F06DD535}" srcOrd="2" destOrd="0" presId="urn:microsoft.com/office/officeart/2026/layout/SmallDotsHorizontal"/>
    <dgm:cxn modelId="{7B60DAD3-05C2-C244-A4EF-EA7B843583B3}" type="presParOf" srcId="{63B946FD-D4CD-5D4C-B452-2E2EE3507E50}" destId="{50481178-18D6-AA40-BAFC-D8EFE2A7FF98}" srcOrd="3" destOrd="0" presId="urn:microsoft.com/office/officeart/2026/layout/SmallDotsHorizontal"/>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5803B10-A827-4F8B-B6A8-7A2BC77B3A39}"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7C34B7C6-FB71-4ABF-A062-39405CBFFD84}">
      <dgm:prSet/>
      <dgm:spPr/>
      <dgm:t>
        <a:bodyPr/>
        <a:lstStyle/>
        <a:p>
          <a:r>
            <a:rPr lang="sr-Latn-RS" noProof="0" dirty="0"/>
            <a:t>Dokazivanje semantičke ispravnosti objašnjenja, a ne samo matematičke utemeljenosti metode</a:t>
          </a:r>
        </a:p>
      </dgm:t>
    </dgm:pt>
    <dgm:pt modelId="{E902ED5D-8FAC-42A8-86F3-713D418A4416}" type="parTrans" cxnId="{F893DABA-17D9-49D2-8967-29ECD8C7F5C3}">
      <dgm:prSet/>
      <dgm:spPr/>
      <dgm:t>
        <a:bodyPr/>
        <a:lstStyle/>
        <a:p>
          <a:endParaRPr lang="en-US"/>
        </a:p>
      </dgm:t>
    </dgm:pt>
    <dgm:pt modelId="{289D1413-46AB-4435-BE6B-624864F03128}" type="sibTrans" cxnId="{F893DABA-17D9-49D2-8967-29ECD8C7F5C3}">
      <dgm:prSet/>
      <dgm:spPr/>
      <dgm:t>
        <a:bodyPr/>
        <a:lstStyle/>
        <a:p>
          <a:endParaRPr lang="en-US"/>
        </a:p>
      </dgm:t>
    </dgm:pt>
    <dgm:pt modelId="{2D1B3BB0-942C-429B-8156-365B918E63EC}">
      <dgm:prSet/>
      <dgm:spPr/>
      <dgm:t>
        <a:bodyPr/>
        <a:lstStyle/>
        <a:p>
          <a:r>
            <a:rPr lang="sr-Latn-RS" noProof="0" dirty="0"/>
            <a:t>Kombinovanje različitih metoda objašnjavanja bez stvaranja dodatne konfuzije</a:t>
          </a:r>
        </a:p>
      </dgm:t>
    </dgm:pt>
    <dgm:pt modelId="{DCE284E7-A724-46A7-8B96-18FF78FB089E}" type="parTrans" cxnId="{F6E911C2-646B-424D-8D11-48E6192BA9B3}">
      <dgm:prSet/>
      <dgm:spPr/>
      <dgm:t>
        <a:bodyPr/>
        <a:lstStyle/>
        <a:p>
          <a:endParaRPr lang="en-US"/>
        </a:p>
      </dgm:t>
    </dgm:pt>
    <dgm:pt modelId="{48D1BA4F-B9E7-4C56-9CB4-2AB53814F70D}" type="sibTrans" cxnId="{F6E911C2-646B-424D-8D11-48E6192BA9B3}">
      <dgm:prSet/>
      <dgm:spPr/>
      <dgm:t>
        <a:bodyPr/>
        <a:lstStyle/>
        <a:p>
          <a:endParaRPr lang="en-US"/>
        </a:p>
      </dgm:t>
    </dgm:pt>
    <dgm:pt modelId="{634BFF8C-8964-413A-BCCC-F7C13713B34A}">
      <dgm:prSet/>
      <dgm:spPr/>
      <dgm:t>
        <a:bodyPr/>
        <a:lstStyle/>
        <a:p>
          <a:r>
            <a:rPr lang="sr-Latn-RS" noProof="0" dirty="0"/>
            <a:t>Razvoj alata za jednostavno istraživanje i razumevanje objašnjenja</a:t>
          </a:r>
        </a:p>
      </dgm:t>
    </dgm:pt>
    <dgm:pt modelId="{6B421ECA-9729-4216-B43D-3B37DF799C23}" type="parTrans" cxnId="{58CF4E8E-BD33-4564-ACE8-C427A4F66823}">
      <dgm:prSet/>
      <dgm:spPr/>
      <dgm:t>
        <a:bodyPr/>
        <a:lstStyle/>
        <a:p>
          <a:endParaRPr lang="en-US"/>
        </a:p>
      </dgm:t>
    </dgm:pt>
    <dgm:pt modelId="{4C816276-2B1C-4723-93E4-BE9B8C0CDD78}" type="sibTrans" cxnId="{58CF4E8E-BD33-4564-ACE8-C427A4F66823}">
      <dgm:prSet/>
      <dgm:spPr/>
      <dgm:t>
        <a:bodyPr/>
        <a:lstStyle/>
        <a:p>
          <a:endParaRPr lang="en-US"/>
        </a:p>
      </dgm:t>
    </dgm:pt>
    <dgm:pt modelId="{03EABA6B-AC59-48CB-B1EA-799C7558640C}">
      <dgm:prSet/>
      <dgm:spPr/>
      <dgm:t>
        <a:bodyPr/>
        <a:lstStyle/>
        <a:p>
          <a:r>
            <a:rPr lang="sr-Latn-RS" noProof="0" dirty="0"/>
            <a:t>Računski efikasno generisanje objašnjenja</a:t>
          </a:r>
        </a:p>
      </dgm:t>
    </dgm:pt>
    <dgm:pt modelId="{7D4E8464-4777-4D80-B566-6C815B6C4B16}" type="parTrans" cxnId="{E62315D3-285E-4B9A-BC71-CC6E514EAC5D}">
      <dgm:prSet/>
      <dgm:spPr/>
      <dgm:t>
        <a:bodyPr/>
        <a:lstStyle/>
        <a:p>
          <a:endParaRPr lang="en-US"/>
        </a:p>
      </dgm:t>
    </dgm:pt>
    <dgm:pt modelId="{751BC10F-E45A-4CFF-A867-BC9FAD938E9B}" type="sibTrans" cxnId="{E62315D3-285E-4B9A-BC71-CC6E514EAC5D}">
      <dgm:prSet/>
      <dgm:spPr/>
      <dgm:t>
        <a:bodyPr/>
        <a:lstStyle/>
        <a:p>
          <a:endParaRPr lang="en-US"/>
        </a:p>
      </dgm:t>
    </dgm:pt>
    <dgm:pt modelId="{D32309A3-BF62-46F3-8C91-1932F3092A68}">
      <dgm:prSet/>
      <dgm:spPr/>
      <dgm:t>
        <a:bodyPr/>
        <a:lstStyle/>
        <a:p>
          <a:r>
            <a:rPr lang="sr-Latn-RS" noProof="0" dirty="0"/>
            <a:t>Procena robusnosti i pouzdanosti metoda objašnjavanja</a:t>
          </a:r>
        </a:p>
      </dgm:t>
    </dgm:pt>
    <dgm:pt modelId="{E8C38C48-B99A-4A3B-8307-7AD534966139}" type="parTrans" cxnId="{2AC997FB-8C8C-4C8B-BB79-FDB67081F111}">
      <dgm:prSet/>
      <dgm:spPr/>
      <dgm:t>
        <a:bodyPr/>
        <a:lstStyle/>
        <a:p>
          <a:endParaRPr lang="en-US"/>
        </a:p>
      </dgm:t>
    </dgm:pt>
    <dgm:pt modelId="{930AD486-77BA-4A80-B5AA-E61E6EFABDC9}" type="sibTrans" cxnId="{2AC997FB-8C8C-4C8B-BB79-FDB67081F111}">
      <dgm:prSet/>
      <dgm:spPr/>
      <dgm:t>
        <a:bodyPr/>
        <a:lstStyle/>
        <a:p>
          <a:endParaRPr lang="en-US"/>
        </a:p>
      </dgm:t>
    </dgm:pt>
    <dgm:pt modelId="{1BA2BEBC-2BD1-FE47-B0EE-2783139D6C2D}" type="pres">
      <dgm:prSet presAssocID="{F5803B10-A827-4F8B-B6A8-7A2BC77B3A39}" presName="linear" presStyleCnt="0">
        <dgm:presLayoutVars>
          <dgm:animLvl val="lvl"/>
          <dgm:resizeHandles val="exact"/>
        </dgm:presLayoutVars>
      </dgm:prSet>
      <dgm:spPr/>
    </dgm:pt>
    <dgm:pt modelId="{FD70B649-6E2D-CB4B-A236-9F56020A3C5D}" type="pres">
      <dgm:prSet presAssocID="{7C34B7C6-FB71-4ABF-A062-39405CBFFD84}" presName="parentText" presStyleLbl="node1" presStyleIdx="0" presStyleCnt="5">
        <dgm:presLayoutVars>
          <dgm:chMax val="0"/>
          <dgm:bulletEnabled val="1"/>
        </dgm:presLayoutVars>
      </dgm:prSet>
      <dgm:spPr/>
    </dgm:pt>
    <dgm:pt modelId="{000A1DD8-B8F1-7E47-943B-425EA73A11C2}" type="pres">
      <dgm:prSet presAssocID="{289D1413-46AB-4435-BE6B-624864F03128}" presName="spacer" presStyleCnt="0"/>
      <dgm:spPr/>
    </dgm:pt>
    <dgm:pt modelId="{87A91858-EE35-CF4A-B54C-BFDC6771DBA6}" type="pres">
      <dgm:prSet presAssocID="{2D1B3BB0-942C-429B-8156-365B918E63EC}" presName="parentText" presStyleLbl="node1" presStyleIdx="1" presStyleCnt="5">
        <dgm:presLayoutVars>
          <dgm:chMax val="0"/>
          <dgm:bulletEnabled val="1"/>
        </dgm:presLayoutVars>
      </dgm:prSet>
      <dgm:spPr/>
    </dgm:pt>
    <dgm:pt modelId="{BACBCACF-9506-E840-9454-C521919EBFC4}" type="pres">
      <dgm:prSet presAssocID="{48D1BA4F-B9E7-4C56-9CB4-2AB53814F70D}" presName="spacer" presStyleCnt="0"/>
      <dgm:spPr/>
    </dgm:pt>
    <dgm:pt modelId="{B429BEB6-3891-0E40-8DC1-0C1AB84CEBC6}" type="pres">
      <dgm:prSet presAssocID="{634BFF8C-8964-413A-BCCC-F7C13713B34A}" presName="parentText" presStyleLbl="node1" presStyleIdx="2" presStyleCnt="5">
        <dgm:presLayoutVars>
          <dgm:chMax val="0"/>
          <dgm:bulletEnabled val="1"/>
        </dgm:presLayoutVars>
      </dgm:prSet>
      <dgm:spPr/>
    </dgm:pt>
    <dgm:pt modelId="{BE1298A1-E288-B849-B633-D65E9CBD7FC2}" type="pres">
      <dgm:prSet presAssocID="{4C816276-2B1C-4723-93E4-BE9B8C0CDD78}" presName="spacer" presStyleCnt="0"/>
      <dgm:spPr/>
    </dgm:pt>
    <dgm:pt modelId="{D7C85188-C338-F742-B644-ECECE46F6C47}" type="pres">
      <dgm:prSet presAssocID="{03EABA6B-AC59-48CB-B1EA-799C7558640C}" presName="parentText" presStyleLbl="node1" presStyleIdx="3" presStyleCnt="5">
        <dgm:presLayoutVars>
          <dgm:chMax val="0"/>
          <dgm:bulletEnabled val="1"/>
        </dgm:presLayoutVars>
      </dgm:prSet>
      <dgm:spPr/>
    </dgm:pt>
    <dgm:pt modelId="{E2D061D1-DE68-864E-96E2-E527F5BF4123}" type="pres">
      <dgm:prSet presAssocID="{751BC10F-E45A-4CFF-A867-BC9FAD938E9B}" presName="spacer" presStyleCnt="0"/>
      <dgm:spPr/>
    </dgm:pt>
    <dgm:pt modelId="{653863D2-9598-004B-9BFD-EF5AC5893546}" type="pres">
      <dgm:prSet presAssocID="{D32309A3-BF62-46F3-8C91-1932F3092A68}" presName="parentText" presStyleLbl="node1" presStyleIdx="4" presStyleCnt="5">
        <dgm:presLayoutVars>
          <dgm:chMax val="0"/>
          <dgm:bulletEnabled val="1"/>
        </dgm:presLayoutVars>
      </dgm:prSet>
      <dgm:spPr/>
    </dgm:pt>
  </dgm:ptLst>
  <dgm:cxnLst>
    <dgm:cxn modelId="{2788634C-DB8F-D544-8160-4CC89DA4D00A}" type="presOf" srcId="{2D1B3BB0-942C-429B-8156-365B918E63EC}" destId="{87A91858-EE35-CF4A-B54C-BFDC6771DBA6}" srcOrd="0" destOrd="0" presId="urn:microsoft.com/office/officeart/2005/8/layout/vList2"/>
    <dgm:cxn modelId="{16678781-FE92-1947-A8E6-3D9245832D2D}" type="presOf" srcId="{F5803B10-A827-4F8B-B6A8-7A2BC77B3A39}" destId="{1BA2BEBC-2BD1-FE47-B0EE-2783139D6C2D}" srcOrd="0" destOrd="0" presId="urn:microsoft.com/office/officeart/2005/8/layout/vList2"/>
    <dgm:cxn modelId="{58CF4E8E-BD33-4564-ACE8-C427A4F66823}" srcId="{F5803B10-A827-4F8B-B6A8-7A2BC77B3A39}" destId="{634BFF8C-8964-413A-BCCC-F7C13713B34A}" srcOrd="2" destOrd="0" parTransId="{6B421ECA-9729-4216-B43D-3B37DF799C23}" sibTransId="{4C816276-2B1C-4723-93E4-BE9B8C0CDD78}"/>
    <dgm:cxn modelId="{5F509596-A1BF-B74C-A00A-2B72BE89431E}" type="presOf" srcId="{D32309A3-BF62-46F3-8C91-1932F3092A68}" destId="{653863D2-9598-004B-9BFD-EF5AC5893546}" srcOrd="0" destOrd="0" presId="urn:microsoft.com/office/officeart/2005/8/layout/vList2"/>
    <dgm:cxn modelId="{F893DABA-17D9-49D2-8967-29ECD8C7F5C3}" srcId="{F5803B10-A827-4F8B-B6A8-7A2BC77B3A39}" destId="{7C34B7C6-FB71-4ABF-A062-39405CBFFD84}" srcOrd="0" destOrd="0" parTransId="{E902ED5D-8FAC-42A8-86F3-713D418A4416}" sibTransId="{289D1413-46AB-4435-BE6B-624864F03128}"/>
    <dgm:cxn modelId="{F6E911C2-646B-424D-8D11-48E6192BA9B3}" srcId="{F5803B10-A827-4F8B-B6A8-7A2BC77B3A39}" destId="{2D1B3BB0-942C-429B-8156-365B918E63EC}" srcOrd="1" destOrd="0" parTransId="{DCE284E7-A724-46A7-8B96-18FF78FB089E}" sibTransId="{48D1BA4F-B9E7-4C56-9CB4-2AB53814F70D}"/>
    <dgm:cxn modelId="{09DF3FC6-D78F-8C46-8CD5-D58485A90063}" type="presOf" srcId="{03EABA6B-AC59-48CB-B1EA-799C7558640C}" destId="{D7C85188-C338-F742-B644-ECECE46F6C47}" srcOrd="0" destOrd="0" presId="urn:microsoft.com/office/officeart/2005/8/layout/vList2"/>
    <dgm:cxn modelId="{E62315D3-285E-4B9A-BC71-CC6E514EAC5D}" srcId="{F5803B10-A827-4F8B-B6A8-7A2BC77B3A39}" destId="{03EABA6B-AC59-48CB-B1EA-799C7558640C}" srcOrd="3" destOrd="0" parTransId="{7D4E8464-4777-4D80-B566-6C815B6C4B16}" sibTransId="{751BC10F-E45A-4CFF-A867-BC9FAD938E9B}"/>
    <dgm:cxn modelId="{8BBD5CD5-5C03-FC40-9265-F34496BF5F81}" type="presOf" srcId="{634BFF8C-8964-413A-BCCC-F7C13713B34A}" destId="{B429BEB6-3891-0E40-8DC1-0C1AB84CEBC6}" srcOrd="0" destOrd="0" presId="urn:microsoft.com/office/officeart/2005/8/layout/vList2"/>
    <dgm:cxn modelId="{2AC997FB-8C8C-4C8B-BB79-FDB67081F111}" srcId="{F5803B10-A827-4F8B-B6A8-7A2BC77B3A39}" destId="{D32309A3-BF62-46F3-8C91-1932F3092A68}" srcOrd="4" destOrd="0" parTransId="{E8C38C48-B99A-4A3B-8307-7AD534966139}" sibTransId="{930AD486-77BA-4A80-B5AA-E61E6EFABDC9}"/>
    <dgm:cxn modelId="{81D4C2FE-8439-6B4D-9FB5-D53E6E8A18CF}" type="presOf" srcId="{7C34B7C6-FB71-4ABF-A062-39405CBFFD84}" destId="{FD70B649-6E2D-CB4B-A236-9F56020A3C5D}" srcOrd="0" destOrd="0" presId="urn:microsoft.com/office/officeart/2005/8/layout/vList2"/>
    <dgm:cxn modelId="{100E7EE0-5F40-304E-A7A1-2790FA61B9FC}" type="presParOf" srcId="{1BA2BEBC-2BD1-FE47-B0EE-2783139D6C2D}" destId="{FD70B649-6E2D-CB4B-A236-9F56020A3C5D}" srcOrd="0" destOrd="0" presId="urn:microsoft.com/office/officeart/2005/8/layout/vList2"/>
    <dgm:cxn modelId="{AD18FB84-761D-B64C-A8A9-4E84C94DD696}" type="presParOf" srcId="{1BA2BEBC-2BD1-FE47-B0EE-2783139D6C2D}" destId="{000A1DD8-B8F1-7E47-943B-425EA73A11C2}" srcOrd="1" destOrd="0" presId="urn:microsoft.com/office/officeart/2005/8/layout/vList2"/>
    <dgm:cxn modelId="{02EC6039-B728-474D-A529-87E437727633}" type="presParOf" srcId="{1BA2BEBC-2BD1-FE47-B0EE-2783139D6C2D}" destId="{87A91858-EE35-CF4A-B54C-BFDC6771DBA6}" srcOrd="2" destOrd="0" presId="urn:microsoft.com/office/officeart/2005/8/layout/vList2"/>
    <dgm:cxn modelId="{C55B469F-11DD-EA4C-9D6D-9A0000F86091}" type="presParOf" srcId="{1BA2BEBC-2BD1-FE47-B0EE-2783139D6C2D}" destId="{BACBCACF-9506-E840-9454-C521919EBFC4}" srcOrd="3" destOrd="0" presId="urn:microsoft.com/office/officeart/2005/8/layout/vList2"/>
    <dgm:cxn modelId="{AAFEF20D-B7AD-2B4C-A3EA-13C286BCDBBE}" type="presParOf" srcId="{1BA2BEBC-2BD1-FE47-B0EE-2783139D6C2D}" destId="{B429BEB6-3891-0E40-8DC1-0C1AB84CEBC6}" srcOrd="4" destOrd="0" presId="urn:microsoft.com/office/officeart/2005/8/layout/vList2"/>
    <dgm:cxn modelId="{EC82673A-B064-974B-9AD9-83E700EB939C}" type="presParOf" srcId="{1BA2BEBC-2BD1-FE47-B0EE-2783139D6C2D}" destId="{BE1298A1-E288-B849-B633-D65E9CBD7FC2}" srcOrd="5" destOrd="0" presId="urn:microsoft.com/office/officeart/2005/8/layout/vList2"/>
    <dgm:cxn modelId="{23191DF1-5C99-0A40-816A-9BF8FD83FED1}" type="presParOf" srcId="{1BA2BEBC-2BD1-FE47-B0EE-2783139D6C2D}" destId="{D7C85188-C338-F742-B644-ECECE46F6C47}" srcOrd="6" destOrd="0" presId="urn:microsoft.com/office/officeart/2005/8/layout/vList2"/>
    <dgm:cxn modelId="{66AE20F8-2B97-2E44-8C80-292B3949DDC4}" type="presParOf" srcId="{1BA2BEBC-2BD1-FE47-B0EE-2783139D6C2D}" destId="{E2D061D1-DE68-864E-96E2-E527F5BF4123}" srcOrd="7" destOrd="0" presId="urn:microsoft.com/office/officeart/2005/8/layout/vList2"/>
    <dgm:cxn modelId="{8DB21844-551B-254F-8850-084870773E82}" type="presParOf" srcId="{1BA2BEBC-2BD1-FE47-B0EE-2783139D6C2D}" destId="{653863D2-9598-004B-9BFD-EF5AC589354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95D055-D9E7-45F2-943F-A9B2609E0A6E}" type="doc">
      <dgm:prSet loTypeId="urn:microsoft.com/office/officeart/2005/8/layout/matrix2" loCatId="matrix" qsTypeId="urn:microsoft.com/office/officeart/2005/8/quickstyle/simple1" qsCatId="simple" csTypeId="urn:microsoft.com/office/officeart/2005/8/colors/accent1_2" csCatId="accent1"/>
      <dgm:spPr/>
      <dgm:t>
        <a:bodyPr/>
        <a:lstStyle/>
        <a:p>
          <a:endParaRPr lang="en-US"/>
        </a:p>
      </dgm:t>
    </dgm:pt>
    <dgm:pt modelId="{FCF27623-6AF2-4289-BE27-B2688B1CC9AD}">
      <dgm:prSet/>
      <dgm:spPr/>
      <dgm:t>
        <a:bodyPr/>
        <a:lstStyle/>
        <a:p>
          <a:r>
            <a:rPr lang="sr-Latn-RS" b="1" noProof="0" dirty="0"/>
            <a:t>Pre-modeling </a:t>
          </a:r>
          <a:r>
            <a:rPr lang="sr-Latn-RS" b="1" noProof="0" dirty="0" err="1"/>
            <a:t>explainability</a:t>
          </a:r>
          <a:r>
            <a:rPr lang="sr-Latn-RS" noProof="0" dirty="0"/>
            <a:t> - Objašnjavanje počinje pre samog treniranja modela, analizom i razumevanjem podataka koji će biti korišćeni.</a:t>
          </a:r>
        </a:p>
      </dgm:t>
    </dgm:pt>
    <dgm:pt modelId="{D04E7B11-5997-44E3-8331-C00AD4A98C49}" type="parTrans" cxnId="{F7E556F4-998E-466D-B46D-4240013B7859}">
      <dgm:prSet/>
      <dgm:spPr/>
      <dgm:t>
        <a:bodyPr/>
        <a:lstStyle/>
        <a:p>
          <a:endParaRPr lang="en-US"/>
        </a:p>
      </dgm:t>
    </dgm:pt>
    <dgm:pt modelId="{D3CE1C88-BEB1-4EEC-9FA9-19A1E47CEC2E}" type="sibTrans" cxnId="{F7E556F4-998E-466D-B46D-4240013B7859}">
      <dgm:prSet/>
      <dgm:spPr/>
      <dgm:t>
        <a:bodyPr/>
        <a:lstStyle/>
        <a:p>
          <a:endParaRPr lang="en-US"/>
        </a:p>
      </dgm:t>
    </dgm:pt>
    <dgm:pt modelId="{7320F40D-A0F6-4FFE-BED2-F5721D1B6A4D}">
      <dgm:prSet/>
      <dgm:spPr/>
      <dgm:t>
        <a:bodyPr/>
        <a:lstStyle/>
        <a:p>
          <a:r>
            <a:rPr lang="sr-Latn-RS" b="1" noProof="0" dirty="0" err="1"/>
            <a:t>Intrinsic</a:t>
          </a:r>
          <a:r>
            <a:rPr lang="sr-Latn-RS" b="1" noProof="0" dirty="0"/>
            <a:t> </a:t>
          </a:r>
          <a:r>
            <a:rPr lang="sr-Latn-RS" b="1" noProof="0" dirty="0" err="1"/>
            <a:t>vs</a:t>
          </a:r>
          <a:r>
            <a:rPr lang="sr-Latn-RS" b="1" noProof="0" dirty="0"/>
            <a:t>. Post-</a:t>
          </a:r>
          <a:r>
            <a:rPr lang="sr-Latn-RS" b="1" noProof="0" dirty="0" err="1"/>
            <a:t>hoc</a:t>
          </a:r>
          <a:r>
            <a:rPr lang="sr-Latn-RS" b="1" noProof="0" dirty="0"/>
            <a:t> </a:t>
          </a:r>
          <a:r>
            <a:rPr lang="sr-Latn-RS" noProof="0" dirty="0"/>
            <a:t>- Ova podela govori o tome da li je objašnjivost deo samog modela ili se dodaje nakon njegovog treniranja.</a:t>
          </a:r>
        </a:p>
      </dgm:t>
    </dgm:pt>
    <dgm:pt modelId="{FD98480E-1B03-42A9-BC1B-99A8636758C1}" type="parTrans" cxnId="{572B6DC2-FA5B-4A9C-BCF6-4813FF7633D6}">
      <dgm:prSet/>
      <dgm:spPr/>
      <dgm:t>
        <a:bodyPr/>
        <a:lstStyle/>
        <a:p>
          <a:endParaRPr lang="en-US"/>
        </a:p>
      </dgm:t>
    </dgm:pt>
    <dgm:pt modelId="{AF644E7E-9858-4920-BD7A-EEB3123046EA}" type="sibTrans" cxnId="{572B6DC2-FA5B-4A9C-BCF6-4813FF7633D6}">
      <dgm:prSet/>
      <dgm:spPr/>
      <dgm:t>
        <a:bodyPr/>
        <a:lstStyle/>
        <a:p>
          <a:endParaRPr lang="en-US"/>
        </a:p>
      </dgm:t>
    </dgm:pt>
    <dgm:pt modelId="{E3ABBA1B-542A-437D-AFB1-882634626D1B}">
      <dgm:prSet/>
      <dgm:spPr/>
      <dgm:t>
        <a:bodyPr/>
        <a:lstStyle/>
        <a:p>
          <a:r>
            <a:rPr lang="sr-Latn-RS" b="1" noProof="0" dirty="0" err="1"/>
            <a:t>Local</a:t>
          </a:r>
          <a:r>
            <a:rPr lang="sr-Latn-RS" b="1" noProof="0" dirty="0"/>
            <a:t>, </a:t>
          </a:r>
          <a:r>
            <a:rPr lang="sr-Latn-RS" b="1" noProof="0" dirty="0" err="1"/>
            <a:t>Cohort</a:t>
          </a:r>
          <a:r>
            <a:rPr lang="sr-Latn-RS" b="1" noProof="0" dirty="0"/>
            <a:t> &amp; Global </a:t>
          </a:r>
          <a:r>
            <a:rPr lang="sr-Latn-RS" b="1" noProof="0" dirty="0" err="1"/>
            <a:t>explanations</a:t>
          </a:r>
          <a:r>
            <a:rPr lang="sr-Latn-RS" b="1" noProof="0" dirty="0"/>
            <a:t> </a:t>
          </a:r>
          <a:r>
            <a:rPr lang="sr-Latn-RS" noProof="0" dirty="0"/>
            <a:t>- Ova podela govori o obimu objašnjenja.</a:t>
          </a:r>
        </a:p>
      </dgm:t>
    </dgm:pt>
    <dgm:pt modelId="{45B3CF68-FE94-4FFB-90BB-D437BA0F1F62}" type="parTrans" cxnId="{D255D0F4-64A8-4D00-B237-B89F4124C573}">
      <dgm:prSet/>
      <dgm:spPr/>
      <dgm:t>
        <a:bodyPr/>
        <a:lstStyle/>
        <a:p>
          <a:endParaRPr lang="en-US"/>
        </a:p>
      </dgm:t>
    </dgm:pt>
    <dgm:pt modelId="{F8AE72E5-2A09-409C-A610-0E023143FA8E}" type="sibTrans" cxnId="{D255D0F4-64A8-4D00-B237-B89F4124C573}">
      <dgm:prSet/>
      <dgm:spPr/>
      <dgm:t>
        <a:bodyPr/>
        <a:lstStyle/>
        <a:p>
          <a:endParaRPr lang="en-US"/>
        </a:p>
      </dgm:t>
    </dgm:pt>
    <dgm:pt modelId="{6CCEF541-4AE1-4B0A-A8DF-45C64AFF009B}">
      <dgm:prSet/>
      <dgm:spPr/>
      <dgm:t>
        <a:bodyPr/>
        <a:lstStyle/>
        <a:p>
          <a:r>
            <a:rPr lang="sr-Latn-RS" b="1" noProof="0" dirty="0" err="1"/>
            <a:t>Attributions</a:t>
          </a:r>
          <a:r>
            <a:rPr lang="sr-Latn-RS" b="1" noProof="0" dirty="0"/>
            <a:t>, </a:t>
          </a:r>
          <a:r>
            <a:rPr lang="sr-Latn-RS" b="1" noProof="0" dirty="0" err="1"/>
            <a:t>Counterfactual</a:t>
          </a:r>
          <a:r>
            <a:rPr lang="sr-Latn-RS" b="1" noProof="0" dirty="0"/>
            <a:t> &amp; </a:t>
          </a:r>
          <a:r>
            <a:rPr lang="sr-Latn-RS" b="1" noProof="0" dirty="0" err="1"/>
            <a:t>Example-Based</a:t>
          </a:r>
          <a:r>
            <a:rPr lang="sr-Latn-RS" b="1" noProof="0" dirty="0"/>
            <a:t> </a:t>
          </a:r>
          <a:r>
            <a:rPr lang="sr-Latn-RS" b="1" noProof="0" dirty="0" err="1"/>
            <a:t>Explanations</a:t>
          </a:r>
          <a:r>
            <a:rPr lang="sr-Latn-RS" b="1" noProof="0" dirty="0"/>
            <a:t> </a:t>
          </a:r>
          <a:r>
            <a:rPr lang="sr-Latn-RS" noProof="0" dirty="0"/>
            <a:t>– Ova podela govori o načinu na koji objašnjavamo rezultat</a:t>
          </a:r>
        </a:p>
      </dgm:t>
    </dgm:pt>
    <dgm:pt modelId="{96467CB8-AA6A-4A7D-A728-C68998FDA943}" type="parTrans" cxnId="{5E2D7E73-5ED2-49EC-8C6F-9F3DE73C1BB0}">
      <dgm:prSet/>
      <dgm:spPr/>
      <dgm:t>
        <a:bodyPr/>
        <a:lstStyle/>
        <a:p>
          <a:endParaRPr lang="en-US"/>
        </a:p>
      </dgm:t>
    </dgm:pt>
    <dgm:pt modelId="{35FCA5BD-31E0-4C3F-AB95-01221224706E}" type="sibTrans" cxnId="{5E2D7E73-5ED2-49EC-8C6F-9F3DE73C1BB0}">
      <dgm:prSet/>
      <dgm:spPr/>
      <dgm:t>
        <a:bodyPr/>
        <a:lstStyle/>
        <a:p>
          <a:endParaRPr lang="en-US"/>
        </a:p>
      </dgm:t>
    </dgm:pt>
    <dgm:pt modelId="{5A01A3F4-ECB4-074E-83EE-3C3E0A3FA6BA}" type="pres">
      <dgm:prSet presAssocID="{6E95D055-D9E7-45F2-943F-A9B2609E0A6E}" presName="matrix" presStyleCnt="0">
        <dgm:presLayoutVars>
          <dgm:chMax val="1"/>
          <dgm:dir/>
          <dgm:resizeHandles val="exact"/>
        </dgm:presLayoutVars>
      </dgm:prSet>
      <dgm:spPr/>
    </dgm:pt>
    <dgm:pt modelId="{498AFBF7-AEA8-7942-880A-AE36A5690A7D}" type="pres">
      <dgm:prSet presAssocID="{6E95D055-D9E7-45F2-943F-A9B2609E0A6E}" presName="axisShape" presStyleLbl="bgShp" presStyleIdx="0" presStyleCnt="1"/>
      <dgm:spPr/>
    </dgm:pt>
    <dgm:pt modelId="{F3CE8048-C131-B647-95E6-8790FCB244CB}" type="pres">
      <dgm:prSet presAssocID="{6E95D055-D9E7-45F2-943F-A9B2609E0A6E}" presName="rect1" presStyleLbl="node1" presStyleIdx="0" presStyleCnt="4">
        <dgm:presLayoutVars>
          <dgm:chMax val="0"/>
          <dgm:chPref val="0"/>
          <dgm:bulletEnabled val="1"/>
        </dgm:presLayoutVars>
      </dgm:prSet>
      <dgm:spPr/>
    </dgm:pt>
    <dgm:pt modelId="{1B4F286C-6009-3742-A579-6679B1526EF9}" type="pres">
      <dgm:prSet presAssocID="{6E95D055-D9E7-45F2-943F-A9B2609E0A6E}" presName="rect2" presStyleLbl="node1" presStyleIdx="1" presStyleCnt="4">
        <dgm:presLayoutVars>
          <dgm:chMax val="0"/>
          <dgm:chPref val="0"/>
          <dgm:bulletEnabled val="1"/>
        </dgm:presLayoutVars>
      </dgm:prSet>
      <dgm:spPr/>
    </dgm:pt>
    <dgm:pt modelId="{88C1FDE9-3B46-F14E-90CC-60CA05C55488}" type="pres">
      <dgm:prSet presAssocID="{6E95D055-D9E7-45F2-943F-A9B2609E0A6E}" presName="rect3" presStyleLbl="node1" presStyleIdx="2" presStyleCnt="4">
        <dgm:presLayoutVars>
          <dgm:chMax val="0"/>
          <dgm:chPref val="0"/>
          <dgm:bulletEnabled val="1"/>
        </dgm:presLayoutVars>
      </dgm:prSet>
      <dgm:spPr/>
    </dgm:pt>
    <dgm:pt modelId="{2A6DB868-F50F-5B48-A8E5-B3011A1132A6}" type="pres">
      <dgm:prSet presAssocID="{6E95D055-D9E7-45F2-943F-A9B2609E0A6E}" presName="rect4" presStyleLbl="node1" presStyleIdx="3" presStyleCnt="4">
        <dgm:presLayoutVars>
          <dgm:chMax val="0"/>
          <dgm:chPref val="0"/>
          <dgm:bulletEnabled val="1"/>
        </dgm:presLayoutVars>
      </dgm:prSet>
      <dgm:spPr/>
    </dgm:pt>
  </dgm:ptLst>
  <dgm:cxnLst>
    <dgm:cxn modelId="{C30E9F03-CD74-5A43-8372-AB72A2783556}" type="presOf" srcId="{FCF27623-6AF2-4289-BE27-B2688B1CC9AD}" destId="{F3CE8048-C131-B647-95E6-8790FCB244CB}" srcOrd="0" destOrd="0" presId="urn:microsoft.com/office/officeart/2005/8/layout/matrix2"/>
    <dgm:cxn modelId="{FB2B870B-F944-A74D-8A04-7A3DBD27F26C}" type="presOf" srcId="{7320F40D-A0F6-4FFE-BED2-F5721D1B6A4D}" destId="{1B4F286C-6009-3742-A579-6679B1526EF9}" srcOrd="0" destOrd="0" presId="urn:microsoft.com/office/officeart/2005/8/layout/matrix2"/>
    <dgm:cxn modelId="{B373CE56-4AAE-4248-AC96-8C624EE42511}" type="presOf" srcId="{6CCEF541-4AE1-4B0A-A8DF-45C64AFF009B}" destId="{2A6DB868-F50F-5B48-A8E5-B3011A1132A6}" srcOrd="0" destOrd="0" presId="urn:microsoft.com/office/officeart/2005/8/layout/matrix2"/>
    <dgm:cxn modelId="{5E2D7E73-5ED2-49EC-8C6F-9F3DE73C1BB0}" srcId="{6E95D055-D9E7-45F2-943F-A9B2609E0A6E}" destId="{6CCEF541-4AE1-4B0A-A8DF-45C64AFF009B}" srcOrd="3" destOrd="0" parTransId="{96467CB8-AA6A-4A7D-A728-C68998FDA943}" sibTransId="{35FCA5BD-31E0-4C3F-AB95-01221224706E}"/>
    <dgm:cxn modelId="{599E5DA1-5806-3C49-AAED-7A2AFEF7DB95}" type="presOf" srcId="{6E95D055-D9E7-45F2-943F-A9B2609E0A6E}" destId="{5A01A3F4-ECB4-074E-83EE-3C3E0A3FA6BA}" srcOrd="0" destOrd="0" presId="urn:microsoft.com/office/officeart/2005/8/layout/matrix2"/>
    <dgm:cxn modelId="{572B6DC2-FA5B-4A9C-BCF6-4813FF7633D6}" srcId="{6E95D055-D9E7-45F2-943F-A9B2609E0A6E}" destId="{7320F40D-A0F6-4FFE-BED2-F5721D1B6A4D}" srcOrd="1" destOrd="0" parTransId="{FD98480E-1B03-42A9-BC1B-99A8636758C1}" sibTransId="{AF644E7E-9858-4920-BD7A-EEB3123046EA}"/>
    <dgm:cxn modelId="{014DCDDA-2A27-2042-91A5-261EF82C4C1C}" type="presOf" srcId="{E3ABBA1B-542A-437D-AFB1-882634626D1B}" destId="{88C1FDE9-3B46-F14E-90CC-60CA05C55488}" srcOrd="0" destOrd="0" presId="urn:microsoft.com/office/officeart/2005/8/layout/matrix2"/>
    <dgm:cxn modelId="{F7E556F4-998E-466D-B46D-4240013B7859}" srcId="{6E95D055-D9E7-45F2-943F-A9B2609E0A6E}" destId="{FCF27623-6AF2-4289-BE27-B2688B1CC9AD}" srcOrd="0" destOrd="0" parTransId="{D04E7B11-5997-44E3-8331-C00AD4A98C49}" sibTransId="{D3CE1C88-BEB1-4EEC-9FA9-19A1E47CEC2E}"/>
    <dgm:cxn modelId="{D255D0F4-64A8-4D00-B237-B89F4124C573}" srcId="{6E95D055-D9E7-45F2-943F-A9B2609E0A6E}" destId="{E3ABBA1B-542A-437D-AFB1-882634626D1B}" srcOrd="2" destOrd="0" parTransId="{45B3CF68-FE94-4FFB-90BB-D437BA0F1F62}" sibTransId="{F8AE72E5-2A09-409C-A610-0E023143FA8E}"/>
    <dgm:cxn modelId="{C89CF89E-4CBA-6047-AE47-9A87671B4693}" type="presParOf" srcId="{5A01A3F4-ECB4-074E-83EE-3C3E0A3FA6BA}" destId="{498AFBF7-AEA8-7942-880A-AE36A5690A7D}" srcOrd="0" destOrd="0" presId="urn:microsoft.com/office/officeart/2005/8/layout/matrix2"/>
    <dgm:cxn modelId="{774EC6EF-0D09-A647-90E2-BDC8204A63B3}" type="presParOf" srcId="{5A01A3F4-ECB4-074E-83EE-3C3E0A3FA6BA}" destId="{F3CE8048-C131-B647-95E6-8790FCB244CB}" srcOrd="1" destOrd="0" presId="urn:microsoft.com/office/officeart/2005/8/layout/matrix2"/>
    <dgm:cxn modelId="{C1E7EE67-B2EE-8C44-907A-43CE6A227F97}" type="presParOf" srcId="{5A01A3F4-ECB4-074E-83EE-3C3E0A3FA6BA}" destId="{1B4F286C-6009-3742-A579-6679B1526EF9}" srcOrd="2" destOrd="0" presId="urn:microsoft.com/office/officeart/2005/8/layout/matrix2"/>
    <dgm:cxn modelId="{44B851E8-AAC4-694A-B938-3FF7AF2AEE41}" type="presParOf" srcId="{5A01A3F4-ECB4-074E-83EE-3C3E0A3FA6BA}" destId="{88C1FDE9-3B46-F14E-90CC-60CA05C55488}" srcOrd="3" destOrd="0" presId="urn:microsoft.com/office/officeart/2005/8/layout/matrix2"/>
    <dgm:cxn modelId="{B59D5FB3-7EF9-D54D-9725-85E383E3662F}" type="presParOf" srcId="{5A01A3F4-ECB4-074E-83EE-3C3E0A3FA6BA}" destId="{2A6DB868-F50F-5B48-A8E5-B3011A1132A6}"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6D4CC04-FBDF-440A-A0A1-5BB06B0B41E9}" type="doc">
      <dgm:prSet loTypeId="urn:microsoft.com/office/officeart/2005/8/layout/process4" loCatId="process" qsTypeId="urn:microsoft.com/office/officeart/2005/8/quickstyle/simple4" qsCatId="simple" csTypeId="urn:microsoft.com/office/officeart/2005/8/colors/accent1_2" csCatId="accent1"/>
      <dgm:spPr/>
      <dgm:t>
        <a:bodyPr/>
        <a:lstStyle/>
        <a:p>
          <a:endParaRPr lang="en-US"/>
        </a:p>
      </dgm:t>
    </dgm:pt>
    <dgm:pt modelId="{6FA56CA4-F591-4CD9-A46D-F8F4328FCA08}">
      <dgm:prSet/>
      <dgm:spPr/>
      <dgm:t>
        <a:bodyPr/>
        <a:lstStyle/>
        <a:p>
          <a:r>
            <a:rPr lang="sr-Latn-RS" noProof="0" dirty="0"/>
            <a:t>Za razliku od FC sloja, neuron </a:t>
          </a:r>
          <a:r>
            <a:rPr lang="sr-Latn-RS" noProof="0" dirty="0" err="1"/>
            <a:t>konvolucionog</a:t>
          </a:r>
          <a:r>
            <a:rPr lang="sr-Latn-RS" noProof="0" dirty="0"/>
            <a:t> sloja nije povezan sa celim ulazom, već samo sa lokalnim regionom slike (</a:t>
          </a:r>
          <a:r>
            <a:rPr lang="sr-Latn-RS" noProof="0" dirty="0" err="1"/>
            <a:t>receptive</a:t>
          </a:r>
          <a:r>
            <a:rPr lang="sr-Latn-RS" noProof="0" dirty="0"/>
            <a:t> </a:t>
          </a:r>
          <a:r>
            <a:rPr lang="sr-Latn-RS" noProof="0" dirty="0" err="1"/>
            <a:t>field</a:t>
          </a:r>
          <a:r>
            <a:rPr lang="sr-Latn-RS" noProof="0" dirty="0"/>
            <a:t>).</a:t>
          </a:r>
        </a:p>
      </dgm:t>
    </dgm:pt>
    <dgm:pt modelId="{DB3C4E1E-44A4-456D-81AB-E33937A08E00}" type="parTrans" cxnId="{7E485D8F-58E9-4D2E-A156-F7DF42534003}">
      <dgm:prSet/>
      <dgm:spPr/>
      <dgm:t>
        <a:bodyPr/>
        <a:lstStyle/>
        <a:p>
          <a:endParaRPr lang="en-US"/>
        </a:p>
      </dgm:t>
    </dgm:pt>
    <dgm:pt modelId="{09D2CFF7-BD3C-485E-A745-0EAB9A8305EB}" type="sibTrans" cxnId="{7E485D8F-58E9-4D2E-A156-F7DF42534003}">
      <dgm:prSet/>
      <dgm:spPr/>
      <dgm:t>
        <a:bodyPr/>
        <a:lstStyle/>
        <a:p>
          <a:endParaRPr lang="en-US"/>
        </a:p>
      </dgm:t>
    </dgm:pt>
    <dgm:pt modelId="{53455545-B13D-4CA1-9080-32D7B6166F5A}">
      <dgm:prSet/>
      <dgm:spPr/>
      <dgm:t>
        <a:bodyPr/>
        <a:lstStyle/>
        <a:p>
          <a:r>
            <a:rPr lang="sr-Latn-RS" noProof="0" dirty="0"/>
            <a:t>Isti filter, odnosno isti skup težina i </a:t>
          </a:r>
          <a:r>
            <a:rPr lang="sr-Latn-RS" noProof="0" dirty="0" err="1"/>
            <a:t>bias</a:t>
          </a:r>
          <a:r>
            <a:rPr lang="sr-Latn-RS" noProof="0" dirty="0"/>
            <a:t>, koristi se na svim prostornim pozicijama slike. Ako je određena karakteristika korisna na jednom mestu slike, pretpostavljamo da može biti korisna i na drugom mestu.</a:t>
          </a:r>
        </a:p>
      </dgm:t>
    </dgm:pt>
    <dgm:pt modelId="{B2530327-4D66-4AA2-90EA-B96B5B44D1BA}" type="parTrans" cxnId="{4A1828B2-20B1-44C8-BC8E-7243B0ADB422}">
      <dgm:prSet/>
      <dgm:spPr/>
      <dgm:t>
        <a:bodyPr/>
        <a:lstStyle/>
        <a:p>
          <a:endParaRPr lang="en-US"/>
        </a:p>
      </dgm:t>
    </dgm:pt>
    <dgm:pt modelId="{033CB957-B6B2-48D8-9B75-30CB71B0A871}" type="sibTrans" cxnId="{4A1828B2-20B1-44C8-BC8E-7243B0ADB422}">
      <dgm:prSet/>
      <dgm:spPr/>
      <dgm:t>
        <a:bodyPr/>
        <a:lstStyle/>
        <a:p>
          <a:endParaRPr lang="en-US"/>
        </a:p>
      </dgm:t>
    </dgm:pt>
    <dgm:pt modelId="{2FC7CA36-F101-4D06-84B0-9294AB360EE3}">
      <dgm:prSet/>
      <dgm:spPr/>
      <dgm:t>
        <a:bodyPr/>
        <a:lstStyle/>
        <a:p>
          <a:r>
            <a:rPr lang="sr-Latn-RS" noProof="0" dirty="0"/>
            <a:t>Posledice:</a:t>
          </a:r>
        </a:p>
      </dgm:t>
    </dgm:pt>
    <dgm:pt modelId="{93DFD691-03CC-4CC0-BB4C-B116645468F6}" type="parTrans" cxnId="{CC2142AC-8453-4F77-A0E5-541998E064F0}">
      <dgm:prSet/>
      <dgm:spPr/>
      <dgm:t>
        <a:bodyPr/>
        <a:lstStyle/>
        <a:p>
          <a:endParaRPr lang="en-US"/>
        </a:p>
      </dgm:t>
    </dgm:pt>
    <dgm:pt modelId="{EE862E9D-972C-4A0F-A7D8-7639BA61FE22}" type="sibTrans" cxnId="{CC2142AC-8453-4F77-A0E5-541998E064F0}">
      <dgm:prSet/>
      <dgm:spPr/>
      <dgm:t>
        <a:bodyPr/>
        <a:lstStyle/>
        <a:p>
          <a:endParaRPr lang="en-US"/>
        </a:p>
      </dgm:t>
    </dgm:pt>
    <dgm:pt modelId="{768AD1D5-C8E5-4185-B64E-0F8A34DA814C}">
      <dgm:prSet/>
      <dgm:spPr/>
      <dgm:t>
        <a:bodyPr/>
        <a:lstStyle/>
        <a:p>
          <a:r>
            <a:rPr lang="sr-Latn-RS" noProof="0" dirty="0"/>
            <a:t>značajno manji broj parametara</a:t>
          </a:r>
        </a:p>
      </dgm:t>
    </dgm:pt>
    <dgm:pt modelId="{8E4FE803-8708-4F75-9F89-CFE14785B643}" type="parTrans" cxnId="{E366D171-F099-4724-97F2-9D243DC8C6EC}">
      <dgm:prSet/>
      <dgm:spPr/>
      <dgm:t>
        <a:bodyPr/>
        <a:lstStyle/>
        <a:p>
          <a:endParaRPr lang="en-US"/>
        </a:p>
      </dgm:t>
    </dgm:pt>
    <dgm:pt modelId="{B1317834-A542-4B0B-BFF2-5EB7CBC62965}" type="sibTrans" cxnId="{E366D171-F099-4724-97F2-9D243DC8C6EC}">
      <dgm:prSet/>
      <dgm:spPr/>
      <dgm:t>
        <a:bodyPr/>
        <a:lstStyle/>
        <a:p>
          <a:endParaRPr lang="en-US"/>
        </a:p>
      </dgm:t>
    </dgm:pt>
    <dgm:pt modelId="{24A2AF2A-84B3-43BA-AB26-F55AD87CD398}">
      <dgm:prSet/>
      <dgm:spPr/>
      <dgm:t>
        <a:bodyPr/>
        <a:lstStyle/>
        <a:p>
          <a:r>
            <a:rPr lang="sr-Latn-RS" noProof="0" dirty="0"/>
            <a:t>isti vizuelni obrazac može biti detektovan na različitim pozicijama,</a:t>
          </a:r>
        </a:p>
      </dgm:t>
    </dgm:pt>
    <dgm:pt modelId="{CCECCC18-B88A-4836-B3F9-1C668C9840B6}" type="parTrans" cxnId="{22A6A274-9547-4F32-A417-C2B6F7CECA60}">
      <dgm:prSet/>
      <dgm:spPr/>
      <dgm:t>
        <a:bodyPr/>
        <a:lstStyle/>
        <a:p>
          <a:endParaRPr lang="en-US"/>
        </a:p>
      </dgm:t>
    </dgm:pt>
    <dgm:pt modelId="{6E8760C4-89DB-4D80-846F-4E6AFC9D3185}" type="sibTrans" cxnId="{22A6A274-9547-4F32-A417-C2B6F7CECA60}">
      <dgm:prSet/>
      <dgm:spPr/>
      <dgm:t>
        <a:bodyPr/>
        <a:lstStyle/>
        <a:p>
          <a:endParaRPr lang="en-US"/>
        </a:p>
      </dgm:t>
    </dgm:pt>
    <dgm:pt modelId="{EA6619B4-9247-4AE6-AEC9-9361E75FFD44}">
      <dgm:prSet/>
      <dgm:spPr/>
      <dgm:t>
        <a:bodyPr/>
        <a:lstStyle/>
        <a:p>
          <a:r>
            <a:rPr lang="sr-Latn-RS" noProof="0" dirty="0"/>
            <a:t>očuvana je prostorna organizacija ulaznih podataka.</a:t>
          </a:r>
        </a:p>
      </dgm:t>
    </dgm:pt>
    <dgm:pt modelId="{CF6441B6-FE7E-40A8-8770-7C687B1554E2}" type="parTrans" cxnId="{AF9CFF33-27A1-444C-B31A-5545A49B2B9E}">
      <dgm:prSet/>
      <dgm:spPr/>
      <dgm:t>
        <a:bodyPr/>
        <a:lstStyle/>
        <a:p>
          <a:endParaRPr lang="en-US"/>
        </a:p>
      </dgm:t>
    </dgm:pt>
    <dgm:pt modelId="{AC03A2F4-AB96-437E-B47D-6612FCC28140}" type="sibTrans" cxnId="{AF9CFF33-27A1-444C-B31A-5545A49B2B9E}">
      <dgm:prSet/>
      <dgm:spPr/>
      <dgm:t>
        <a:bodyPr/>
        <a:lstStyle/>
        <a:p>
          <a:endParaRPr lang="en-US"/>
        </a:p>
      </dgm:t>
    </dgm:pt>
    <dgm:pt modelId="{2F025C29-22F8-EA4B-90F3-6A68DFDE42E0}" type="pres">
      <dgm:prSet presAssocID="{A6D4CC04-FBDF-440A-A0A1-5BB06B0B41E9}" presName="Name0" presStyleCnt="0">
        <dgm:presLayoutVars>
          <dgm:dir/>
          <dgm:animLvl val="lvl"/>
          <dgm:resizeHandles val="exact"/>
        </dgm:presLayoutVars>
      </dgm:prSet>
      <dgm:spPr/>
    </dgm:pt>
    <dgm:pt modelId="{1C474937-B568-1745-ADD0-5CC96A4900F8}" type="pres">
      <dgm:prSet presAssocID="{2FC7CA36-F101-4D06-84B0-9294AB360EE3}" presName="boxAndChildren" presStyleCnt="0"/>
      <dgm:spPr/>
    </dgm:pt>
    <dgm:pt modelId="{E1FB6AFF-239B-9443-BE89-78D25959A46E}" type="pres">
      <dgm:prSet presAssocID="{2FC7CA36-F101-4D06-84B0-9294AB360EE3}" presName="parentTextBox" presStyleLbl="node1" presStyleIdx="0" presStyleCnt="3"/>
      <dgm:spPr/>
    </dgm:pt>
    <dgm:pt modelId="{00628BBE-0627-3B4C-AD06-CE599037E728}" type="pres">
      <dgm:prSet presAssocID="{2FC7CA36-F101-4D06-84B0-9294AB360EE3}" presName="entireBox" presStyleLbl="node1" presStyleIdx="0" presStyleCnt="3"/>
      <dgm:spPr/>
    </dgm:pt>
    <dgm:pt modelId="{ED38566A-AB87-4D44-9CB0-9A3EE6100B6B}" type="pres">
      <dgm:prSet presAssocID="{2FC7CA36-F101-4D06-84B0-9294AB360EE3}" presName="descendantBox" presStyleCnt="0"/>
      <dgm:spPr/>
    </dgm:pt>
    <dgm:pt modelId="{6D175C0C-5D84-7C4D-8E64-9778CACA1031}" type="pres">
      <dgm:prSet presAssocID="{768AD1D5-C8E5-4185-B64E-0F8A34DA814C}" presName="childTextBox" presStyleLbl="fgAccFollowNode1" presStyleIdx="0" presStyleCnt="3">
        <dgm:presLayoutVars>
          <dgm:bulletEnabled val="1"/>
        </dgm:presLayoutVars>
      </dgm:prSet>
      <dgm:spPr/>
    </dgm:pt>
    <dgm:pt modelId="{1CE2546B-C70A-614D-92E9-106A5B720794}" type="pres">
      <dgm:prSet presAssocID="{24A2AF2A-84B3-43BA-AB26-F55AD87CD398}" presName="childTextBox" presStyleLbl="fgAccFollowNode1" presStyleIdx="1" presStyleCnt="3">
        <dgm:presLayoutVars>
          <dgm:bulletEnabled val="1"/>
        </dgm:presLayoutVars>
      </dgm:prSet>
      <dgm:spPr/>
    </dgm:pt>
    <dgm:pt modelId="{9FD7172B-DAE2-E64D-9C45-FE45623DD005}" type="pres">
      <dgm:prSet presAssocID="{EA6619B4-9247-4AE6-AEC9-9361E75FFD44}" presName="childTextBox" presStyleLbl="fgAccFollowNode1" presStyleIdx="2" presStyleCnt="3">
        <dgm:presLayoutVars>
          <dgm:bulletEnabled val="1"/>
        </dgm:presLayoutVars>
      </dgm:prSet>
      <dgm:spPr/>
    </dgm:pt>
    <dgm:pt modelId="{71EC6700-A598-B74A-8CA7-4B986989EACB}" type="pres">
      <dgm:prSet presAssocID="{033CB957-B6B2-48D8-9B75-30CB71B0A871}" presName="sp" presStyleCnt="0"/>
      <dgm:spPr/>
    </dgm:pt>
    <dgm:pt modelId="{04BEE441-AF0A-104C-BC8B-2DACBB774FAE}" type="pres">
      <dgm:prSet presAssocID="{53455545-B13D-4CA1-9080-32D7B6166F5A}" presName="arrowAndChildren" presStyleCnt="0"/>
      <dgm:spPr/>
    </dgm:pt>
    <dgm:pt modelId="{9641A0FA-36AC-5B48-994C-96F0D5419D3B}" type="pres">
      <dgm:prSet presAssocID="{53455545-B13D-4CA1-9080-32D7B6166F5A}" presName="parentTextArrow" presStyleLbl="node1" presStyleIdx="1" presStyleCnt="3"/>
      <dgm:spPr/>
    </dgm:pt>
    <dgm:pt modelId="{6640A165-EBE2-8D46-AFBA-008357908AF9}" type="pres">
      <dgm:prSet presAssocID="{09D2CFF7-BD3C-485E-A745-0EAB9A8305EB}" presName="sp" presStyleCnt="0"/>
      <dgm:spPr/>
    </dgm:pt>
    <dgm:pt modelId="{B90CE945-6A20-F648-A7B9-BCF4A724DA5D}" type="pres">
      <dgm:prSet presAssocID="{6FA56CA4-F591-4CD9-A46D-F8F4328FCA08}" presName="arrowAndChildren" presStyleCnt="0"/>
      <dgm:spPr/>
    </dgm:pt>
    <dgm:pt modelId="{40BD820E-D728-3544-AC07-24DD919942AD}" type="pres">
      <dgm:prSet presAssocID="{6FA56CA4-F591-4CD9-A46D-F8F4328FCA08}" presName="parentTextArrow" presStyleLbl="node1" presStyleIdx="2" presStyleCnt="3"/>
      <dgm:spPr/>
    </dgm:pt>
  </dgm:ptLst>
  <dgm:cxnLst>
    <dgm:cxn modelId="{AF9CFF33-27A1-444C-B31A-5545A49B2B9E}" srcId="{2FC7CA36-F101-4D06-84B0-9294AB360EE3}" destId="{EA6619B4-9247-4AE6-AEC9-9361E75FFD44}" srcOrd="2" destOrd="0" parTransId="{CF6441B6-FE7E-40A8-8770-7C687B1554E2}" sibTransId="{AC03A2F4-AB96-437E-B47D-6612FCC28140}"/>
    <dgm:cxn modelId="{CB8D3C65-ECF1-CE40-BFB9-F2AA54021EBA}" type="presOf" srcId="{53455545-B13D-4CA1-9080-32D7B6166F5A}" destId="{9641A0FA-36AC-5B48-994C-96F0D5419D3B}" srcOrd="0" destOrd="0" presId="urn:microsoft.com/office/officeart/2005/8/layout/process4"/>
    <dgm:cxn modelId="{E366D171-F099-4724-97F2-9D243DC8C6EC}" srcId="{2FC7CA36-F101-4D06-84B0-9294AB360EE3}" destId="{768AD1D5-C8E5-4185-B64E-0F8A34DA814C}" srcOrd="0" destOrd="0" parTransId="{8E4FE803-8708-4F75-9F89-CFE14785B643}" sibTransId="{B1317834-A542-4B0B-BFF2-5EB7CBC62965}"/>
    <dgm:cxn modelId="{22A6A274-9547-4F32-A417-C2B6F7CECA60}" srcId="{2FC7CA36-F101-4D06-84B0-9294AB360EE3}" destId="{24A2AF2A-84B3-43BA-AB26-F55AD87CD398}" srcOrd="1" destOrd="0" parTransId="{CCECCC18-B88A-4836-B3F9-1C668C9840B6}" sibTransId="{6E8760C4-89DB-4D80-846F-4E6AFC9D3185}"/>
    <dgm:cxn modelId="{BDC2A68D-7376-D04B-AD1F-0AC2CBAF4D57}" type="presOf" srcId="{2FC7CA36-F101-4D06-84B0-9294AB360EE3}" destId="{00628BBE-0627-3B4C-AD06-CE599037E728}" srcOrd="1" destOrd="0" presId="urn:microsoft.com/office/officeart/2005/8/layout/process4"/>
    <dgm:cxn modelId="{7E485D8F-58E9-4D2E-A156-F7DF42534003}" srcId="{A6D4CC04-FBDF-440A-A0A1-5BB06B0B41E9}" destId="{6FA56CA4-F591-4CD9-A46D-F8F4328FCA08}" srcOrd="0" destOrd="0" parTransId="{DB3C4E1E-44A4-456D-81AB-E33937A08E00}" sibTransId="{09D2CFF7-BD3C-485E-A745-0EAB9A8305EB}"/>
    <dgm:cxn modelId="{8616EC9E-90F6-634E-B430-6E63FB636FBF}" type="presOf" srcId="{EA6619B4-9247-4AE6-AEC9-9361E75FFD44}" destId="{9FD7172B-DAE2-E64D-9C45-FE45623DD005}" srcOrd="0" destOrd="0" presId="urn:microsoft.com/office/officeart/2005/8/layout/process4"/>
    <dgm:cxn modelId="{CC2142AC-8453-4F77-A0E5-541998E064F0}" srcId="{A6D4CC04-FBDF-440A-A0A1-5BB06B0B41E9}" destId="{2FC7CA36-F101-4D06-84B0-9294AB360EE3}" srcOrd="2" destOrd="0" parTransId="{93DFD691-03CC-4CC0-BB4C-B116645468F6}" sibTransId="{EE862E9D-972C-4A0F-A7D8-7639BA61FE22}"/>
    <dgm:cxn modelId="{4A1828B2-20B1-44C8-BC8E-7243B0ADB422}" srcId="{A6D4CC04-FBDF-440A-A0A1-5BB06B0B41E9}" destId="{53455545-B13D-4CA1-9080-32D7B6166F5A}" srcOrd="1" destOrd="0" parTransId="{B2530327-4D66-4AA2-90EA-B96B5B44D1BA}" sibTransId="{033CB957-B6B2-48D8-9B75-30CB71B0A871}"/>
    <dgm:cxn modelId="{BBC4B5DF-80E6-774C-BF93-CD7083451F9C}" type="presOf" srcId="{2FC7CA36-F101-4D06-84B0-9294AB360EE3}" destId="{E1FB6AFF-239B-9443-BE89-78D25959A46E}" srcOrd="0" destOrd="0" presId="urn:microsoft.com/office/officeart/2005/8/layout/process4"/>
    <dgm:cxn modelId="{4870EEE7-EE24-0741-8FF1-F29FDCEE37C5}" type="presOf" srcId="{6FA56CA4-F591-4CD9-A46D-F8F4328FCA08}" destId="{40BD820E-D728-3544-AC07-24DD919942AD}" srcOrd="0" destOrd="0" presId="urn:microsoft.com/office/officeart/2005/8/layout/process4"/>
    <dgm:cxn modelId="{725EE0F1-8E15-0A48-91C7-32D672A04CAC}" type="presOf" srcId="{24A2AF2A-84B3-43BA-AB26-F55AD87CD398}" destId="{1CE2546B-C70A-614D-92E9-106A5B720794}" srcOrd="0" destOrd="0" presId="urn:microsoft.com/office/officeart/2005/8/layout/process4"/>
    <dgm:cxn modelId="{4F5B5BF3-D8D2-004C-B430-29BE76FE4D7E}" type="presOf" srcId="{A6D4CC04-FBDF-440A-A0A1-5BB06B0B41E9}" destId="{2F025C29-22F8-EA4B-90F3-6A68DFDE42E0}" srcOrd="0" destOrd="0" presId="urn:microsoft.com/office/officeart/2005/8/layout/process4"/>
    <dgm:cxn modelId="{E0C8CBFA-223B-0849-B803-DDF364481607}" type="presOf" srcId="{768AD1D5-C8E5-4185-B64E-0F8A34DA814C}" destId="{6D175C0C-5D84-7C4D-8E64-9778CACA1031}" srcOrd="0" destOrd="0" presId="urn:microsoft.com/office/officeart/2005/8/layout/process4"/>
    <dgm:cxn modelId="{043A2DD9-2358-F948-A11C-8075A725D4E6}" type="presParOf" srcId="{2F025C29-22F8-EA4B-90F3-6A68DFDE42E0}" destId="{1C474937-B568-1745-ADD0-5CC96A4900F8}" srcOrd="0" destOrd="0" presId="urn:microsoft.com/office/officeart/2005/8/layout/process4"/>
    <dgm:cxn modelId="{B838A694-780D-3A41-A3F9-EA315365CB13}" type="presParOf" srcId="{1C474937-B568-1745-ADD0-5CC96A4900F8}" destId="{E1FB6AFF-239B-9443-BE89-78D25959A46E}" srcOrd="0" destOrd="0" presId="urn:microsoft.com/office/officeart/2005/8/layout/process4"/>
    <dgm:cxn modelId="{FB446D00-3D48-2448-8436-89D759E5B9B1}" type="presParOf" srcId="{1C474937-B568-1745-ADD0-5CC96A4900F8}" destId="{00628BBE-0627-3B4C-AD06-CE599037E728}" srcOrd="1" destOrd="0" presId="urn:microsoft.com/office/officeart/2005/8/layout/process4"/>
    <dgm:cxn modelId="{42CB38CE-0FA9-DC4B-B83A-5BBBF2D2B068}" type="presParOf" srcId="{1C474937-B568-1745-ADD0-5CC96A4900F8}" destId="{ED38566A-AB87-4D44-9CB0-9A3EE6100B6B}" srcOrd="2" destOrd="0" presId="urn:microsoft.com/office/officeart/2005/8/layout/process4"/>
    <dgm:cxn modelId="{2E107F35-E098-0A47-B177-9F53E48136DA}" type="presParOf" srcId="{ED38566A-AB87-4D44-9CB0-9A3EE6100B6B}" destId="{6D175C0C-5D84-7C4D-8E64-9778CACA1031}" srcOrd="0" destOrd="0" presId="urn:microsoft.com/office/officeart/2005/8/layout/process4"/>
    <dgm:cxn modelId="{2BB5F9E2-2D02-E245-9610-E24E40C404BF}" type="presParOf" srcId="{ED38566A-AB87-4D44-9CB0-9A3EE6100B6B}" destId="{1CE2546B-C70A-614D-92E9-106A5B720794}" srcOrd="1" destOrd="0" presId="urn:microsoft.com/office/officeart/2005/8/layout/process4"/>
    <dgm:cxn modelId="{26D4B386-7699-7648-B2B5-1DC2652764B8}" type="presParOf" srcId="{ED38566A-AB87-4D44-9CB0-9A3EE6100B6B}" destId="{9FD7172B-DAE2-E64D-9C45-FE45623DD005}" srcOrd="2" destOrd="0" presId="urn:microsoft.com/office/officeart/2005/8/layout/process4"/>
    <dgm:cxn modelId="{9A804529-1D3E-6D4F-8B2E-31B318CACBC7}" type="presParOf" srcId="{2F025C29-22F8-EA4B-90F3-6A68DFDE42E0}" destId="{71EC6700-A598-B74A-8CA7-4B986989EACB}" srcOrd="1" destOrd="0" presId="urn:microsoft.com/office/officeart/2005/8/layout/process4"/>
    <dgm:cxn modelId="{BB4569FA-5FA9-6C46-815A-3C10F4F4D57D}" type="presParOf" srcId="{2F025C29-22F8-EA4B-90F3-6A68DFDE42E0}" destId="{04BEE441-AF0A-104C-BC8B-2DACBB774FAE}" srcOrd="2" destOrd="0" presId="urn:microsoft.com/office/officeart/2005/8/layout/process4"/>
    <dgm:cxn modelId="{2122E304-5BCC-BD4E-8D22-1322A2A9BD86}" type="presParOf" srcId="{04BEE441-AF0A-104C-BC8B-2DACBB774FAE}" destId="{9641A0FA-36AC-5B48-994C-96F0D5419D3B}" srcOrd="0" destOrd="0" presId="urn:microsoft.com/office/officeart/2005/8/layout/process4"/>
    <dgm:cxn modelId="{28CEB23C-11A0-E642-AD74-8DF9F9683CA6}" type="presParOf" srcId="{2F025C29-22F8-EA4B-90F3-6A68DFDE42E0}" destId="{6640A165-EBE2-8D46-AFBA-008357908AF9}" srcOrd="3" destOrd="0" presId="urn:microsoft.com/office/officeart/2005/8/layout/process4"/>
    <dgm:cxn modelId="{D9E4279B-D746-DB41-9510-3FD75F23E3FA}" type="presParOf" srcId="{2F025C29-22F8-EA4B-90F3-6A68DFDE42E0}" destId="{B90CE945-6A20-F648-A7B9-BCF4A724DA5D}" srcOrd="4" destOrd="0" presId="urn:microsoft.com/office/officeart/2005/8/layout/process4"/>
    <dgm:cxn modelId="{728E6AB7-129D-5E45-AC30-8D46D8FDC46F}" type="presParOf" srcId="{B90CE945-6A20-F648-A7B9-BCF4A724DA5D}" destId="{40BD820E-D728-3544-AC07-24DD919942AD}"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D093175-3D91-0E42-8EC6-61B15C05B26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8C31966C-82B3-B34A-AA8F-D45BEBC82F44}">
      <dgm:prSet phldrT="[Text]"/>
      <dgm:spPr/>
      <dgm:t>
        <a:bodyPr/>
        <a:lstStyle/>
        <a:p>
          <a:r>
            <a:rPr lang="en-US" dirty="0" err="1"/>
            <a:t>Prednosti</a:t>
          </a:r>
          <a:endParaRPr lang="en-US" dirty="0"/>
        </a:p>
      </dgm:t>
    </dgm:pt>
    <dgm:pt modelId="{757AA64D-ED5D-7243-9B85-C9D51875044C}" type="parTrans" cxnId="{B50218F8-8CF7-CC4D-A51D-57638E1DF21E}">
      <dgm:prSet/>
      <dgm:spPr/>
      <dgm:t>
        <a:bodyPr/>
        <a:lstStyle/>
        <a:p>
          <a:endParaRPr lang="en-US"/>
        </a:p>
      </dgm:t>
    </dgm:pt>
    <dgm:pt modelId="{A07A4C93-C047-6E4E-8208-5A8484436A14}" type="sibTrans" cxnId="{B50218F8-8CF7-CC4D-A51D-57638E1DF21E}">
      <dgm:prSet/>
      <dgm:spPr/>
      <dgm:t>
        <a:bodyPr/>
        <a:lstStyle/>
        <a:p>
          <a:endParaRPr lang="en-US"/>
        </a:p>
      </dgm:t>
    </dgm:pt>
    <dgm:pt modelId="{1EA09443-4995-9C4C-A698-E02C5196DA6F}">
      <dgm:prSet phldrT="[Text]"/>
      <dgm:spPr/>
      <dgm:t>
        <a:bodyPr/>
        <a:lstStyle/>
        <a:p>
          <a:r>
            <a:rPr lang="en-US" dirty="0"/>
            <a:t>Računarski </a:t>
          </a:r>
          <a:r>
            <a:rPr lang="en-US" dirty="0" err="1"/>
            <a:t>efikasan</a:t>
          </a:r>
          <a:r>
            <a:rPr lang="en-US" dirty="0"/>
            <a:t> </a:t>
          </a:r>
          <a:r>
            <a:rPr lang="en-US" dirty="0" err="1"/>
            <a:t>i</a:t>
          </a:r>
          <a:r>
            <a:rPr lang="en-US" dirty="0"/>
            <a:t> </a:t>
          </a:r>
          <a:r>
            <a:rPr lang="en-US" dirty="0" err="1"/>
            <a:t>relativno</a:t>
          </a:r>
          <a:r>
            <a:rPr lang="en-US" dirty="0"/>
            <a:t> </a:t>
          </a:r>
          <a:r>
            <a:rPr lang="en-US" dirty="0" err="1"/>
            <a:t>jednostavan</a:t>
          </a:r>
          <a:r>
            <a:rPr lang="en-US" dirty="0"/>
            <a:t> za </a:t>
          </a:r>
          <a:r>
            <a:rPr lang="en-US" dirty="0" err="1"/>
            <a:t>implementaciju</a:t>
          </a:r>
          <a:endParaRPr lang="en-US" dirty="0"/>
        </a:p>
      </dgm:t>
    </dgm:pt>
    <dgm:pt modelId="{3C1089C3-A838-D441-B683-541248813D6A}" type="parTrans" cxnId="{8EDE5F96-086F-D648-9709-07A48CA8C848}">
      <dgm:prSet/>
      <dgm:spPr/>
      <dgm:t>
        <a:bodyPr/>
        <a:lstStyle/>
        <a:p>
          <a:endParaRPr lang="en-US"/>
        </a:p>
      </dgm:t>
    </dgm:pt>
    <dgm:pt modelId="{9D4D9AFF-E573-A444-8160-0F12487510FD}" type="sibTrans" cxnId="{8EDE5F96-086F-D648-9709-07A48CA8C848}">
      <dgm:prSet/>
      <dgm:spPr/>
      <dgm:t>
        <a:bodyPr/>
        <a:lstStyle/>
        <a:p>
          <a:endParaRPr lang="en-US"/>
        </a:p>
      </dgm:t>
    </dgm:pt>
    <dgm:pt modelId="{14C5A747-4BF1-DD42-B9A2-F4BC5C575257}">
      <dgm:prSet phldrT="[Text]"/>
      <dgm:spPr/>
      <dgm:t>
        <a:bodyPr/>
        <a:lstStyle/>
        <a:p>
          <a:r>
            <a:rPr lang="en-US" dirty="0" err="1"/>
            <a:t>Široko</a:t>
          </a:r>
          <a:r>
            <a:rPr lang="en-US" dirty="0"/>
            <a:t> </a:t>
          </a:r>
          <a:r>
            <a:rPr lang="en-US" dirty="0" err="1"/>
            <a:t>primenjiv</a:t>
          </a:r>
          <a:r>
            <a:rPr lang="en-US" dirty="0"/>
            <a:t> </a:t>
          </a:r>
          <a:r>
            <a:rPr lang="en-US" dirty="0" err="1"/>
            <a:t>na</a:t>
          </a:r>
          <a:r>
            <a:rPr lang="en-US" dirty="0"/>
            <a:t> </a:t>
          </a:r>
          <a:r>
            <a:rPr lang="en-US" dirty="0" err="1"/>
            <a:t>različite</a:t>
          </a:r>
          <a:r>
            <a:rPr lang="en-US" dirty="0"/>
            <a:t> CNN </a:t>
          </a:r>
          <a:r>
            <a:rPr lang="en-US" dirty="0" err="1"/>
            <a:t>arhitekture</a:t>
          </a:r>
          <a:r>
            <a:rPr lang="en-US" dirty="0"/>
            <a:t> </a:t>
          </a:r>
          <a:r>
            <a:rPr lang="en-US" dirty="0" err="1"/>
            <a:t>i</a:t>
          </a:r>
          <a:r>
            <a:rPr lang="en-US" dirty="0"/>
            <a:t> </a:t>
          </a:r>
          <a:r>
            <a:rPr lang="en-US" dirty="0" err="1"/>
            <a:t>zadatke</a:t>
          </a:r>
          <a:endParaRPr lang="en-US" dirty="0"/>
        </a:p>
      </dgm:t>
    </dgm:pt>
    <dgm:pt modelId="{DBF89489-339B-E94F-827F-4463E2AD95C9}" type="parTrans" cxnId="{BF033EFC-AE2D-084A-8F51-9A7F0690DB40}">
      <dgm:prSet/>
      <dgm:spPr/>
      <dgm:t>
        <a:bodyPr/>
        <a:lstStyle/>
        <a:p>
          <a:endParaRPr lang="en-US"/>
        </a:p>
      </dgm:t>
    </dgm:pt>
    <dgm:pt modelId="{C0F7079B-9B18-0F4D-94C0-F62D59951BA9}" type="sibTrans" cxnId="{BF033EFC-AE2D-084A-8F51-9A7F0690DB40}">
      <dgm:prSet/>
      <dgm:spPr/>
      <dgm:t>
        <a:bodyPr/>
        <a:lstStyle/>
        <a:p>
          <a:endParaRPr lang="en-US"/>
        </a:p>
      </dgm:t>
    </dgm:pt>
    <dgm:pt modelId="{43030F57-5AD9-8A46-9C61-1E172F97CE60}">
      <dgm:prSet phldrT="[Text]"/>
      <dgm:spPr/>
      <dgm:t>
        <a:bodyPr/>
        <a:lstStyle/>
        <a:p>
          <a:r>
            <a:rPr lang="en-US" dirty="0"/>
            <a:t>Mane</a:t>
          </a:r>
        </a:p>
      </dgm:t>
    </dgm:pt>
    <dgm:pt modelId="{C7FB622A-5A9F-F84D-A40B-5A6D0B93FF21}" type="parTrans" cxnId="{9A9E1381-F80B-F64A-97FA-C382086DD176}">
      <dgm:prSet/>
      <dgm:spPr/>
      <dgm:t>
        <a:bodyPr/>
        <a:lstStyle/>
        <a:p>
          <a:endParaRPr lang="en-US"/>
        </a:p>
      </dgm:t>
    </dgm:pt>
    <dgm:pt modelId="{4D29321A-204F-B949-8EF4-653B42307CAE}" type="sibTrans" cxnId="{9A9E1381-F80B-F64A-97FA-C382086DD176}">
      <dgm:prSet/>
      <dgm:spPr/>
      <dgm:t>
        <a:bodyPr/>
        <a:lstStyle/>
        <a:p>
          <a:endParaRPr lang="en-US"/>
        </a:p>
      </dgm:t>
    </dgm:pt>
    <dgm:pt modelId="{628895BC-7136-6343-BD26-44DB1587A51C}">
      <dgm:prSet phldrT="[Text]"/>
      <dgm:spPr/>
      <dgm:t>
        <a:bodyPr/>
        <a:lstStyle/>
        <a:p>
          <a:r>
            <a:rPr lang="en-US" dirty="0" err="1"/>
            <a:t>Generiše</a:t>
          </a:r>
          <a:r>
            <a:rPr lang="en-US" dirty="0"/>
            <a:t> </a:t>
          </a:r>
          <a:r>
            <a:rPr lang="en-US" dirty="0" err="1"/>
            <a:t>heatmape</a:t>
          </a:r>
          <a:r>
            <a:rPr lang="en-US" dirty="0"/>
            <a:t> </a:t>
          </a:r>
          <a:r>
            <a:rPr lang="en-US" dirty="0" err="1"/>
            <a:t>niske</a:t>
          </a:r>
          <a:r>
            <a:rPr lang="en-US" dirty="0"/>
            <a:t> </a:t>
          </a:r>
          <a:r>
            <a:rPr lang="en-US" dirty="0" err="1"/>
            <a:t>rezolucije</a:t>
          </a:r>
          <a:r>
            <a:rPr lang="en-US" dirty="0"/>
            <a:t>, </a:t>
          </a:r>
          <a:r>
            <a:rPr lang="en-US" dirty="0" err="1"/>
            <a:t>koje</a:t>
          </a:r>
          <a:r>
            <a:rPr lang="en-US" dirty="0"/>
            <a:t> </a:t>
          </a:r>
          <a:r>
            <a:rPr lang="en-US" dirty="0" err="1"/>
            <a:t>mogu</a:t>
          </a:r>
          <a:r>
            <a:rPr lang="en-US" dirty="0"/>
            <a:t> </a:t>
          </a:r>
          <a:r>
            <a:rPr lang="en-US" dirty="0" err="1"/>
            <a:t>dati</a:t>
          </a:r>
          <a:r>
            <a:rPr lang="en-US" dirty="0"/>
            <a:t> </a:t>
          </a:r>
          <a:r>
            <a:rPr lang="en-US" dirty="0" err="1"/>
            <a:t>nepreciznu</a:t>
          </a:r>
          <a:r>
            <a:rPr lang="en-US" dirty="0"/>
            <a:t> </a:t>
          </a:r>
          <a:r>
            <a:rPr lang="en-US" dirty="0" err="1"/>
            <a:t>ili</a:t>
          </a:r>
          <a:r>
            <a:rPr lang="en-US" dirty="0"/>
            <a:t> </a:t>
          </a:r>
          <a:r>
            <a:rPr lang="en-US" dirty="0" err="1"/>
            <a:t>pogrešnu</a:t>
          </a:r>
          <a:r>
            <a:rPr lang="en-US" dirty="0"/>
            <a:t> </a:t>
          </a:r>
          <a:r>
            <a:rPr lang="en-US" dirty="0" err="1"/>
            <a:t>lokalizaciju</a:t>
          </a:r>
          <a:endParaRPr lang="en-US" dirty="0"/>
        </a:p>
      </dgm:t>
    </dgm:pt>
    <dgm:pt modelId="{7C261B09-385D-574E-9BFE-4FBC380649FC}" type="parTrans" cxnId="{1F210406-00C8-3340-8FCA-9F24CF158126}">
      <dgm:prSet/>
      <dgm:spPr/>
      <dgm:t>
        <a:bodyPr/>
        <a:lstStyle/>
        <a:p>
          <a:endParaRPr lang="en-US"/>
        </a:p>
      </dgm:t>
    </dgm:pt>
    <dgm:pt modelId="{1E3EBF79-E29E-CF4F-9908-C95A18ED1DDD}" type="sibTrans" cxnId="{1F210406-00C8-3340-8FCA-9F24CF158126}">
      <dgm:prSet/>
      <dgm:spPr/>
      <dgm:t>
        <a:bodyPr/>
        <a:lstStyle/>
        <a:p>
          <a:endParaRPr lang="en-US"/>
        </a:p>
      </dgm:t>
    </dgm:pt>
    <dgm:pt modelId="{3DE5BFE0-7B47-A848-A078-98BE6F35805E}">
      <dgm:prSet phldrT="[Text]"/>
      <dgm:spPr/>
      <dgm:t>
        <a:bodyPr/>
        <a:lstStyle/>
        <a:p>
          <a:r>
            <a:rPr lang="en-US" dirty="0" err="1"/>
            <a:t>Rezultate</a:t>
          </a:r>
          <a:r>
            <a:rPr lang="en-US" dirty="0"/>
            <a:t> </a:t>
          </a:r>
          <a:r>
            <a:rPr lang="en-US" dirty="0" err="1"/>
            <a:t>treba</a:t>
          </a:r>
          <a:r>
            <a:rPr lang="en-US" dirty="0"/>
            <a:t> </a:t>
          </a:r>
          <a:r>
            <a:rPr lang="en-US" dirty="0" err="1"/>
            <a:t>pažljivo</a:t>
          </a:r>
          <a:r>
            <a:rPr lang="en-US" dirty="0"/>
            <a:t> </a:t>
          </a:r>
          <a:r>
            <a:rPr lang="en-US" dirty="0" err="1"/>
            <a:t>interpretirati</a:t>
          </a:r>
          <a:r>
            <a:rPr lang="en-US" dirty="0"/>
            <a:t>, </a:t>
          </a:r>
          <a:r>
            <a:rPr lang="en-US" dirty="0" err="1"/>
            <a:t>istaknuti</a:t>
          </a:r>
          <a:r>
            <a:rPr lang="en-US" dirty="0"/>
            <a:t> region ne mora </a:t>
          </a:r>
          <a:r>
            <a:rPr lang="en-US" dirty="0" err="1"/>
            <a:t>nužno</a:t>
          </a:r>
          <a:r>
            <a:rPr lang="en-US" dirty="0"/>
            <a:t> </a:t>
          </a:r>
          <a:r>
            <a:rPr lang="en-US" dirty="0" err="1"/>
            <a:t>biti</a:t>
          </a:r>
          <a:r>
            <a:rPr lang="en-US" dirty="0"/>
            <a:t> </a:t>
          </a:r>
          <a:r>
            <a:rPr lang="en-US" dirty="0" err="1"/>
            <a:t>uzročno</a:t>
          </a:r>
          <a:r>
            <a:rPr lang="en-US" dirty="0"/>
            <a:t> </a:t>
          </a:r>
          <a:r>
            <a:rPr lang="en-US" dirty="0" err="1"/>
            <a:t>odgovoran</a:t>
          </a:r>
          <a:r>
            <a:rPr lang="en-US" dirty="0"/>
            <a:t> za </a:t>
          </a:r>
          <a:r>
            <a:rPr lang="en-US" dirty="0" err="1"/>
            <a:t>odluku</a:t>
          </a:r>
          <a:endParaRPr lang="en-US" dirty="0"/>
        </a:p>
      </dgm:t>
    </dgm:pt>
    <dgm:pt modelId="{BB0A9515-8C88-544A-83F0-817F8019F514}" type="parTrans" cxnId="{47B822D7-51DA-9E4E-82BB-6B8D813DC8DA}">
      <dgm:prSet/>
      <dgm:spPr/>
      <dgm:t>
        <a:bodyPr/>
        <a:lstStyle/>
        <a:p>
          <a:endParaRPr lang="en-US"/>
        </a:p>
      </dgm:t>
    </dgm:pt>
    <dgm:pt modelId="{6703F4D9-EB12-384F-A666-74626D40DD09}" type="sibTrans" cxnId="{47B822D7-51DA-9E4E-82BB-6B8D813DC8DA}">
      <dgm:prSet/>
      <dgm:spPr/>
      <dgm:t>
        <a:bodyPr/>
        <a:lstStyle/>
        <a:p>
          <a:endParaRPr lang="en-US"/>
        </a:p>
      </dgm:t>
    </dgm:pt>
    <dgm:pt modelId="{B3D500DB-6C48-D849-806D-08DB18BB83EE}">
      <dgm:prSet phldrT="[Text]"/>
      <dgm:spPr/>
      <dgm:t>
        <a:bodyPr/>
        <a:lstStyle/>
        <a:p>
          <a:r>
            <a:rPr lang="en-US" dirty="0" err="1"/>
            <a:t>Može</a:t>
          </a:r>
          <a:r>
            <a:rPr lang="en-US" dirty="0"/>
            <a:t> se </a:t>
          </a:r>
          <a:r>
            <a:rPr lang="en-US" dirty="0" err="1"/>
            <a:t>kombinovati</a:t>
          </a:r>
          <a:r>
            <a:rPr lang="en-US" dirty="0"/>
            <a:t> </a:t>
          </a:r>
          <a:r>
            <a:rPr lang="en-US" dirty="0" err="1"/>
            <a:t>sa</a:t>
          </a:r>
          <a:r>
            <a:rPr lang="en-US" dirty="0"/>
            <a:t> </a:t>
          </a:r>
          <a:r>
            <a:rPr lang="en-US" dirty="0" err="1"/>
            <a:t>drugim</a:t>
          </a:r>
          <a:r>
            <a:rPr lang="en-US" dirty="0"/>
            <a:t> XAI </a:t>
          </a:r>
          <a:r>
            <a:rPr lang="en-US" dirty="0" err="1"/>
            <a:t>metodama</a:t>
          </a:r>
          <a:r>
            <a:rPr lang="en-US" dirty="0"/>
            <a:t> za </a:t>
          </a:r>
          <a:r>
            <a:rPr lang="en-US" dirty="0" err="1"/>
            <a:t>dobijanje</a:t>
          </a:r>
          <a:r>
            <a:rPr lang="en-US" dirty="0"/>
            <a:t> </a:t>
          </a:r>
          <a:r>
            <a:rPr lang="en-US" dirty="0" err="1"/>
            <a:t>detaljnijih</a:t>
          </a:r>
          <a:r>
            <a:rPr lang="en-US" dirty="0"/>
            <a:t> </a:t>
          </a:r>
          <a:r>
            <a:rPr lang="en-US" dirty="0" err="1"/>
            <a:t>vizualizacija</a:t>
          </a:r>
          <a:endParaRPr lang="en-US" dirty="0"/>
        </a:p>
      </dgm:t>
    </dgm:pt>
    <dgm:pt modelId="{95365345-860E-AA45-B3A7-82D2B1BD728E}" type="parTrans" cxnId="{972946D6-B2A6-DE4A-A5A3-606EE48E582E}">
      <dgm:prSet/>
      <dgm:spPr/>
      <dgm:t>
        <a:bodyPr/>
        <a:lstStyle/>
        <a:p>
          <a:endParaRPr lang="en-US"/>
        </a:p>
      </dgm:t>
    </dgm:pt>
    <dgm:pt modelId="{A17A4DA5-776F-3F46-A9B8-CC457ECFCB98}" type="sibTrans" cxnId="{972946D6-B2A6-DE4A-A5A3-606EE48E582E}">
      <dgm:prSet/>
      <dgm:spPr/>
      <dgm:t>
        <a:bodyPr/>
        <a:lstStyle/>
        <a:p>
          <a:endParaRPr lang="en-US"/>
        </a:p>
      </dgm:t>
    </dgm:pt>
    <dgm:pt modelId="{9D9B0E40-B85F-1B4C-87E6-626FAF9E5CFC}">
      <dgm:prSet phldrT="[Text]"/>
      <dgm:spPr/>
      <dgm:t>
        <a:bodyPr/>
        <a:lstStyle/>
        <a:p>
          <a:pPr>
            <a:buFont typeface="Arial" panose="020B0604020202020204" pitchFamily="34" charset="0"/>
            <a:buChar char="•"/>
          </a:pPr>
          <a:r>
            <a:rPr lang="en-US" dirty="0" err="1"/>
            <a:t>Primena</a:t>
          </a:r>
          <a:r>
            <a:rPr lang="en-US" dirty="0"/>
            <a:t> </a:t>
          </a:r>
          <a:r>
            <a:rPr lang="en-US" dirty="0" err="1"/>
            <a:t>nije</a:t>
          </a:r>
          <a:r>
            <a:rPr lang="en-US" dirty="0"/>
            <a:t> </a:t>
          </a:r>
          <a:r>
            <a:rPr lang="en-US" dirty="0" err="1"/>
            <a:t>ograničena</a:t>
          </a:r>
          <a:r>
            <a:rPr lang="en-US" dirty="0"/>
            <a:t> </a:t>
          </a:r>
          <a:r>
            <a:rPr lang="en-US" dirty="0" err="1"/>
            <a:t>samo</a:t>
          </a:r>
          <a:r>
            <a:rPr lang="en-US" dirty="0"/>
            <a:t> </a:t>
          </a:r>
          <a:r>
            <a:rPr lang="en-US" dirty="0" err="1"/>
            <a:t>na</a:t>
          </a:r>
          <a:r>
            <a:rPr lang="en-US" dirty="0"/>
            <a:t> </a:t>
          </a:r>
          <a:r>
            <a:rPr lang="en-US" dirty="0" err="1"/>
            <a:t>klasifikaciju</a:t>
          </a:r>
          <a:r>
            <a:rPr lang="en-US" dirty="0"/>
            <a:t> </a:t>
          </a:r>
          <a:r>
            <a:rPr lang="en-US" dirty="0" err="1"/>
            <a:t>slika</a:t>
          </a:r>
          <a:r>
            <a:rPr lang="en-US" dirty="0"/>
            <a:t>(</a:t>
          </a:r>
          <a:r>
            <a:rPr lang="en-US" dirty="0" err="1"/>
            <a:t>Koristi</a:t>
          </a:r>
          <a:r>
            <a:rPr lang="en-US" dirty="0"/>
            <a:t> se </a:t>
          </a:r>
          <a:r>
            <a:rPr lang="en-US" dirty="0" err="1"/>
            <a:t>i</a:t>
          </a:r>
          <a:r>
            <a:rPr lang="en-US" dirty="0"/>
            <a:t> za VQA, image captioning, </a:t>
          </a:r>
          <a:r>
            <a:rPr lang="en-US" dirty="0" err="1"/>
            <a:t>itd</a:t>
          </a:r>
          <a:r>
            <a:rPr lang="en-US" dirty="0"/>
            <a:t>)</a:t>
          </a:r>
        </a:p>
      </dgm:t>
    </dgm:pt>
    <dgm:pt modelId="{C6D625E3-2952-3E4B-AE0E-6A7159FEC640}" type="parTrans" cxnId="{20C502C8-402E-2247-A756-AF5D592FE1ED}">
      <dgm:prSet/>
      <dgm:spPr/>
      <dgm:t>
        <a:bodyPr/>
        <a:lstStyle/>
        <a:p>
          <a:endParaRPr lang="en-US"/>
        </a:p>
      </dgm:t>
    </dgm:pt>
    <dgm:pt modelId="{D515AD41-32B9-384C-B51C-5FD11AA34556}" type="sibTrans" cxnId="{20C502C8-402E-2247-A756-AF5D592FE1ED}">
      <dgm:prSet/>
      <dgm:spPr/>
      <dgm:t>
        <a:bodyPr/>
        <a:lstStyle/>
        <a:p>
          <a:endParaRPr lang="en-US"/>
        </a:p>
      </dgm:t>
    </dgm:pt>
    <dgm:pt modelId="{317BA231-0152-2548-B5E8-567DE38CB2A7}">
      <dgm:prSet phldrT="[Text]"/>
      <dgm:spPr/>
      <dgm:t>
        <a:bodyPr/>
        <a:lstStyle/>
        <a:p>
          <a:r>
            <a:rPr lang="en-US" dirty="0" err="1"/>
            <a:t>Može</a:t>
          </a:r>
          <a:r>
            <a:rPr lang="en-US" dirty="0"/>
            <a:t> </a:t>
          </a:r>
          <a:r>
            <a:rPr lang="en-US" dirty="0" err="1"/>
            <a:t>imati</a:t>
          </a:r>
          <a:r>
            <a:rPr lang="en-US" dirty="0"/>
            <a:t> </a:t>
          </a:r>
          <a:r>
            <a:rPr lang="en-US" dirty="0" err="1"/>
            <a:t>slabije</a:t>
          </a:r>
          <a:r>
            <a:rPr lang="en-US" dirty="0"/>
            <a:t> </a:t>
          </a:r>
          <a:r>
            <a:rPr lang="en-US" dirty="0" err="1"/>
            <a:t>rezultate</a:t>
          </a:r>
          <a:r>
            <a:rPr lang="en-US" dirty="0"/>
            <a:t> </a:t>
          </a:r>
          <a:r>
            <a:rPr lang="en-US" dirty="0" err="1"/>
            <a:t>kod</a:t>
          </a:r>
          <a:r>
            <a:rPr lang="en-US" dirty="0"/>
            <a:t> </a:t>
          </a:r>
          <a:r>
            <a:rPr lang="en-US" dirty="0" err="1"/>
            <a:t>problema</a:t>
          </a:r>
          <a:r>
            <a:rPr lang="en-US" dirty="0"/>
            <a:t> </a:t>
          </a:r>
          <a:r>
            <a:rPr lang="en-US" dirty="0" err="1"/>
            <a:t>sa</a:t>
          </a:r>
          <a:r>
            <a:rPr lang="en-US" dirty="0"/>
            <a:t> </a:t>
          </a:r>
          <a:r>
            <a:rPr lang="en-US" dirty="0" err="1"/>
            <a:t>velikim</a:t>
          </a:r>
          <a:r>
            <a:rPr lang="en-US" dirty="0"/>
            <a:t> </a:t>
          </a:r>
          <a:r>
            <a:rPr lang="en-US" dirty="0" err="1"/>
            <a:t>brojem</a:t>
          </a:r>
          <a:r>
            <a:rPr lang="en-US" dirty="0"/>
            <a:t> </a:t>
          </a:r>
          <a:r>
            <a:rPr lang="en-US" dirty="0" err="1"/>
            <a:t>klasa</a:t>
          </a:r>
          <a:endParaRPr lang="en-US" dirty="0"/>
        </a:p>
      </dgm:t>
    </dgm:pt>
    <dgm:pt modelId="{80BB1F0A-D113-0240-A102-4481EE2E473B}" type="parTrans" cxnId="{370FCC63-D198-F140-80A1-FA1F2FB021BF}">
      <dgm:prSet/>
      <dgm:spPr/>
      <dgm:t>
        <a:bodyPr/>
        <a:lstStyle/>
        <a:p>
          <a:endParaRPr lang="en-US"/>
        </a:p>
      </dgm:t>
    </dgm:pt>
    <dgm:pt modelId="{3C1BAA6C-FA66-1C4E-BF95-9FE1AF8FFD77}" type="sibTrans" cxnId="{370FCC63-D198-F140-80A1-FA1F2FB021BF}">
      <dgm:prSet/>
      <dgm:spPr/>
    </dgm:pt>
    <dgm:pt modelId="{91DF6D39-0444-1E45-B230-12A9AB771DEA}">
      <dgm:prSet phldrT="[Text]"/>
      <dgm:spPr/>
      <dgm:t>
        <a:bodyPr/>
        <a:lstStyle/>
        <a:p>
          <a:r>
            <a:rPr lang="en-US" dirty="0"/>
            <a:t>Može </a:t>
          </a:r>
          <a:r>
            <a:rPr lang="en-US" dirty="0" err="1"/>
            <a:t>nepouzdano</a:t>
          </a:r>
          <a:r>
            <a:rPr lang="en-US" dirty="0"/>
            <a:t> </a:t>
          </a:r>
          <a:r>
            <a:rPr lang="en-US" dirty="0" err="1"/>
            <a:t>lokalizovati</a:t>
          </a:r>
          <a:r>
            <a:rPr lang="en-US" dirty="0"/>
            <a:t> </a:t>
          </a:r>
          <a:r>
            <a:rPr lang="en-US" dirty="0" err="1"/>
            <a:t>objekte</a:t>
          </a:r>
          <a:r>
            <a:rPr lang="en-US" dirty="0"/>
            <a:t> </a:t>
          </a:r>
          <a:r>
            <a:rPr lang="en-US" dirty="0" err="1"/>
            <a:t>kada</a:t>
          </a:r>
          <a:r>
            <a:rPr lang="en-US" dirty="0"/>
            <a:t> se </a:t>
          </a:r>
          <a:r>
            <a:rPr lang="en-US" dirty="0" err="1"/>
            <a:t>na</a:t>
          </a:r>
          <a:r>
            <a:rPr lang="en-US" dirty="0"/>
            <a:t> </a:t>
          </a:r>
          <a:r>
            <a:rPr lang="en-US" dirty="0" err="1"/>
            <a:t>slici</a:t>
          </a:r>
          <a:r>
            <a:rPr lang="en-US" dirty="0"/>
            <a:t> </a:t>
          </a:r>
          <a:r>
            <a:rPr lang="en-US" dirty="0" err="1"/>
            <a:t>nalazi</a:t>
          </a:r>
          <a:r>
            <a:rPr lang="en-US" dirty="0"/>
            <a:t> </a:t>
          </a:r>
          <a:r>
            <a:rPr lang="en-US" dirty="0" err="1"/>
            <a:t>više</a:t>
          </a:r>
          <a:r>
            <a:rPr lang="en-US" dirty="0"/>
            <a:t> </a:t>
          </a:r>
          <a:r>
            <a:rPr lang="en-US" dirty="0" err="1"/>
            <a:t>objekata</a:t>
          </a:r>
          <a:r>
            <a:rPr lang="en-US" dirty="0"/>
            <a:t> </a:t>
          </a:r>
          <a:r>
            <a:rPr lang="en-US" dirty="0" err="1"/>
            <a:t>iste</a:t>
          </a:r>
          <a:r>
            <a:rPr lang="en-US" dirty="0"/>
            <a:t> </a:t>
          </a:r>
          <a:r>
            <a:rPr lang="en-US" dirty="0" err="1"/>
            <a:t>klase</a:t>
          </a:r>
          <a:endParaRPr lang="en-US" dirty="0"/>
        </a:p>
      </dgm:t>
    </dgm:pt>
    <dgm:pt modelId="{8E4DC56F-E008-934F-8B04-0594871831C0}" type="parTrans" cxnId="{563B95C3-D977-C440-ADE4-CC68ED545F50}">
      <dgm:prSet/>
      <dgm:spPr/>
      <dgm:t>
        <a:bodyPr/>
        <a:lstStyle/>
        <a:p>
          <a:endParaRPr lang="en-US"/>
        </a:p>
      </dgm:t>
    </dgm:pt>
    <dgm:pt modelId="{B1A0B291-A552-CF46-B98E-7FC6660E8D1A}" type="sibTrans" cxnId="{563B95C3-D977-C440-ADE4-CC68ED545F50}">
      <dgm:prSet/>
      <dgm:spPr/>
    </dgm:pt>
    <dgm:pt modelId="{98597183-6E79-714C-9404-263F3003EECE}" type="pres">
      <dgm:prSet presAssocID="{ED093175-3D91-0E42-8EC6-61B15C05B262}" presName="linear" presStyleCnt="0">
        <dgm:presLayoutVars>
          <dgm:dir/>
          <dgm:animLvl val="lvl"/>
          <dgm:resizeHandles val="exact"/>
        </dgm:presLayoutVars>
      </dgm:prSet>
      <dgm:spPr/>
    </dgm:pt>
    <dgm:pt modelId="{D133E321-0030-0741-80C9-BB6FD86AFD95}" type="pres">
      <dgm:prSet presAssocID="{8C31966C-82B3-B34A-AA8F-D45BEBC82F44}" presName="parentLin" presStyleCnt="0"/>
      <dgm:spPr/>
    </dgm:pt>
    <dgm:pt modelId="{6CD01C17-7C46-0B4B-9B2B-B14E4D4015BC}" type="pres">
      <dgm:prSet presAssocID="{8C31966C-82B3-B34A-AA8F-D45BEBC82F44}" presName="parentLeftMargin" presStyleLbl="node1" presStyleIdx="0" presStyleCnt="2"/>
      <dgm:spPr/>
    </dgm:pt>
    <dgm:pt modelId="{9B98A6A3-90CD-3D4B-BE48-97B594B541C8}" type="pres">
      <dgm:prSet presAssocID="{8C31966C-82B3-B34A-AA8F-D45BEBC82F44}" presName="parentText" presStyleLbl="node1" presStyleIdx="0" presStyleCnt="2">
        <dgm:presLayoutVars>
          <dgm:chMax val="0"/>
          <dgm:bulletEnabled val="1"/>
        </dgm:presLayoutVars>
      </dgm:prSet>
      <dgm:spPr/>
    </dgm:pt>
    <dgm:pt modelId="{B5B25B24-F4F4-2743-A6C9-954883F89614}" type="pres">
      <dgm:prSet presAssocID="{8C31966C-82B3-B34A-AA8F-D45BEBC82F44}" presName="negativeSpace" presStyleCnt="0"/>
      <dgm:spPr/>
    </dgm:pt>
    <dgm:pt modelId="{002D3ACE-107E-FD48-9DF9-EDEBD6A8FE53}" type="pres">
      <dgm:prSet presAssocID="{8C31966C-82B3-B34A-AA8F-D45BEBC82F44}" presName="childText" presStyleLbl="conFgAcc1" presStyleIdx="0" presStyleCnt="2">
        <dgm:presLayoutVars>
          <dgm:bulletEnabled val="1"/>
        </dgm:presLayoutVars>
      </dgm:prSet>
      <dgm:spPr/>
    </dgm:pt>
    <dgm:pt modelId="{CFF8C9E3-F854-6A43-AAE6-2386F880ABEB}" type="pres">
      <dgm:prSet presAssocID="{A07A4C93-C047-6E4E-8208-5A8484436A14}" presName="spaceBetweenRectangles" presStyleCnt="0"/>
      <dgm:spPr/>
    </dgm:pt>
    <dgm:pt modelId="{DCF31FCD-5834-7141-8A51-BE377BE5D0D2}" type="pres">
      <dgm:prSet presAssocID="{43030F57-5AD9-8A46-9C61-1E172F97CE60}" presName="parentLin" presStyleCnt="0"/>
      <dgm:spPr/>
    </dgm:pt>
    <dgm:pt modelId="{DF36E885-9D02-A14E-A328-523F35F65AB3}" type="pres">
      <dgm:prSet presAssocID="{43030F57-5AD9-8A46-9C61-1E172F97CE60}" presName="parentLeftMargin" presStyleLbl="node1" presStyleIdx="0" presStyleCnt="2"/>
      <dgm:spPr/>
    </dgm:pt>
    <dgm:pt modelId="{78CC3A52-C39C-534B-826F-0817987B6135}" type="pres">
      <dgm:prSet presAssocID="{43030F57-5AD9-8A46-9C61-1E172F97CE60}" presName="parentText" presStyleLbl="node1" presStyleIdx="1" presStyleCnt="2">
        <dgm:presLayoutVars>
          <dgm:chMax val="0"/>
          <dgm:bulletEnabled val="1"/>
        </dgm:presLayoutVars>
      </dgm:prSet>
      <dgm:spPr/>
    </dgm:pt>
    <dgm:pt modelId="{BE412BC7-482E-6F4D-B6AC-436D34C170A1}" type="pres">
      <dgm:prSet presAssocID="{43030F57-5AD9-8A46-9C61-1E172F97CE60}" presName="negativeSpace" presStyleCnt="0"/>
      <dgm:spPr/>
    </dgm:pt>
    <dgm:pt modelId="{6F7E9405-A564-6645-916F-51C9BB9AFCAA}" type="pres">
      <dgm:prSet presAssocID="{43030F57-5AD9-8A46-9C61-1E172F97CE60}" presName="childText" presStyleLbl="conFgAcc1" presStyleIdx="1" presStyleCnt="2">
        <dgm:presLayoutVars>
          <dgm:bulletEnabled val="1"/>
        </dgm:presLayoutVars>
      </dgm:prSet>
      <dgm:spPr/>
    </dgm:pt>
  </dgm:ptLst>
  <dgm:cxnLst>
    <dgm:cxn modelId="{52D72604-09AD-704C-BA32-1A4FDB134675}" type="presOf" srcId="{8C31966C-82B3-B34A-AA8F-D45BEBC82F44}" destId="{9B98A6A3-90CD-3D4B-BE48-97B594B541C8}" srcOrd="1" destOrd="0" presId="urn:microsoft.com/office/officeart/2005/8/layout/list1"/>
    <dgm:cxn modelId="{1F210406-00C8-3340-8FCA-9F24CF158126}" srcId="{43030F57-5AD9-8A46-9C61-1E172F97CE60}" destId="{628895BC-7136-6343-BD26-44DB1587A51C}" srcOrd="0" destOrd="0" parTransId="{7C261B09-385D-574E-9BFE-4FBC380649FC}" sibTransId="{1E3EBF79-E29E-CF4F-9908-C95A18ED1DDD}"/>
    <dgm:cxn modelId="{1A61150A-4088-4B41-B169-FEA5B39D9465}" type="presOf" srcId="{B3D500DB-6C48-D849-806D-08DB18BB83EE}" destId="{002D3ACE-107E-FD48-9DF9-EDEBD6A8FE53}" srcOrd="0" destOrd="2" presId="urn:microsoft.com/office/officeart/2005/8/layout/list1"/>
    <dgm:cxn modelId="{CED45F0B-1671-E34F-8136-0E715B80C7C0}" type="presOf" srcId="{43030F57-5AD9-8A46-9C61-1E172F97CE60}" destId="{DF36E885-9D02-A14E-A328-523F35F65AB3}" srcOrd="0" destOrd="0" presId="urn:microsoft.com/office/officeart/2005/8/layout/list1"/>
    <dgm:cxn modelId="{8C95EE21-6A36-5F43-ABF3-EDF192BA41ED}" type="presOf" srcId="{9D9B0E40-B85F-1B4C-87E6-626FAF9E5CFC}" destId="{002D3ACE-107E-FD48-9DF9-EDEBD6A8FE53}" srcOrd="0" destOrd="3" presId="urn:microsoft.com/office/officeart/2005/8/layout/list1"/>
    <dgm:cxn modelId="{A3B61F3B-464F-2C4F-9224-20BDD15E80A6}" type="presOf" srcId="{43030F57-5AD9-8A46-9C61-1E172F97CE60}" destId="{78CC3A52-C39C-534B-826F-0817987B6135}" srcOrd="1" destOrd="0" presId="urn:microsoft.com/office/officeart/2005/8/layout/list1"/>
    <dgm:cxn modelId="{1EB98554-11E2-6C48-913A-6FF41D1E865A}" type="presOf" srcId="{628895BC-7136-6343-BD26-44DB1587A51C}" destId="{6F7E9405-A564-6645-916F-51C9BB9AFCAA}" srcOrd="0" destOrd="0" presId="urn:microsoft.com/office/officeart/2005/8/layout/list1"/>
    <dgm:cxn modelId="{370FCC63-D198-F140-80A1-FA1F2FB021BF}" srcId="{43030F57-5AD9-8A46-9C61-1E172F97CE60}" destId="{317BA231-0152-2548-B5E8-567DE38CB2A7}" srcOrd="2" destOrd="0" parTransId="{80BB1F0A-D113-0240-A102-4481EE2E473B}" sibTransId="{3C1BAA6C-FA66-1C4E-BF95-9FE1AF8FFD77}"/>
    <dgm:cxn modelId="{2A742B66-B938-A944-AA99-AD12924C4B25}" type="presOf" srcId="{8C31966C-82B3-B34A-AA8F-D45BEBC82F44}" destId="{6CD01C17-7C46-0B4B-9B2B-B14E4D4015BC}" srcOrd="0" destOrd="0" presId="urn:microsoft.com/office/officeart/2005/8/layout/list1"/>
    <dgm:cxn modelId="{8C31E870-71D4-1740-BCD2-FFD6A9422CE7}" type="presOf" srcId="{317BA231-0152-2548-B5E8-567DE38CB2A7}" destId="{6F7E9405-A564-6645-916F-51C9BB9AFCAA}" srcOrd="0" destOrd="2" presId="urn:microsoft.com/office/officeart/2005/8/layout/list1"/>
    <dgm:cxn modelId="{A8662675-A5F0-B244-9778-8ADFAB69C407}" type="presOf" srcId="{ED093175-3D91-0E42-8EC6-61B15C05B262}" destId="{98597183-6E79-714C-9404-263F3003EECE}" srcOrd="0" destOrd="0" presId="urn:microsoft.com/office/officeart/2005/8/layout/list1"/>
    <dgm:cxn modelId="{9A9E1381-F80B-F64A-97FA-C382086DD176}" srcId="{ED093175-3D91-0E42-8EC6-61B15C05B262}" destId="{43030F57-5AD9-8A46-9C61-1E172F97CE60}" srcOrd="1" destOrd="0" parTransId="{C7FB622A-5A9F-F84D-A40B-5A6D0B93FF21}" sibTransId="{4D29321A-204F-B949-8EF4-653B42307CAE}"/>
    <dgm:cxn modelId="{8EDE5F96-086F-D648-9709-07A48CA8C848}" srcId="{8C31966C-82B3-B34A-AA8F-D45BEBC82F44}" destId="{1EA09443-4995-9C4C-A698-E02C5196DA6F}" srcOrd="0" destOrd="0" parTransId="{3C1089C3-A838-D441-B683-541248813D6A}" sibTransId="{9D4D9AFF-E573-A444-8160-0F12487510FD}"/>
    <dgm:cxn modelId="{0BED68A5-D9D4-3E42-9D67-0B937AEA945D}" type="presOf" srcId="{3DE5BFE0-7B47-A848-A078-98BE6F35805E}" destId="{6F7E9405-A564-6645-916F-51C9BB9AFCAA}" srcOrd="0" destOrd="1" presId="urn:microsoft.com/office/officeart/2005/8/layout/list1"/>
    <dgm:cxn modelId="{F6F0DCAE-52B6-4747-A197-00190FC18516}" type="presOf" srcId="{91DF6D39-0444-1E45-B230-12A9AB771DEA}" destId="{6F7E9405-A564-6645-916F-51C9BB9AFCAA}" srcOrd="0" destOrd="3" presId="urn:microsoft.com/office/officeart/2005/8/layout/list1"/>
    <dgm:cxn modelId="{563B95C3-D977-C440-ADE4-CC68ED545F50}" srcId="{43030F57-5AD9-8A46-9C61-1E172F97CE60}" destId="{91DF6D39-0444-1E45-B230-12A9AB771DEA}" srcOrd="3" destOrd="0" parTransId="{8E4DC56F-E008-934F-8B04-0594871831C0}" sibTransId="{B1A0B291-A552-CF46-B98E-7FC6660E8D1A}"/>
    <dgm:cxn modelId="{20C502C8-402E-2247-A756-AF5D592FE1ED}" srcId="{8C31966C-82B3-B34A-AA8F-D45BEBC82F44}" destId="{9D9B0E40-B85F-1B4C-87E6-626FAF9E5CFC}" srcOrd="3" destOrd="0" parTransId="{C6D625E3-2952-3E4B-AE0E-6A7159FEC640}" sibTransId="{D515AD41-32B9-384C-B51C-5FD11AA34556}"/>
    <dgm:cxn modelId="{972946D6-B2A6-DE4A-A5A3-606EE48E582E}" srcId="{8C31966C-82B3-B34A-AA8F-D45BEBC82F44}" destId="{B3D500DB-6C48-D849-806D-08DB18BB83EE}" srcOrd="2" destOrd="0" parTransId="{95365345-860E-AA45-B3A7-82D2B1BD728E}" sibTransId="{A17A4DA5-776F-3F46-A9B8-CC457ECFCB98}"/>
    <dgm:cxn modelId="{47B822D7-51DA-9E4E-82BB-6B8D813DC8DA}" srcId="{43030F57-5AD9-8A46-9C61-1E172F97CE60}" destId="{3DE5BFE0-7B47-A848-A078-98BE6F35805E}" srcOrd="1" destOrd="0" parTransId="{BB0A9515-8C88-544A-83F0-817F8019F514}" sibTransId="{6703F4D9-EB12-384F-A666-74626D40DD09}"/>
    <dgm:cxn modelId="{37AF44E5-A8AA-2C4E-AC3A-4E8FC8FD1C33}" type="presOf" srcId="{1EA09443-4995-9C4C-A698-E02C5196DA6F}" destId="{002D3ACE-107E-FD48-9DF9-EDEBD6A8FE53}" srcOrd="0" destOrd="0" presId="urn:microsoft.com/office/officeart/2005/8/layout/list1"/>
    <dgm:cxn modelId="{5AFC4AF6-8714-C240-8259-6CF6C7C756B7}" type="presOf" srcId="{14C5A747-4BF1-DD42-B9A2-F4BC5C575257}" destId="{002D3ACE-107E-FD48-9DF9-EDEBD6A8FE53}" srcOrd="0" destOrd="1" presId="urn:microsoft.com/office/officeart/2005/8/layout/list1"/>
    <dgm:cxn modelId="{B50218F8-8CF7-CC4D-A51D-57638E1DF21E}" srcId="{ED093175-3D91-0E42-8EC6-61B15C05B262}" destId="{8C31966C-82B3-B34A-AA8F-D45BEBC82F44}" srcOrd="0" destOrd="0" parTransId="{757AA64D-ED5D-7243-9B85-C9D51875044C}" sibTransId="{A07A4C93-C047-6E4E-8208-5A8484436A14}"/>
    <dgm:cxn modelId="{BF033EFC-AE2D-084A-8F51-9A7F0690DB40}" srcId="{8C31966C-82B3-B34A-AA8F-D45BEBC82F44}" destId="{14C5A747-4BF1-DD42-B9A2-F4BC5C575257}" srcOrd="1" destOrd="0" parTransId="{DBF89489-339B-E94F-827F-4463E2AD95C9}" sibTransId="{C0F7079B-9B18-0F4D-94C0-F62D59951BA9}"/>
    <dgm:cxn modelId="{27E29C2C-AD2E-6F45-9FD5-A47E8DE8CC62}" type="presParOf" srcId="{98597183-6E79-714C-9404-263F3003EECE}" destId="{D133E321-0030-0741-80C9-BB6FD86AFD95}" srcOrd="0" destOrd="0" presId="urn:microsoft.com/office/officeart/2005/8/layout/list1"/>
    <dgm:cxn modelId="{3A792215-B307-0042-8AEE-2D5453252067}" type="presParOf" srcId="{D133E321-0030-0741-80C9-BB6FD86AFD95}" destId="{6CD01C17-7C46-0B4B-9B2B-B14E4D4015BC}" srcOrd="0" destOrd="0" presId="urn:microsoft.com/office/officeart/2005/8/layout/list1"/>
    <dgm:cxn modelId="{8D54527D-4FD1-344C-A739-93DFB84F7905}" type="presParOf" srcId="{D133E321-0030-0741-80C9-BB6FD86AFD95}" destId="{9B98A6A3-90CD-3D4B-BE48-97B594B541C8}" srcOrd="1" destOrd="0" presId="urn:microsoft.com/office/officeart/2005/8/layout/list1"/>
    <dgm:cxn modelId="{6E9E2407-6819-C84E-88CF-8B0E4A21D6D2}" type="presParOf" srcId="{98597183-6E79-714C-9404-263F3003EECE}" destId="{B5B25B24-F4F4-2743-A6C9-954883F89614}" srcOrd="1" destOrd="0" presId="urn:microsoft.com/office/officeart/2005/8/layout/list1"/>
    <dgm:cxn modelId="{1A371B40-EB39-434D-B042-808666CC17E9}" type="presParOf" srcId="{98597183-6E79-714C-9404-263F3003EECE}" destId="{002D3ACE-107E-FD48-9DF9-EDEBD6A8FE53}" srcOrd="2" destOrd="0" presId="urn:microsoft.com/office/officeart/2005/8/layout/list1"/>
    <dgm:cxn modelId="{2477C4E2-61FB-AD47-9918-5AD8A4CCC946}" type="presParOf" srcId="{98597183-6E79-714C-9404-263F3003EECE}" destId="{CFF8C9E3-F854-6A43-AAE6-2386F880ABEB}" srcOrd="3" destOrd="0" presId="urn:microsoft.com/office/officeart/2005/8/layout/list1"/>
    <dgm:cxn modelId="{D3FAE9BF-B5FD-D94B-A3FC-3AE6AE7F295A}" type="presParOf" srcId="{98597183-6E79-714C-9404-263F3003EECE}" destId="{DCF31FCD-5834-7141-8A51-BE377BE5D0D2}" srcOrd="4" destOrd="0" presId="urn:microsoft.com/office/officeart/2005/8/layout/list1"/>
    <dgm:cxn modelId="{558B5E68-4DBC-1643-BEDA-1A8D0E7B5B31}" type="presParOf" srcId="{DCF31FCD-5834-7141-8A51-BE377BE5D0D2}" destId="{DF36E885-9D02-A14E-A328-523F35F65AB3}" srcOrd="0" destOrd="0" presId="urn:microsoft.com/office/officeart/2005/8/layout/list1"/>
    <dgm:cxn modelId="{A42B3880-7258-E842-8A86-265A2AC269FD}" type="presParOf" srcId="{DCF31FCD-5834-7141-8A51-BE377BE5D0D2}" destId="{78CC3A52-C39C-534B-826F-0817987B6135}" srcOrd="1" destOrd="0" presId="urn:microsoft.com/office/officeart/2005/8/layout/list1"/>
    <dgm:cxn modelId="{4A9CD9D9-A536-324C-BFF1-8A8DD9ED8293}" type="presParOf" srcId="{98597183-6E79-714C-9404-263F3003EECE}" destId="{BE412BC7-482E-6F4D-B6AC-436D34C170A1}" srcOrd="5" destOrd="0" presId="urn:microsoft.com/office/officeart/2005/8/layout/list1"/>
    <dgm:cxn modelId="{5BE17D33-5F57-0642-BEA8-091C504C8B71}" type="presParOf" srcId="{98597183-6E79-714C-9404-263F3003EECE}" destId="{6F7E9405-A564-6645-916F-51C9BB9AFCAA}"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803ED7-AB08-D14D-8C72-99EE5062C92D}">
      <dsp:nvSpPr>
        <dsp:cNvPr id="0" name=""/>
        <dsp:cNvSpPr/>
      </dsp:nvSpPr>
      <dsp:spPr>
        <a:xfrm>
          <a:off x="0" y="0"/>
          <a:ext cx="3038370" cy="435133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sr-Latn-RS" sz="3200" kern="1200" noProof="0" dirty="0" err="1"/>
            <a:t>Interpretability</a:t>
          </a:r>
          <a:endParaRPr lang="sr-Latn-RS" sz="3200" kern="1200" noProof="0" dirty="0"/>
        </a:p>
        <a:p>
          <a:pPr marL="0" lvl="0" indent="0" algn="ctr" defTabSz="1422400">
            <a:lnSpc>
              <a:spcPct val="90000"/>
            </a:lnSpc>
            <a:spcBef>
              <a:spcPct val="0"/>
            </a:spcBef>
            <a:spcAft>
              <a:spcPct val="35000"/>
            </a:spcAft>
            <a:buNone/>
          </a:pPr>
          <a:r>
            <a:rPr lang="sr-Latn-RS" sz="2000" kern="1200" noProof="0" dirty="0"/>
            <a:t>•</a:t>
          </a:r>
          <a:r>
            <a:rPr lang="sr-Latn-RS" sz="2000" kern="1200" noProof="0" dirty="0" err="1"/>
            <a:t>Dependent</a:t>
          </a:r>
          <a:r>
            <a:rPr lang="sr-Latn-RS" sz="2000" kern="1200" noProof="0" dirty="0"/>
            <a:t> on model </a:t>
          </a:r>
          <a:r>
            <a:rPr lang="sr-Latn-RS" sz="2000" kern="1200" noProof="0" dirty="0" err="1"/>
            <a:t>architecture</a:t>
          </a:r>
          <a:endParaRPr lang="sr-Latn-RS" sz="2000" kern="1200" noProof="0" dirty="0"/>
        </a:p>
        <a:p>
          <a:pPr marL="0" lvl="0" indent="0" algn="ctr" defTabSz="1422400">
            <a:lnSpc>
              <a:spcPct val="90000"/>
            </a:lnSpc>
            <a:spcBef>
              <a:spcPct val="0"/>
            </a:spcBef>
            <a:spcAft>
              <a:spcPct val="35000"/>
            </a:spcAft>
            <a:buNone/>
          </a:pPr>
          <a:r>
            <a:rPr lang="sr-Latn-RS" sz="2000" kern="1200" noProof="0" dirty="0"/>
            <a:t>•</a:t>
          </a:r>
          <a:r>
            <a:rPr lang="sr-Latn-RS" sz="2000" kern="1200" noProof="0" dirty="0" err="1"/>
            <a:t>Computationally</a:t>
          </a:r>
          <a:r>
            <a:rPr lang="sr-Latn-RS" sz="2000" kern="1200" noProof="0" dirty="0"/>
            <a:t> </a:t>
          </a:r>
          <a:r>
            <a:rPr lang="sr-Latn-RS" sz="2000" kern="1200" noProof="0" dirty="0" err="1"/>
            <a:t>fast</a:t>
          </a:r>
          <a:endParaRPr lang="sr-Latn-RS" sz="2000" kern="1200" noProof="0" dirty="0"/>
        </a:p>
        <a:p>
          <a:pPr marL="0" lvl="0" indent="0" algn="ctr" defTabSz="1422400">
            <a:lnSpc>
              <a:spcPct val="90000"/>
            </a:lnSpc>
            <a:spcBef>
              <a:spcPct val="0"/>
            </a:spcBef>
            <a:spcAft>
              <a:spcPct val="35000"/>
            </a:spcAft>
            <a:buNone/>
          </a:pPr>
          <a:r>
            <a:rPr lang="sr-Latn-RS" sz="2000" kern="1200" noProof="0" dirty="0"/>
            <a:t>•</a:t>
          </a:r>
          <a:r>
            <a:rPr lang="sr-Latn-RS" sz="2000" kern="1200" noProof="0" dirty="0" err="1"/>
            <a:t>Can</a:t>
          </a:r>
          <a:r>
            <a:rPr lang="sr-Latn-RS" sz="2000" kern="1200" noProof="0" dirty="0"/>
            <a:t> be </a:t>
          </a:r>
          <a:r>
            <a:rPr lang="sr-Latn-RS" sz="2000" kern="1200" noProof="0" dirty="0" err="1"/>
            <a:t>inferred</a:t>
          </a:r>
          <a:r>
            <a:rPr lang="sr-Latn-RS" sz="2000" kern="1200" noProof="0" dirty="0"/>
            <a:t> from </a:t>
          </a:r>
          <a:r>
            <a:rPr lang="sr-Latn-RS" sz="2000" kern="1200" noProof="0" dirty="0" err="1"/>
            <a:t>the</a:t>
          </a:r>
          <a:r>
            <a:rPr lang="sr-Latn-RS" sz="2000" kern="1200" noProof="0" dirty="0"/>
            <a:t> model </a:t>
          </a:r>
          <a:r>
            <a:rPr lang="sr-Latn-RS" sz="2000" kern="1200" noProof="0" dirty="0" err="1"/>
            <a:t>alone</a:t>
          </a:r>
          <a:endParaRPr lang="sr-Latn-RS" sz="2000" kern="1200" noProof="0" dirty="0"/>
        </a:p>
      </dsp:txBody>
      <dsp:txXfrm>
        <a:off x="0" y="1740535"/>
        <a:ext cx="3038370" cy="1740535"/>
      </dsp:txXfrm>
    </dsp:sp>
    <dsp:sp modelId="{BD7B1B5A-DB43-2241-95D6-B8D0140C8295}">
      <dsp:nvSpPr>
        <dsp:cNvPr id="0" name=""/>
        <dsp:cNvSpPr/>
      </dsp:nvSpPr>
      <dsp:spPr>
        <a:xfrm>
          <a:off x="539610" y="154376"/>
          <a:ext cx="1448995" cy="1448995"/>
        </a:xfrm>
        <a:prstGeom prst="ellipse">
          <a:avLst/>
        </a:prstGeom>
        <a:solidFill>
          <a:schemeClr val="accent1">
            <a:tint val="50000"/>
            <a:hueOff val="0"/>
            <a:satOff val="0"/>
            <a:lumOff val="0"/>
            <a:alpha val="0"/>
          </a:schemeClr>
        </a:solidFill>
        <a:ln w="19050" cap="flat" cmpd="sng" algn="ctr">
          <a:solidFill>
            <a:schemeClr val="lt1">
              <a:hueOff val="0"/>
              <a:satOff val="0"/>
              <a:lumOff val="0"/>
              <a:alpha val="0"/>
            </a:schemeClr>
          </a:solidFill>
          <a:prstDash val="solid"/>
          <a:miter lim="800000"/>
        </a:ln>
        <a:effectLst/>
      </dsp:spPr>
      <dsp:style>
        <a:lnRef idx="2">
          <a:scrgbClr r="0" g="0" b="0"/>
        </a:lnRef>
        <a:fillRef idx="1">
          <a:scrgbClr r="0" g="0" b="0"/>
        </a:fillRef>
        <a:effectRef idx="0">
          <a:scrgbClr r="0" g="0" b="0"/>
        </a:effectRef>
        <a:fontRef idx="minor"/>
      </dsp:style>
    </dsp:sp>
    <dsp:sp modelId="{2AEB96F0-468F-AB46-9297-3E1A09524455}">
      <dsp:nvSpPr>
        <dsp:cNvPr id="0" name=""/>
        <dsp:cNvSpPr/>
      </dsp:nvSpPr>
      <dsp:spPr>
        <a:xfrm>
          <a:off x="9128424" y="0"/>
          <a:ext cx="3063575" cy="435133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sr-Latn-RS" sz="3200" kern="1200" noProof="0" dirty="0" err="1"/>
            <a:t>Explainability</a:t>
          </a:r>
          <a:endParaRPr lang="sr-Latn-RS" sz="3200" kern="1200" noProof="0" dirty="0"/>
        </a:p>
        <a:p>
          <a:pPr marL="0" lvl="0" indent="0" algn="ctr" defTabSz="1422400">
            <a:lnSpc>
              <a:spcPct val="90000"/>
            </a:lnSpc>
            <a:spcBef>
              <a:spcPct val="0"/>
            </a:spcBef>
            <a:spcAft>
              <a:spcPct val="35000"/>
            </a:spcAft>
            <a:buNone/>
          </a:pPr>
          <a:r>
            <a:rPr lang="sr-Latn-RS" sz="2000" kern="1200" noProof="0" dirty="0"/>
            <a:t>•Model-</a:t>
          </a:r>
          <a:r>
            <a:rPr lang="sr-Latn-RS" sz="2000" kern="1200" noProof="0" dirty="0" err="1"/>
            <a:t>agnostic</a:t>
          </a:r>
          <a:endParaRPr lang="sr-Latn-RS" sz="2000" kern="1200" noProof="0" dirty="0"/>
        </a:p>
        <a:p>
          <a:pPr marL="0" lvl="0" indent="0" algn="ctr" defTabSz="1422400">
            <a:lnSpc>
              <a:spcPct val="90000"/>
            </a:lnSpc>
            <a:spcBef>
              <a:spcPct val="0"/>
            </a:spcBef>
            <a:spcAft>
              <a:spcPct val="35000"/>
            </a:spcAft>
            <a:buNone/>
          </a:pPr>
          <a:r>
            <a:rPr lang="sr-Latn-RS" sz="2000" kern="1200" noProof="0" dirty="0"/>
            <a:t>•</a:t>
          </a:r>
          <a:r>
            <a:rPr lang="sr-Latn-RS" sz="2000" kern="1200" noProof="0" dirty="0" err="1"/>
            <a:t>Computationally</a:t>
          </a:r>
          <a:r>
            <a:rPr lang="sr-Latn-RS" sz="2000" kern="1200" noProof="0" dirty="0"/>
            <a:t> </a:t>
          </a:r>
          <a:r>
            <a:rPr lang="sr-Latn-RS" sz="2000" kern="1200" noProof="0" dirty="0" err="1"/>
            <a:t>intensive</a:t>
          </a:r>
          <a:endParaRPr lang="sr-Latn-RS" sz="2000" kern="1200" noProof="0" dirty="0"/>
        </a:p>
        <a:p>
          <a:pPr marL="0" lvl="0" indent="0" algn="ctr" defTabSz="1422400">
            <a:lnSpc>
              <a:spcPct val="90000"/>
            </a:lnSpc>
            <a:spcBef>
              <a:spcPct val="0"/>
            </a:spcBef>
            <a:spcAft>
              <a:spcPct val="35000"/>
            </a:spcAft>
            <a:buNone/>
          </a:pPr>
          <a:r>
            <a:rPr lang="sr-Latn-RS" sz="2000" kern="1200" noProof="0" dirty="0"/>
            <a:t>•</a:t>
          </a:r>
          <a:r>
            <a:rPr lang="sr-Latn-RS" sz="2000" kern="1200" noProof="0" dirty="0" err="1"/>
            <a:t>Based</a:t>
          </a:r>
          <a:r>
            <a:rPr lang="sr-Latn-RS" sz="2000" kern="1200" noProof="0" dirty="0"/>
            <a:t> on </a:t>
          </a:r>
          <a:r>
            <a:rPr lang="sr-Latn-RS" sz="2000" kern="1200" noProof="0" dirty="0" err="1"/>
            <a:t>feature</a:t>
          </a:r>
          <a:r>
            <a:rPr lang="sr-Latn-RS" sz="2000" kern="1200" noProof="0" dirty="0"/>
            <a:t> </a:t>
          </a:r>
          <a:r>
            <a:rPr lang="sr-Latn-RS" sz="2000" kern="1200" noProof="0" dirty="0" err="1"/>
            <a:t>values</a:t>
          </a:r>
          <a:r>
            <a:rPr lang="sr-Latn-RS" sz="2000" kern="1200" noProof="0" dirty="0"/>
            <a:t> </a:t>
          </a:r>
          <a:r>
            <a:rPr lang="sr-Latn-RS" sz="2000" kern="1200" noProof="0" dirty="0" err="1"/>
            <a:t>and</a:t>
          </a:r>
          <a:r>
            <a:rPr lang="sr-Latn-RS" sz="2000" kern="1200" noProof="0" dirty="0"/>
            <a:t> </a:t>
          </a:r>
          <a:r>
            <a:rPr lang="sr-Latn-RS" sz="2000" kern="1200" noProof="0" dirty="0" err="1"/>
            <a:t>predictions</a:t>
          </a:r>
          <a:endParaRPr lang="sr-Latn-RS" sz="2000" kern="1200" noProof="0" dirty="0"/>
        </a:p>
      </dsp:txBody>
      <dsp:txXfrm>
        <a:off x="9128424" y="1740535"/>
        <a:ext cx="3063575" cy="1740535"/>
      </dsp:txXfrm>
    </dsp:sp>
    <dsp:sp modelId="{42E5A9FD-F995-7847-83CA-1721630AD957}">
      <dsp:nvSpPr>
        <dsp:cNvPr id="0" name=""/>
        <dsp:cNvSpPr/>
      </dsp:nvSpPr>
      <dsp:spPr>
        <a:xfrm>
          <a:off x="8472775" y="154376"/>
          <a:ext cx="1448995" cy="1448995"/>
        </a:xfrm>
        <a:prstGeom prst="ellipse">
          <a:avLst/>
        </a:prstGeom>
        <a:solidFill>
          <a:schemeClr val="accent1">
            <a:tint val="50000"/>
            <a:hueOff val="0"/>
            <a:satOff val="0"/>
            <a:lumOff val="0"/>
            <a:alpha val="0"/>
          </a:schemeClr>
        </a:solidFill>
        <a:ln w="19050" cap="flat" cmpd="sng" algn="ctr">
          <a:solidFill>
            <a:schemeClr val="lt1">
              <a:hueOff val="0"/>
              <a:satOff val="0"/>
              <a:lumOff val="0"/>
              <a:alpha val="0"/>
            </a:schemeClr>
          </a:solidFill>
          <a:prstDash val="solid"/>
          <a:miter lim="800000"/>
        </a:ln>
        <a:effectLst/>
      </dsp:spPr>
      <dsp:style>
        <a:lnRef idx="2">
          <a:scrgbClr r="0" g="0" b="0"/>
        </a:lnRef>
        <a:fillRef idx="1">
          <a:scrgbClr r="0" g="0" b="0"/>
        </a:fillRef>
        <a:effectRef idx="0">
          <a:scrgbClr r="0" g="0" b="0"/>
        </a:effectRef>
        <a:fontRef idx="minor"/>
      </dsp:style>
    </dsp:sp>
    <dsp:sp modelId="{CAA7942C-EB67-2045-B017-58E4B170CF02}">
      <dsp:nvSpPr>
        <dsp:cNvPr id="0" name=""/>
        <dsp:cNvSpPr/>
      </dsp:nvSpPr>
      <dsp:spPr>
        <a:xfrm>
          <a:off x="1440063" y="3829589"/>
          <a:ext cx="9311873" cy="418935"/>
        </a:xfrm>
        <a:prstGeom prst="leftRightArrow">
          <a:avLst/>
        </a:prstGeom>
        <a:solidFill>
          <a:schemeClr val="accent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6DBE3B-FDE0-6A4D-9823-19C4F6CA09FF}">
      <dsp:nvSpPr>
        <dsp:cNvPr id="0" name=""/>
        <dsp:cNvSpPr/>
      </dsp:nvSpPr>
      <dsp:spPr>
        <a:xfrm>
          <a:off x="129297" y="2594495"/>
          <a:ext cx="6206290" cy="12929"/>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23BDCD39-5075-DC46-A8D6-3A34660348D0}">
      <dsp:nvSpPr>
        <dsp:cNvPr id="0" name=""/>
        <dsp:cNvSpPr/>
      </dsp:nvSpPr>
      <dsp:spPr>
        <a:xfrm>
          <a:off x="132403" y="531029"/>
          <a:ext cx="1493994" cy="165811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30480" tIns="15240" rIns="30480" bIns="15240" numCol="1" spcCol="1270" anchor="b" anchorCtr="0">
          <a:noAutofit/>
        </a:bodyPr>
        <a:lstStyle/>
        <a:p>
          <a:pPr marL="0" lvl="0" indent="0" algn="ctr" defTabSz="1066800">
            <a:lnSpc>
              <a:spcPct val="90000"/>
            </a:lnSpc>
            <a:spcBef>
              <a:spcPct val="0"/>
            </a:spcBef>
            <a:spcAft>
              <a:spcPct val="35000"/>
            </a:spcAft>
            <a:buNone/>
            <a:defRPr b="1">
              <a:solidFill>
                <a:schemeClr val="accent1"/>
              </a:solidFill>
            </a:defRPr>
          </a:pPr>
          <a:r>
            <a:rPr lang="sr-Latn-RS" sz="2400" kern="1200" noProof="0" dirty="0" err="1"/>
            <a:t>Decision</a:t>
          </a:r>
          <a:r>
            <a:rPr lang="sr-Latn-RS" sz="2000" kern="1200" noProof="0" dirty="0"/>
            <a:t> </a:t>
          </a:r>
          <a:r>
            <a:rPr lang="sr-Latn-RS" sz="2400" kern="1200" noProof="0" dirty="0" err="1"/>
            <a:t>rules</a:t>
          </a:r>
          <a:endParaRPr lang="sr-Latn-RS" sz="2000" kern="1200" noProof="0" dirty="0"/>
        </a:p>
      </dsp:txBody>
      <dsp:txXfrm>
        <a:off x="132403" y="531029"/>
        <a:ext cx="1493994" cy="1658112"/>
      </dsp:txXfrm>
    </dsp:sp>
    <dsp:sp modelId="{A80A5769-E8E6-4D40-B468-9D145CD5D05B}">
      <dsp:nvSpPr>
        <dsp:cNvPr id="0" name=""/>
        <dsp:cNvSpPr/>
      </dsp:nvSpPr>
      <dsp:spPr>
        <a:xfrm>
          <a:off x="781865" y="2503424"/>
          <a:ext cx="195072" cy="195072"/>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CBF9CF-68C0-0441-94EE-D7E9A06E0A0B}">
      <dsp:nvSpPr>
        <dsp:cNvPr id="0" name=""/>
        <dsp:cNvSpPr/>
      </dsp:nvSpPr>
      <dsp:spPr>
        <a:xfrm>
          <a:off x="1701098" y="531029"/>
          <a:ext cx="1493994" cy="165811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30480" tIns="15240" rIns="30480" bIns="15240" numCol="1" spcCol="1270" anchor="b" anchorCtr="0">
          <a:noAutofit/>
        </a:bodyPr>
        <a:lstStyle/>
        <a:p>
          <a:pPr marL="0" lvl="0" indent="0" algn="ctr" defTabSz="1066800">
            <a:lnSpc>
              <a:spcPct val="90000"/>
            </a:lnSpc>
            <a:spcBef>
              <a:spcPct val="0"/>
            </a:spcBef>
            <a:spcAft>
              <a:spcPct val="35000"/>
            </a:spcAft>
            <a:buNone/>
            <a:defRPr b="1">
              <a:solidFill>
                <a:schemeClr val="accent1"/>
              </a:solidFill>
            </a:defRPr>
          </a:pPr>
          <a:r>
            <a:rPr lang="sr-Latn-RS" sz="2400" kern="1200" noProof="0" dirty="0" err="1"/>
            <a:t>TCAVs</a:t>
          </a:r>
          <a:endParaRPr lang="sr-Latn-RS" sz="2700" kern="1200" noProof="0" dirty="0"/>
        </a:p>
      </dsp:txBody>
      <dsp:txXfrm>
        <a:off x="1701098" y="531029"/>
        <a:ext cx="1493994" cy="1658112"/>
      </dsp:txXfrm>
    </dsp:sp>
    <dsp:sp modelId="{A994EE0C-851E-834A-8F35-56FBCBC38358}">
      <dsp:nvSpPr>
        <dsp:cNvPr id="0" name=""/>
        <dsp:cNvSpPr/>
      </dsp:nvSpPr>
      <dsp:spPr>
        <a:xfrm>
          <a:off x="2350559" y="2503424"/>
          <a:ext cx="195072" cy="195072"/>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5187A6-84DF-1D4C-9BD1-EAFE775A0301}">
      <dsp:nvSpPr>
        <dsp:cNvPr id="0" name=""/>
        <dsp:cNvSpPr/>
      </dsp:nvSpPr>
      <dsp:spPr>
        <a:xfrm>
          <a:off x="3269792" y="531029"/>
          <a:ext cx="1493994" cy="165811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30480" tIns="15240" rIns="30480" bIns="15240" numCol="1" spcCol="1270" anchor="b" anchorCtr="0">
          <a:noAutofit/>
        </a:bodyPr>
        <a:lstStyle/>
        <a:p>
          <a:pPr marL="0" lvl="0" indent="0" algn="ctr" defTabSz="1066800">
            <a:lnSpc>
              <a:spcPct val="90000"/>
            </a:lnSpc>
            <a:spcBef>
              <a:spcPct val="0"/>
            </a:spcBef>
            <a:spcAft>
              <a:spcPct val="35000"/>
            </a:spcAft>
            <a:buNone/>
            <a:defRPr b="1">
              <a:solidFill>
                <a:schemeClr val="accent1"/>
              </a:solidFill>
            </a:defRPr>
          </a:pPr>
          <a:r>
            <a:rPr lang="sr-Latn-RS" sz="2400" kern="1200" noProof="0" dirty="0"/>
            <a:t>LIME</a:t>
          </a:r>
          <a:endParaRPr lang="sr-Latn-RS" sz="2700" kern="1200" noProof="0" dirty="0"/>
        </a:p>
      </dsp:txBody>
      <dsp:txXfrm>
        <a:off x="3269792" y="531029"/>
        <a:ext cx="1493994" cy="1658112"/>
      </dsp:txXfrm>
    </dsp:sp>
    <dsp:sp modelId="{F5FF8542-1D57-CA4C-98A3-691DF21143C5}">
      <dsp:nvSpPr>
        <dsp:cNvPr id="0" name=""/>
        <dsp:cNvSpPr/>
      </dsp:nvSpPr>
      <dsp:spPr>
        <a:xfrm>
          <a:off x="3919254" y="2503424"/>
          <a:ext cx="195072" cy="195072"/>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BDF494-6206-0446-B804-188BC2EEAF55}">
      <dsp:nvSpPr>
        <dsp:cNvPr id="0" name=""/>
        <dsp:cNvSpPr/>
      </dsp:nvSpPr>
      <dsp:spPr>
        <a:xfrm>
          <a:off x="4838487" y="531029"/>
          <a:ext cx="1493994" cy="165811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30480" tIns="15240" rIns="30480" bIns="15240" numCol="1" spcCol="1270" anchor="b" anchorCtr="0">
          <a:noAutofit/>
        </a:bodyPr>
        <a:lstStyle/>
        <a:p>
          <a:pPr marL="0" lvl="0" indent="0" algn="ctr" defTabSz="1066800">
            <a:lnSpc>
              <a:spcPct val="90000"/>
            </a:lnSpc>
            <a:spcBef>
              <a:spcPct val="0"/>
            </a:spcBef>
            <a:spcAft>
              <a:spcPct val="35000"/>
            </a:spcAft>
            <a:buNone/>
            <a:defRPr b="1">
              <a:solidFill>
                <a:schemeClr val="accent1"/>
              </a:solidFill>
            </a:defRPr>
          </a:pPr>
          <a:r>
            <a:rPr lang="sr-Latn-RS" sz="2400" kern="1200" noProof="0" dirty="0" err="1"/>
            <a:t>Sampled</a:t>
          </a:r>
          <a:r>
            <a:rPr lang="sr-Latn-RS" sz="2400" kern="1200" noProof="0" dirty="0"/>
            <a:t> </a:t>
          </a:r>
          <a:r>
            <a:rPr lang="sr-Latn-RS" sz="2400" kern="1200" noProof="0" dirty="0" err="1"/>
            <a:t>Shapley</a:t>
          </a:r>
          <a:endParaRPr lang="sr-Latn-RS" sz="2700" kern="1200" noProof="0" dirty="0"/>
        </a:p>
      </dsp:txBody>
      <dsp:txXfrm>
        <a:off x="4838487" y="531029"/>
        <a:ext cx="1493994" cy="1658112"/>
      </dsp:txXfrm>
    </dsp:sp>
    <dsp:sp modelId="{8A41021E-2A9E-BB4C-AA17-8874F06DD535}">
      <dsp:nvSpPr>
        <dsp:cNvPr id="0" name=""/>
        <dsp:cNvSpPr/>
      </dsp:nvSpPr>
      <dsp:spPr>
        <a:xfrm>
          <a:off x="5487948" y="2503424"/>
          <a:ext cx="195072" cy="195072"/>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70B649-6E2D-CB4B-A236-9F56020A3C5D}">
      <dsp:nvSpPr>
        <dsp:cNvPr id="0" name=""/>
        <dsp:cNvSpPr/>
      </dsp:nvSpPr>
      <dsp:spPr>
        <a:xfrm>
          <a:off x="0" y="201920"/>
          <a:ext cx="6666833" cy="95471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sr-Latn-RS" sz="2400" kern="1200" noProof="0" dirty="0"/>
            <a:t>Dokazivanje semantičke ispravnosti objašnjenja, a ne samo matematičke utemeljenosti metode</a:t>
          </a:r>
        </a:p>
      </dsp:txBody>
      <dsp:txXfrm>
        <a:off x="46606" y="248526"/>
        <a:ext cx="6573621" cy="861507"/>
      </dsp:txXfrm>
    </dsp:sp>
    <dsp:sp modelId="{87A91858-EE35-CF4A-B54C-BFDC6771DBA6}">
      <dsp:nvSpPr>
        <dsp:cNvPr id="0" name=""/>
        <dsp:cNvSpPr/>
      </dsp:nvSpPr>
      <dsp:spPr>
        <a:xfrm>
          <a:off x="0" y="1225760"/>
          <a:ext cx="6666833" cy="95471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sr-Latn-RS" sz="2400" kern="1200" noProof="0" dirty="0"/>
            <a:t>Kombinovanje različitih metoda objašnjavanja bez stvaranja dodatne konfuzije</a:t>
          </a:r>
        </a:p>
      </dsp:txBody>
      <dsp:txXfrm>
        <a:off x="46606" y="1272366"/>
        <a:ext cx="6573621" cy="861507"/>
      </dsp:txXfrm>
    </dsp:sp>
    <dsp:sp modelId="{B429BEB6-3891-0E40-8DC1-0C1AB84CEBC6}">
      <dsp:nvSpPr>
        <dsp:cNvPr id="0" name=""/>
        <dsp:cNvSpPr/>
      </dsp:nvSpPr>
      <dsp:spPr>
        <a:xfrm>
          <a:off x="0" y="2249600"/>
          <a:ext cx="6666833" cy="95471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sr-Latn-RS" sz="2400" kern="1200" noProof="0" dirty="0"/>
            <a:t>Razvoj alata za jednostavno istraživanje i razumevanje objašnjenja</a:t>
          </a:r>
        </a:p>
      </dsp:txBody>
      <dsp:txXfrm>
        <a:off x="46606" y="2296206"/>
        <a:ext cx="6573621" cy="861507"/>
      </dsp:txXfrm>
    </dsp:sp>
    <dsp:sp modelId="{D7C85188-C338-F742-B644-ECECE46F6C47}">
      <dsp:nvSpPr>
        <dsp:cNvPr id="0" name=""/>
        <dsp:cNvSpPr/>
      </dsp:nvSpPr>
      <dsp:spPr>
        <a:xfrm>
          <a:off x="0" y="3273440"/>
          <a:ext cx="6666833" cy="95471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sr-Latn-RS" sz="2400" kern="1200" noProof="0" dirty="0"/>
            <a:t>Računski efikasno generisanje objašnjenja</a:t>
          </a:r>
        </a:p>
      </dsp:txBody>
      <dsp:txXfrm>
        <a:off x="46606" y="3320046"/>
        <a:ext cx="6573621" cy="861507"/>
      </dsp:txXfrm>
    </dsp:sp>
    <dsp:sp modelId="{653863D2-9598-004B-9BFD-EF5AC5893546}">
      <dsp:nvSpPr>
        <dsp:cNvPr id="0" name=""/>
        <dsp:cNvSpPr/>
      </dsp:nvSpPr>
      <dsp:spPr>
        <a:xfrm>
          <a:off x="0" y="4297280"/>
          <a:ext cx="6666833" cy="95471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sr-Latn-RS" sz="2400" kern="1200" noProof="0" dirty="0"/>
            <a:t>Procena robusnosti i pouzdanosti metoda objašnjavanja</a:t>
          </a:r>
        </a:p>
      </dsp:txBody>
      <dsp:txXfrm>
        <a:off x="46606" y="4343886"/>
        <a:ext cx="6573621" cy="8615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8AFBF7-AEA8-7942-880A-AE36A5690A7D}">
      <dsp:nvSpPr>
        <dsp:cNvPr id="0" name=""/>
        <dsp:cNvSpPr/>
      </dsp:nvSpPr>
      <dsp:spPr>
        <a:xfrm>
          <a:off x="3367512" y="0"/>
          <a:ext cx="4192805" cy="4192805"/>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CE8048-C131-B647-95E6-8790FCB244CB}">
      <dsp:nvSpPr>
        <dsp:cNvPr id="0" name=""/>
        <dsp:cNvSpPr/>
      </dsp:nvSpPr>
      <dsp:spPr>
        <a:xfrm>
          <a:off x="3640044" y="272532"/>
          <a:ext cx="1677122" cy="167712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sr-Latn-RS" sz="1100" b="1" kern="1200" noProof="0" dirty="0"/>
            <a:t>Pre-modeling </a:t>
          </a:r>
          <a:r>
            <a:rPr lang="sr-Latn-RS" sz="1100" b="1" kern="1200" noProof="0" dirty="0" err="1"/>
            <a:t>explainability</a:t>
          </a:r>
          <a:r>
            <a:rPr lang="sr-Latn-RS" sz="1100" kern="1200" noProof="0" dirty="0"/>
            <a:t> - Objašnjavanje počinje pre samog treniranja modela, analizom i razumevanjem podataka koji će biti korišćeni.</a:t>
          </a:r>
        </a:p>
      </dsp:txBody>
      <dsp:txXfrm>
        <a:off x="3721914" y="354402"/>
        <a:ext cx="1513382" cy="1513382"/>
      </dsp:txXfrm>
    </dsp:sp>
    <dsp:sp modelId="{1B4F286C-6009-3742-A579-6679B1526EF9}">
      <dsp:nvSpPr>
        <dsp:cNvPr id="0" name=""/>
        <dsp:cNvSpPr/>
      </dsp:nvSpPr>
      <dsp:spPr>
        <a:xfrm>
          <a:off x="5610662" y="272532"/>
          <a:ext cx="1677122" cy="167712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sr-Latn-RS" sz="1100" b="1" kern="1200" noProof="0" dirty="0" err="1"/>
            <a:t>Intrinsic</a:t>
          </a:r>
          <a:r>
            <a:rPr lang="sr-Latn-RS" sz="1100" b="1" kern="1200" noProof="0" dirty="0"/>
            <a:t> </a:t>
          </a:r>
          <a:r>
            <a:rPr lang="sr-Latn-RS" sz="1100" b="1" kern="1200" noProof="0" dirty="0" err="1"/>
            <a:t>vs</a:t>
          </a:r>
          <a:r>
            <a:rPr lang="sr-Latn-RS" sz="1100" b="1" kern="1200" noProof="0" dirty="0"/>
            <a:t>. Post-</a:t>
          </a:r>
          <a:r>
            <a:rPr lang="sr-Latn-RS" sz="1100" b="1" kern="1200" noProof="0" dirty="0" err="1"/>
            <a:t>hoc</a:t>
          </a:r>
          <a:r>
            <a:rPr lang="sr-Latn-RS" sz="1100" b="1" kern="1200" noProof="0" dirty="0"/>
            <a:t> </a:t>
          </a:r>
          <a:r>
            <a:rPr lang="sr-Latn-RS" sz="1100" kern="1200" noProof="0" dirty="0"/>
            <a:t>- Ova podela govori o tome da li je objašnjivost deo samog modela ili se dodaje nakon njegovog treniranja.</a:t>
          </a:r>
        </a:p>
      </dsp:txBody>
      <dsp:txXfrm>
        <a:off x="5692532" y="354402"/>
        <a:ext cx="1513382" cy="1513382"/>
      </dsp:txXfrm>
    </dsp:sp>
    <dsp:sp modelId="{88C1FDE9-3B46-F14E-90CC-60CA05C55488}">
      <dsp:nvSpPr>
        <dsp:cNvPr id="0" name=""/>
        <dsp:cNvSpPr/>
      </dsp:nvSpPr>
      <dsp:spPr>
        <a:xfrm>
          <a:off x="3640044" y="2243150"/>
          <a:ext cx="1677122" cy="167712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sr-Latn-RS" sz="1100" b="1" kern="1200" noProof="0" dirty="0" err="1"/>
            <a:t>Local</a:t>
          </a:r>
          <a:r>
            <a:rPr lang="sr-Latn-RS" sz="1100" b="1" kern="1200" noProof="0" dirty="0"/>
            <a:t>, </a:t>
          </a:r>
          <a:r>
            <a:rPr lang="sr-Latn-RS" sz="1100" b="1" kern="1200" noProof="0" dirty="0" err="1"/>
            <a:t>Cohort</a:t>
          </a:r>
          <a:r>
            <a:rPr lang="sr-Latn-RS" sz="1100" b="1" kern="1200" noProof="0" dirty="0"/>
            <a:t> &amp; Global </a:t>
          </a:r>
          <a:r>
            <a:rPr lang="sr-Latn-RS" sz="1100" b="1" kern="1200" noProof="0" dirty="0" err="1"/>
            <a:t>explanations</a:t>
          </a:r>
          <a:r>
            <a:rPr lang="sr-Latn-RS" sz="1100" b="1" kern="1200" noProof="0" dirty="0"/>
            <a:t> </a:t>
          </a:r>
          <a:r>
            <a:rPr lang="sr-Latn-RS" sz="1100" kern="1200" noProof="0" dirty="0"/>
            <a:t>- Ova podela govori o obimu objašnjenja.</a:t>
          </a:r>
        </a:p>
      </dsp:txBody>
      <dsp:txXfrm>
        <a:off x="3721914" y="2325020"/>
        <a:ext cx="1513382" cy="1513382"/>
      </dsp:txXfrm>
    </dsp:sp>
    <dsp:sp modelId="{2A6DB868-F50F-5B48-A8E5-B3011A1132A6}">
      <dsp:nvSpPr>
        <dsp:cNvPr id="0" name=""/>
        <dsp:cNvSpPr/>
      </dsp:nvSpPr>
      <dsp:spPr>
        <a:xfrm>
          <a:off x="5610662" y="2243150"/>
          <a:ext cx="1677122" cy="167712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sr-Latn-RS" sz="1100" b="1" kern="1200" noProof="0" dirty="0" err="1"/>
            <a:t>Attributions</a:t>
          </a:r>
          <a:r>
            <a:rPr lang="sr-Latn-RS" sz="1100" b="1" kern="1200" noProof="0" dirty="0"/>
            <a:t>, </a:t>
          </a:r>
          <a:r>
            <a:rPr lang="sr-Latn-RS" sz="1100" b="1" kern="1200" noProof="0" dirty="0" err="1"/>
            <a:t>Counterfactual</a:t>
          </a:r>
          <a:r>
            <a:rPr lang="sr-Latn-RS" sz="1100" b="1" kern="1200" noProof="0" dirty="0"/>
            <a:t> &amp; </a:t>
          </a:r>
          <a:r>
            <a:rPr lang="sr-Latn-RS" sz="1100" b="1" kern="1200" noProof="0" dirty="0" err="1"/>
            <a:t>Example-Based</a:t>
          </a:r>
          <a:r>
            <a:rPr lang="sr-Latn-RS" sz="1100" b="1" kern="1200" noProof="0" dirty="0"/>
            <a:t> </a:t>
          </a:r>
          <a:r>
            <a:rPr lang="sr-Latn-RS" sz="1100" b="1" kern="1200" noProof="0" dirty="0" err="1"/>
            <a:t>Explanations</a:t>
          </a:r>
          <a:r>
            <a:rPr lang="sr-Latn-RS" sz="1100" b="1" kern="1200" noProof="0" dirty="0"/>
            <a:t> </a:t>
          </a:r>
          <a:r>
            <a:rPr lang="sr-Latn-RS" sz="1100" kern="1200" noProof="0" dirty="0"/>
            <a:t>– Ova podela govori o načinu na koji objašnjavamo rezultat</a:t>
          </a:r>
        </a:p>
      </dsp:txBody>
      <dsp:txXfrm>
        <a:off x="5692532" y="2325020"/>
        <a:ext cx="1513382" cy="15133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628BBE-0627-3B4C-AD06-CE599037E728}">
      <dsp:nvSpPr>
        <dsp:cNvPr id="0" name=""/>
        <dsp:cNvSpPr/>
      </dsp:nvSpPr>
      <dsp:spPr>
        <a:xfrm>
          <a:off x="0" y="4105454"/>
          <a:ext cx="6666833" cy="13475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sr-Latn-RS" sz="1900" kern="1200" noProof="0" dirty="0"/>
            <a:t>Posledice:</a:t>
          </a:r>
        </a:p>
      </dsp:txBody>
      <dsp:txXfrm>
        <a:off x="0" y="4105454"/>
        <a:ext cx="6666833" cy="727650"/>
      </dsp:txXfrm>
    </dsp:sp>
    <dsp:sp modelId="{6D175C0C-5D84-7C4D-8E64-9778CACA1031}">
      <dsp:nvSpPr>
        <dsp:cNvPr id="0" name=""/>
        <dsp:cNvSpPr/>
      </dsp:nvSpPr>
      <dsp:spPr>
        <a:xfrm>
          <a:off x="3255" y="4806155"/>
          <a:ext cx="2220107" cy="6198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sr-Latn-RS" sz="1300" kern="1200" noProof="0" dirty="0"/>
            <a:t>značajno manji broj parametara</a:t>
          </a:r>
        </a:p>
      </dsp:txBody>
      <dsp:txXfrm>
        <a:off x="3255" y="4806155"/>
        <a:ext cx="2220107" cy="619850"/>
      </dsp:txXfrm>
    </dsp:sp>
    <dsp:sp modelId="{1CE2546B-C70A-614D-92E9-106A5B720794}">
      <dsp:nvSpPr>
        <dsp:cNvPr id="0" name=""/>
        <dsp:cNvSpPr/>
      </dsp:nvSpPr>
      <dsp:spPr>
        <a:xfrm>
          <a:off x="2223362" y="4806155"/>
          <a:ext cx="2220107" cy="6198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sr-Latn-RS" sz="1300" kern="1200" noProof="0" dirty="0"/>
            <a:t>isti vizuelni obrazac može biti detektovan na različitim pozicijama,</a:t>
          </a:r>
        </a:p>
      </dsp:txBody>
      <dsp:txXfrm>
        <a:off x="2223362" y="4806155"/>
        <a:ext cx="2220107" cy="619850"/>
      </dsp:txXfrm>
    </dsp:sp>
    <dsp:sp modelId="{9FD7172B-DAE2-E64D-9C45-FE45623DD005}">
      <dsp:nvSpPr>
        <dsp:cNvPr id="0" name=""/>
        <dsp:cNvSpPr/>
      </dsp:nvSpPr>
      <dsp:spPr>
        <a:xfrm>
          <a:off x="4443470" y="4806155"/>
          <a:ext cx="2220107" cy="6198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sr-Latn-RS" sz="1300" kern="1200" noProof="0" dirty="0"/>
            <a:t>očuvana je prostorna organizacija ulaznih podataka.</a:t>
          </a:r>
        </a:p>
      </dsp:txBody>
      <dsp:txXfrm>
        <a:off x="4443470" y="4806155"/>
        <a:ext cx="2220107" cy="619850"/>
      </dsp:txXfrm>
    </dsp:sp>
    <dsp:sp modelId="{9641A0FA-36AC-5B48-994C-96F0D5419D3B}">
      <dsp:nvSpPr>
        <dsp:cNvPr id="0" name=""/>
        <dsp:cNvSpPr/>
      </dsp:nvSpPr>
      <dsp:spPr>
        <a:xfrm rot="10800000">
          <a:off x="0" y="2053209"/>
          <a:ext cx="6666833" cy="2072457"/>
        </a:xfrm>
        <a:prstGeom prst="upArrowCallou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sr-Latn-RS" sz="1900" kern="1200" noProof="0" dirty="0"/>
            <a:t>Isti filter, odnosno isti skup težina i </a:t>
          </a:r>
          <a:r>
            <a:rPr lang="sr-Latn-RS" sz="1900" kern="1200" noProof="0" dirty="0" err="1"/>
            <a:t>bias</a:t>
          </a:r>
          <a:r>
            <a:rPr lang="sr-Latn-RS" sz="1900" kern="1200" noProof="0" dirty="0"/>
            <a:t>, koristi se na svim prostornim pozicijama slike. Ako je određena karakteristika korisna na jednom mestu slike, pretpostavljamo da može biti korisna i na drugom mestu.</a:t>
          </a:r>
        </a:p>
      </dsp:txBody>
      <dsp:txXfrm rot="10800000">
        <a:off x="0" y="2053209"/>
        <a:ext cx="6666833" cy="1346620"/>
      </dsp:txXfrm>
    </dsp:sp>
    <dsp:sp modelId="{40BD820E-D728-3544-AC07-24DD919942AD}">
      <dsp:nvSpPr>
        <dsp:cNvPr id="0" name=""/>
        <dsp:cNvSpPr/>
      </dsp:nvSpPr>
      <dsp:spPr>
        <a:xfrm rot="10800000">
          <a:off x="0" y="964"/>
          <a:ext cx="6666833" cy="2072457"/>
        </a:xfrm>
        <a:prstGeom prst="upArrowCallou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sr-Latn-RS" sz="1900" kern="1200" noProof="0" dirty="0"/>
            <a:t>Za razliku od FC sloja, neuron </a:t>
          </a:r>
          <a:r>
            <a:rPr lang="sr-Latn-RS" sz="1900" kern="1200" noProof="0" dirty="0" err="1"/>
            <a:t>konvolucionog</a:t>
          </a:r>
          <a:r>
            <a:rPr lang="sr-Latn-RS" sz="1900" kern="1200" noProof="0" dirty="0"/>
            <a:t> sloja nije povezan sa celim ulazom, već samo sa lokalnim regionom slike (</a:t>
          </a:r>
          <a:r>
            <a:rPr lang="sr-Latn-RS" sz="1900" kern="1200" noProof="0" dirty="0" err="1"/>
            <a:t>receptive</a:t>
          </a:r>
          <a:r>
            <a:rPr lang="sr-Latn-RS" sz="1900" kern="1200" noProof="0" dirty="0"/>
            <a:t> </a:t>
          </a:r>
          <a:r>
            <a:rPr lang="sr-Latn-RS" sz="1900" kern="1200" noProof="0" dirty="0" err="1"/>
            <a:t>field</a:t>
          </a:r>
          <a:r>
            <a:rPr lang="sr-Latn-RS" sz="1900" kern="1200" noProof="0" dirty="0"/>
            <a:t>).</a:t>
          </a:r>
        </a:p>
      </dsp:txBody>
      <dsp:txXfrm rot="10800000">
        <a:off x="0" y="964"/>
        <a:ext cx="6666833" cy="13466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2D3ACE-107E-FD48-9DF9-EDEBD6A8FE53}">
      <dsp:nvSpPr>
        <dsp:cNvPr id="0" name=""/>
        <dsp:cNvSpPr/>
      </dsp:nvSpPr>
      <dsp:spPr>
        <a:xfrm>
          <a:off x="0" y="363677"/>
          <a:ext cx="10927829" cy="155295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354076" rIns="848121"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Računarski </a:t>
          </a:r>
          <a:r>
            <a:rPr lang="en-US" sz="1700" kern="1200" dirty="0" err="1"/>
            <a:t>efikasan</a:t>
          </a:r>
          <a:r>
            <a:rPr lang="en-US" sz="1700" kern="1200" dirty="0"/>
            <a:t> </a:t>
          </a:r>
          <a:r>
            <a:rPr lang="en-US" sz="1700" kern="1200" dirty="0" err="1"/>
            <a:t>i</a:t>
          </a:r>
          <a:r>
            <a:rPr lang="en-US" sz="1700" kern="1200" dirty="0"/>
            <a:t> </a:t>
          </a:r>
          <a:r>
            <a:rPr lang="en-US" sz="1700" kern="1200" dirty="0" err="1"/>
            <a:t>relativno</a:t>
          </a:r>
          <a:r>
            <a:rPr lang="en-US" sz="1700" kern="1200" dirty="0"/>
            <a:t> </a:t>
          </a:r>
          <a:r>
            <a:rPr lang="en-US" sz="1700" kern="1200" dirty="0" err="1"/>
            <a:t>jednostavan</a:t>
          </a:r>
          <a:r>
            <a:rPr lang="en-US" sz="1700" kern="1200" dirty="0"/>
            <a:t> za </a:t>
          </a:r>
          <a:r>
            <a:rPr lang="en-US" sz="1700" kern="1200" dirty="0" err="1"/>
            <a:t>implementaciju</a:t>
          </a:r>
          <a:endParaRPr lang="en-US" sz="1700" kern="1200" dirty="0"/>
        </a:p>
        <a:p>
          <a:pPr marL="171450" lvl="1" indent="-171450" algn="l" defTabSz="755650">
            <a:lnSpc>
              <a:spcPct val="90000"/>
            </a:lnSpc>
            <a:spcBef>
              <a:spcPct val="0"/>
            </a:spcBef>
            <a:spcAft>
              <a:spcPct val="15000"/>
            </a:spcAft>
            <a:buChar char="•"/>
          </a:pPr>
          <a:r>
            <a:rPr lang="en-US" sz="1700" kern="1200" dirty="0" err="1"/>
            <a:t>Široko</a:t>
          </a:r>
          <a:r>
            <a:rPr lang="en-US" sz="1700" kern="1200" dirty="0"/>
            <a:t> </a:t>
          </a:r>
          <a:r>
            <a:rPr lang="en-US" sz="1700" kern="1200" dirty="0" err="1"/>
            <a:t>primenjiv</a:t>
          </a:r>
          <a:r>
            <a:rPr lang="en-US" sz="1700" kern="1200" dirty="0"/>
            <a:t> </a:t>
          </a:r>
          <a:r>
            <a:rPr lang="en-US" sz="1700" kern="1200" dirty="0" err="1"/>
            <a:t>na</a:t>
          </a:r>
          <a:r>
            <a:rPr lang="en-US" sz="1700" kern="1200" dirty="0"/>
            <a:t> </a:t>
          </a:r>
          <a:r>
            <a:rPr lang="en-US" sz="1700" kern="1200" dirty="0" err="1"/>
            <a:t>različite</a:t>
          </a:r>
          <a:r>
            <a:rPr lang="en-US" sz="1700" kern="1200" dirty="0"/>
            <a:t> CNN </a:t>
          </a:r>
          <a:r>
            <a:rPr lang="en-US" sz="1700" kern="1200" dirty="0" err="1"/>
            <a:t>arhitekture</a:t>
          </a:r>
          <a:r>
            <a:rPr lang="en-US" sz="1700" kern="1200" dirty="0"/>
            <a:t> </a:t>
          </a:r>
          <a:r>
            <a:rPr lang="en-US" sz="1700" kern="1200" dirty="0" err="1"/>
            <a:t>i</a:t>
          </a:r>
          <a:r>
            <a:rPr lang="en-US" sz="1700" kern="1200" dirty="0"/>
            <a:t> </a:t>
          </a:r>
          <a:r>
            <a:rPr lang="en-US" sz="1700" kern="1200" dirty="0" err="1"/>
            <a:t>zadatke</a:t>
          </a:r>
          <a:endParaRPr lang="en-US" sz="1700" kern="1200" dirty="0"/>
        </a:p>
        <a:p>
          <a:pPr marL="171450" lvl="1" indent="-171450" algn="l" defTabSz="755650">
            <a:lnSpc>
              <a:spcPct val="90000"/>
            </a:lnSpc>
            <a:spcBef>
              <a:spcPct val="0"/>
            </a:spcBef>
            <a:spcAft>
              <a:spcPct val="15000"/>
            </a:spcAft>
            <a:buChar char="•"/>
          </a:pPr>
          <a:r>
            <a:rPr lang="en-US" sz="1700" kern="1200" dirty="0" err="1"/>
            <a:t>Može</a:t>
          </a:r>
          <a:r>
            <a:rPr lang="en-US" sz="1700" kern="1200" dirty="0"/>
            <a:t> se </a:t>
          </a:r>
          <a:r>
            <a:rPr lang="en-US" sz="1700" kern="1200" dirty="0" err="1"/>
            <a:t>kombinovati</a:t>
          </a:r>
          <a:r>
            <a:rPr lang="en-US" sz="1700" kern="1200" dirty="0"/>
            <a:t> </a:t>
          </a:r>
          <a:r>
            <a:rPr lang="en-US" sz="1700" kern="1200" dirty="0" err="1"/>
            <a:t>sa</a:t>
          </a:r>
          <a:r>
            <a:rPr lang="en-US" sz="1700" kern="1200" dirty="0"/>
            <a:t> </a:t>
          </a:r>
          <a:r>
            <a:rPr lang="en-US" sz="1700" kern="1200" dirty="0" err="1"/>
            <a:t>drugim</a:t>
          </a:r>
          <a:r>
            <a:rPr lang="en-US" sz="1700" kern="1200" dirty="0"/>
            <a:t> XAI </a:t>
          </a:r>
          <a:r>
            <a:rPr lang="en-US" sz="1700" kern="1200" dirty="0" err="1"/>
            <a:t>metodama</a:t>
          </a:r>
          <a:r>
            <a:rPr lang="en-US" sz="1700" kern="1200" dirty="0"/>
            <a:t> za </a:t>
          </a:r>
          <a:r>
            <a:rPr lang="en-US" sz="1700" kern="1200" dirty="0" err="1"/>
            <a:t>dobijanje</a:t>
          </a:r>
          <a:r>
            <a:rPr lang="en-US" sz="1700" kern="1200" dirty="0"/>
            <a:t> </a:t>
          </a:r>
          <a:r>
            <a:rPr lang="en-US" sz="1700" kern="1200" dirty="0" err="1"/>
            <a:t>detaljnijih</a:t>
          </a:r>
          <a:r>
            <a:rPr lang="en-US" sz="1700" kern="1200" dirty="0"/>
            <a:t> </a:t>
          </a:r>
          <a:r>
            <a:rPr lang="en-US" sz="1700" kern="1200" dirty="0" err="1"/>
            <a:t>vizualizacija</a:t>
          </a:r>
          <a:endParaRPr lang="en-US" sz="1700" kern="1200" dirty="0"/>
        </a:p>
        <a:p>
          <a:pPr marL="171450" lvl="1" indent="-171450" algn="l" defTabSz="755650">
            <a:lnSpc>
              <a:spcPct val="90000"/>
            </a:lnSpc>
            <a:spcBef>
              <a:spcPct val="0"/>
            </a:spcBef>
            <a:spcAft>
              <a:spcPct val="15000"/>
            </a:spcAft>
            <a:buFont typeface="Arial" panose="020B0604020202020204" pitchFamily="34" charset="0"/>
            <a:buChar char="•"/>
          </a:pPr>
          <a:r>
            <a:rPr lang="en-US" sz="1700" kern="1200" dirty="0" err="1"/>
            <a:t>Primena</a:t>
          </a:r>
          <a:r>
            <a:rPr lang="en-US" sz="1700" kern="1200" dirty="0"/>
            <a:t> </a:t>
          </a:r>
          <a:r>
            <a:rPr lang="en-US" sz="1700" kern="1200" dirty="0" err="1"/>
            <a:t>nije</a:t>
          </a:r>
          <a:r>
            <a:rPr lang="en-US" sz="1700" kern="1200" dirty="0"/>
            <a:t> </a:t>
          </a:r>
          <a:r>
            <a:rPr lang="en-US" sz="1700" kern="1200" dirty="0" err="1"/>
            <a:t>ograničena</a:t>
          </a:r>
          <a:r>
            <a:rPr lang="en-US" sz="1700" kern="1200" dirty="0"/>
            <a:t> </a:t>
          </a:r>
          <a:r>
            <a:rPr lang="en-US" sz="1700" kern="1200" dirty="0" err="1"/>
            <a:t>samo</a:t>
          </a:r>
          <a:r>
            <a:rPr lang="en-US" sz="1700" kern="1200" dirty="0"/>
            <a:t> </a:t>
          </a:r>
          <a:r>
            <a:rPr lang="en-US" sz="1700" kern="1200" dirty="0" err="1"/>
            <a:t>na</a:t>
          </a:r>
          <a:r>
            <a:rPr lang="en-US" sz="1700" kern="1200" dirty="0"/>
            <a:t> </a:t>
          </a:r>
          <a:r>
            <a:rPr lang="en-US" sz="1700" kern="1200" dirty="0" err="1"/>
            <a:t>klasifikaciju</a:t>
          </a:r>
          <a:r>
            <a:rPr lang="en-US" sz="1700" kern="1200" dirty="0"/>
            <a:t> </a:t>
          </a:r>
          <a:r>
            <a:rPr lang="en-US" sz="1700" kern="1200" dirty="0" err="1"/>
            <a:t>slika</a:t>
          </a:r>
          <a:r>
            <a:rPr lang="en-US" sz="1700" kern="1200" dirty="0"/>
            <a:t>(</a:t>
          </a:r>
          <a:r>
            <a:rPr lang="en-US" sz="1700" kern="1200" dirty="0" err="1"/>
            <a:t>Koristi</a:t>
          </a:r>
          <a:r>
            <a:rPr lang="en-US" sz="1700" kern="1200" dirty="0"/>
            <a:t> se </a:t>
          </a:r>
          <a:r>
            <a:rPr lang="en-US" sz="1700" kern="1200" dirty="0" err="1"/>
            <a:t>i</a:t>
          </a:r>
          <a:r>
            <a:rPr lang="en-US" sz="1700" kern="1200" dirty="0"/>
            <a:t> za VQA, image captioning, </a:t>
          </a:r>
          <a:r>
            <a:rPr lang="en-US" sz="1700" kern="1200" dirty="0" err="1"/>
            <a:t>itd</a:t>
          </a:r>
          <a:r>
            <a:rPr lang="en-US" sz="1700" kern="1200" dirty="0"/>
            <a:t>)</a:t>
          </a:r>
        </a:p>
      </dsp:txBody>
      <dsp:txXfrm>
        <a:off x="0" y="363677"/>
        <a:ext cx="10927829" cy="1552950"/>
      </dsp:txXfrm>
    </dsp:sp>
    <dsp:sp modelId="{9B98A6A3-90CD-3D4B-BE48-97B594B541C8}">
      <dsp:nvSpPr>
        <dsp:cNvPr id="0" name=""/>
        <dsp:cNvSpPr/>
      </dsp:nvSpPr>
      <dsp:spPr>
        <a:xfrm>
          <a:off x="546391" y="112757"/>
          <a:ext cx="7649480" cy="5018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755650">
            <a:lnSpc>
              <a:spcPct val="90000"/>
            </a:lnSpc>
            <a:spcBef>
              <a:spcPct val="0"/>
            </a:spcBef>
            <a:spcAft>
              <a:spcPct val="35000"/>
            </a:spcAft>
            <a:buNone/>
          </a:pPr>
          <a:r>
            <a:rPr lang="en-US" sz="1700" kern="1200" dirty="0" err="1"/>
            <a:t>Prednosti</a:t>
          </a:r>
          <a:endParaRPr lang="en-US" sz="1700" kern="1200" dirty="0"/>
        </a:p>
      </dsp:txBody>
      <dsp:txXfrm>
        <a:off x="570889" y="137255"/>
        <a:ext cx="7600484" cy="452844"/>
      </dsp:txXfrm>
    </dsp:sp>
    <dsp:sp modelId="{6F7E9405-A564-6645-916F-51C9BB9AFCAA}">
      <dsp:nvSpPr>
        <dsp:cNvPr id="0" name=""/>
        <dsp:cNvSpPr/>
      </dsp:nvSpPr>
      <dsp:spPr>
        <a:xfrm>
          <a:off x="0" y="2259347"/>
          <a:ext cx="10927829" cy="18207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354076" rIns="848121"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err="1"/>
            <a:t>Generiše</a:t>
          </a:r>
          <a:r>
            <a:rPr lang="en-US" sz="1700" kern="1200" dirty="0"/>
            <a:t> </a:t>
          </a:r>
          <a:r>
            <a:rPr lang="en-US" sz="1700" kern="1200" dirty="0" err="1"/>
            <a:t>heatmape</a:t>
          </a:r>
          <a:r>
            <a:rPr lang="en-US" sz="1700" kern="1200" dirty="0"/>
            <a:t> </a:t>
          </a:r>
          <a:r>
            <a:rPr lang="en-US" sz="1700" kern="1200" dirty="0" err="1"/>
            <a:t>niske</a:t>
          </a:r>
          <a:r>
            <a:rPr lang="en-US" sz="1700" kern="1200" dirty="0"/>
            <a:t> </a:t>
          </a:r>
          <a:r>
            <a:rPr lang="en-US" sz="1700" kern="1200" dirty="0" err="1"/>
            <a:t>rezolucije</a:t>
          </a:r>
          <a:r>
            <a:rPr lang="en-US" sz="1700" kern="1200" dirty="0"/>
            <a:t>, </a:t>
          </a:r>
          <a:r>
            <a:rPr lang="en-US" sz="1700" kern="1200" dirty="0" err="1"/>
            <a:t>koje</a:t>
          </a:r>
          <a:r>
            <a:rPr lang="en-US" sz="1700" kern="1200" dirty="0"/>
            <a:t> </a:t>
          </a:r>
          <a:r>
            <a:rPr lang="en-US" sz="1700" kern="1200" dirty="0" err="1"/>
            <a:t>mogu</a:t>
          </a:r>
          <a:r>
            <a:rPr lang="en-US" sz="1700" kern="1200" dirty="0"/>
            <a:t> </a:t>
          </a:r>
          <a:r>
            <a:rPr lang="en-US" sz="1700" kern="1200" dirty="0" err="1"/>
            <a:t>dati</a:t>
          </a:r>
          <a:r>
            <a:rPr lang="en-US" sz="1700" kern="1200" dirty="0"/>
            <a:t> </a:t>
          </a:r>
          <a:r>
            <a:rPr lang="en-US" sz="1700" kern="1200" dirty="0" err="1"/>
            <a:t>nepreciznu</a:t>
          </a:r>
          <a:r>
            <a:rPr lang="en-US" sz="1700" kern="1200" dirty="0"/>
            <a:t> </a:t>
          </a:r>
          <a:r>
            <a:rPr lang="en-US" sz="1700" kern="1200" dirty="0" err="1"/>
            <a:t>ili</a:t>
          </a:r>
          <a:r>
            <a:rPr lang="en-US" sz="1700" kern="1200" dirty="0"/>
            <a:t> </a:t>
          </a:r>
          <a:r>
            <a:rPr lang="en-US" sz="1700" kern="1200" dirty="0" err="1"/>
            <a:t>pogrešnu</a:t>
          </a:r>
          <a:r>
            <a:rPr lang="en-US" sz="1700" kern="1200" dirty="0"/>
            <a:t> </a:t>
          </a:r>
          <a:r>
            <a:rPr lang="en-US" sz="1700" kern="1200" dirty="0" err="1"/>
            <a:t>lokalizaciju</a:t>
          </a:r>
          <a:endParaRPr lang="en-US" sz="1700" kern="1200" dirty="0"/>
        </a:p>
        <a:p>
          <a:pPr marL="171450" lvl="1" indent="-171450" algn="l" defTabSz="755650">
            <a:lnSpc>
              <a:spcPct val="90000"/>
            </a:lnSpc>
            <a:spcBef>
              <a:spcPct val="0"/>
            </a:spcBef>
            <a:spcAft>
              <a:spcPct val="15000"/>
            </a:spcAft>
            <a:buChar char="•"/>
          </a:pPr>
          <a:r>
            <a:rPr lang="en-US" sz="1700" kern="1200" dirty="0" err="1"/>
            <a:t>Rezultate</a:t>
          </a:r>
          <a:r>
            <a:rPr lang="en-US" sz="1700" kern="1200" dirty="0"/>
            <a:t> </a:t>
          </a:r>
          <a:r>
            <a:rPr lang="en-US" sz="1700" kern="1200" dirty="0" err="1"/>
            <a:t>treba</a:t>
          </a:r>
          <a:r>
            <a:rPr lang="en-US" sz="1700" kern="1200" dirty="0"/>
            <a:t> </a:t>
          </a:r>
          <a:r>
            <a:rPr lang="en-US" sz="1700" kern="1200" dirty="0" err="1"/>
            <a:t>pažljivo</a:t>
          </a:r>
          <a:r>
            <a:rPr lang="en-US" sz="1700" kern="1200" dirty="0"/>
            <a:t> </a:t>
          </a:r>
          <a:r>
            <a:rPr lang="en-US" sz="1700" kern="1200" dirty="0" err="1"/>
            <a:t>interpretirati</a:t>
          </a:r>
          <a:r>
            <a:rPr lang="en-US" sz="1700" kern="1200" dirty="0"/>
            <a:t>, </a:t>
          </a:r>
          <a:r>
            <a:rPr lang="en-US" sz="1700" kern="1200" dirty="0" err="1"/>
            <a:t>istaknuti</a:t>
          </a:r>
          <a:r>
            <a:rPr lang="en-US" sz="1700" kern="1200" dirty="0"/>
            <a:t> region ne mora </a:t>
          </a:r>
          <a:r>
            <a:rPr lang="en-US" sz="1700" kern="1200" dirty="0" err="1"/>
            <a:t>nužno</a:t>
          </a:r>
          <a:r>
            <a:rPr lang="en-US" sz="1700" kern="1200" dirty="0"/>
            <a:t> </a:t>
          </a:r>
          <a:r>
            <a:rPr lang="en-US" sz="1700" kern="1200" dirty="0" err="1"/>
            <a:t>biti</a:t>
          </a:r>
          <a:r>
            <a:rPr lang="en-US" sz="1700" kern="1200" dirty="0"/>
            <a:t> </a:t>
          </a:r>
          <a:r>
            <a:rPr lang="en-US" sz="1700" kern="1200" dirty="0" err="1"/>
            <a:t>uzročno</a:t>
          </a:r>
          <a:r>
            <a:rPr lang="en-US" sz="1700" kern="1200" dirty="0"/>
            <a:t> </a:t>
          </a:r>
          <a:r>
            <a:rPr lang="en-US" sz="1700" kern="1200" dirty="0" err="1"/>
            <a:t>odgovoran</a:t>
          </a:r>
          <a:r>
            <a:rPr lang="en-US" sz="1700" kern="1200" dirty="0"/>
            <a:t> za </a:t>
          </a:r>
          <a:r>
            <a:rPr lang="en-US" sz="1700" kern="1200" dirty="0" err="1"/>
            <a:t>odluku</a:t>
          </a:r>
          <a:endParaRPr lang="en-US" sz="1700" kern="1200" dirty="0"/>
        </a:p>
        <a:p>
          <a:pPr marL="171450" lvl="1" indent="-171450" algn="l" defTabSz="755650">
            <a:lnSpc>
              <a:spcPct val="90000"/>
            </a:lnSpc>
            <a:spcBef>
              <a:spcPct val="0"/>
            </a:spcBef>
            <a:spcAft>
              <a:spcPct val="15000"/>
            </a:spcAft>
            <a:buChar char="•"/>
          </a:pPr>
          <a:r>
            <a:rPr lang="en-US" sz="1700" kern="1200" dirty="0" err="1"/>
            <a:t>Može</a:t>
          </a:r>
          <a:r>
            <a:rPr lang="en-US" sz="1700" kern="1200" dirty="0"/>
            <a:t> </a:t>
          </a:r>
          <a:r>
            <a:rPr lang="en-US" sz="1700" kern="1200" dirty="0" err="1"/>
            <a:t>imati</a:t>
          </a:r>
          <a:r>
            <a:rPr lang="en-US" sz="1700" kern="1200" dirty="0"/>
            <a:t> </a:t>
          </a:r>
          <a:r>
            <a:rPr lang="en-US" sz="1700" kern="1200" dirty="0" err="1"/>
            <a:t>slabije</a:t>
          </a:r>
          <a:r>
            <a:rPr lang="en-US" sz="1700" kern="1200" dirty="0"/>
            <a:t> </a:t>
          </a:r>
          <a:r>
            <a:rPr lang="en-US" sz="1700" kern="1200" dirty="0" err="1"/>
            <a:t>rezultate</a:t>
          </a:r>
          <a:r>
            <a:rPr lang="en-US" sz="1700" kern="1200" dirty="0"/>
            <a:t> </a:t>
          </a:r>
          <a:r>
            <a:rPr lang="en-US" sz="1700" kern="1200" dirty="0" err="1"/>
            <a:t>kod</a:t>
          </a:r>
          <a:r>
            <a:rPr lang="en-US" sz="1700" kern="1200" dirty="0"/>
            <a:t> </a:t>
          </a:r>
          <a:r>
            <a:rPr lang="en-US" sz="1700" kern="1200" dirty="0" err="1"/>
            <a:t>problema</a:t>
          </a:r>
          <a:r>
            <a:rPr lang="en-US" sz="1700" kern="1200" dirty="0"/>
            <a:t> </a:t>
          </a:r>
          <a:r>
            <a:rPr lang="en-US" sz="1700" kern="1200" dirty="0" err="1"/>
            <a:t>sa</a:t>
          </a:r>
          <a:r>
            <a:rPr lang="en-US" sz="1700" kern="1200" dirty="0"/>
            <a:t> </a:t>
          </a:r>
          <a:r>
            <a:rPr lang="en-US" sz="1700" kern="1200" dirty="0" err="1"/>
            <a:t>velikim</a:t>
          </a:r>
          <a:r>
            <a:rPr lang="en-US" sz="1700" kern="1200" dirty="0"/>
            <a:t> </a:t>
          </a:r>
          <a:r>
            <a:rPr lang="en-US" sz="1700" kern="1200" dirty="0" err="1"/>
            <a:t>brojem</a:t>
          </a:r>
          <a:r>
            <a:rPr lang="en-US" sz="1700" kern="1200" dirty="0"/>
            <a:t> </a:t>
          </a:r>
          <a:r>
            <a:rPr lang="en-US" sz="1700" kern="1200" dirty="0" err="1"/>
            <a:t>klasa</a:t>
          </a:r>
          <a:endParaRPr lang="en-US" sz="1700" kern="1200" dirty="0"/>
        </a:p>
        <a:p>
          <a:pPr marL="171450" lvl="1" indent="-171450" algn="l" defTabSz="755650">
            <a:lnSpc>
              <a:spcPct val="90000"/>
            </a:lnSpc>
            <a:spcBef>
              <a:spcPct val="0"/>
            </a:spcBef>
            <a:spcAft>
              <a:spcPct val="15000"/>
            </a:spcAft>
            <a:buChar char="•"/>
          </a:pPr>
          <a:r>
            <a:rPr lang="en-US" sz="1700" kern="1200" dirty="0"/>
            <a:t>Može </a:t>
          </a:r>
          <a:r>
            <a:rPr lang="en-US" sz="1700" kern="1200" dirty="0" err="1"/>
            <a:t>nepouzdano</a:t>
          </a:r>
          <a:r>
            <a:rPr lang="en-US" sz="1700" kern="1200" dirty="0"/>
            <a:t> </a:t>
          </a:r>
          <a:r>
            <a:rPr lang="en-US" sz="1700" kern="1200" dirty="0" err="1"/>
            <a:t>lokalizovati</a:t>
          </a:r>
          <a:r>
            <a:rPr lang="en-US" sz="1700" kern="1200" dirty="0"/>
            <a:t> </a:t>
          </a:r>
          <a:r>
            <a:rPr lang="en-US" sz="1700" kern="1200" dirty="0" err="1"/>
            <a:t>objekte</a:t>
          </a:r>
          <a:r>
            <a:rPr lang="en-US" sz="1700" kern="1200" dirty="0"/>
            <a:t> </a:t>
          </a:r>
          <a:r>
            <a:rPr lang="en-US" sz="1700" kern="1200" dirty="0" err="1"/>
            <a:t>kada</a:t>
          </a:r>
          <a:r>
            <a:rPr lang="en-US" sz="1700" kern="1200" dirty="0"/>
            <a:t> se </a:t>
          </a:r>
          <a:r>
            <a:rPr lang="en-US" sz="1700" kern="1200" dirty="0" err="1"/>
            <a:t>na</a:t>
          </a:r>
          <a:r>
            <a:rPr lang="en-US" sz="1700" kern="1200" dirty="0"/>
            <a:t> </a:t>
          </a:r>
          <a:r>
            <a:rPr lang="en-US" sz="1700" kern="1200" dirty="0" err="1"/>
            <a:t>slici</a:t>
          </a:r>
          <a:r>
            <a:rPr lang="en-US" sz="1700" kern="1200" dirty="0"/>
            <a:t> </a:t>
          </a:r>
          <a:r>
            <a:rPr lang="en-US" sz="1700" kern="1200" dirty="0" err="1"/>
            <a:t>nalazi</a:t>
          </a:r>
          <a:r>
            <a:rPr lang="en-US" sz="1700" kern="1200" dirty="0"/>
            <a:t> </a:t>
          </a:r>
          <a:r>
            <a:rPr lang="en-US" sz="1700" kern="1200" dirty="0" err="1"/>
            <a:t>više</a:t>
          </a:r>
          <a:r>
            <a:rPr lang="en-US" sz="1700" kern="1200" dirty="0"/>
            <a:t> </a:t>
          </a:r>
          <a:r>
            <a:rPr lang="en-US" sz="1700" kern="1200" dirty="0" err="1"/>
            <a:t>objekata</a:t>
          </a:r>
          <a:r>
            <a:rPr lang="en-US" sz="1700" kern="1200" dirty="0"/>
            <a:t> </a:t>
          </a:r>
          <a:r>
            <a:rPr lang="en-US" sz="1700" kern="1200" dirty="0" err="1"/>
            <a:t>iste</a:t>
          </a:r>
          <a:r>
            <a:rPr lang="en-US" sz="1700" kern="1200" dirty="0"/>
            <a:t> </a:t>
          </a:r>
          <a:r>
            <a:rPr lang="en-US" sz="1700" kern="1200" dirty="0" err="1"/>
            <a:t>klase</a:t>
          </a:r>
          <a:endParaRPr lang="en-US" sz="1700" kern="1200" dirty="0"/>
        </a:p>
      </dsp:txBody>
      <dsp:txXfrm>
        <a:off x="0" y="2259347"/>
        <a:ext cx="10927829" cy="1820700"/>
      </dsp:txXfrm>
    </dsp:sp>
    <dsp:sp modelId="{78CC3A52-C39C-534B-826F-0817987B6135}">
      <dsp:nvSpPr>
        <dsp:cNvPr id="0" name=""/>
        <dsp:cNvSpPr/>
      </dsp:nvSpPr>
      <dsp:spPr>
        <a:xfrm>
          <a:off x="546391" y="2008427"/>
          <a:ext cx="7649480" cy="5018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755650">
            <a:lnSpc>
              <a:spcPct val="90000"/>
            </a:lnSpc>
            <a:spcBef>
              <a:spcPct val="0"/>
            </a:spcBef>
            <a:spcAft>
              <a:spcPct val="35000"/>
            </a:spcAft>
            <a:buNone/>
          </a:pPr>
          <a:r>
            <a:rPr lang="en-US" sz="1700" kern="1200" dirty="0"/>
            <a:t>Mane</a:t>
          </a:r>
        </a:p>
      </dsp:txBody>
      <dsp:txXfrm>
        <a:off x="570889" y="2032925"/>
        <a:ext cx="7600484" cy="452844"/>
      </dsp:txXfrm>
    </dsp:sp>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26/layout/SmallDotsHorizontal">
  <dgm:title val=""/>
  <dgm:desc val=""/>
  <dgm:catLst>
    <dgm:cat type="timeline" pri="107"/>
  </dgm:catLst>
  <dgm:sampData>
    <dgm:dataModel>
      <dgm:ptLst>
        <dgm:pt modelId="0" type="doc"/>
        <dgm:pt modelId="100">
          <dgm:prSet phldrT="Title" phldr="1"/>
        </dgm:pt>
        <dgm:pt modelId="101">
          <dgm:prSet phldrT="Description" phldr="1"/>
        </dgm:pt>
        <dgm:pt modelId="200">
          <dgm:prSet phldrT="Title" phldr="1"/>
        </dgm:pt>
        <dgm:pt modelId="201">
          <dgm:prSet phldrT="Description" phldr="1"/>
        </dgm:pt>
        <dgm:pt modelId="300">
          <dgm:prSet phldrT="Title" phldr="1"/>
        </dgm:pt>
        <dgm:pt modelId="301">
          <dgm:prSet phldrT="Description" phldr="1"/>
        </dgm:pt>
        <dgm:pt modelId="400">
          <dgm:prSet phldrT="Title" phldr="1"/>
        </dgm:pt>
        <dgm:pt modelId="401">
          <dgm:prSet phldrT="Description" phldr="1"/>
        </dgm:pt>
      </dgm:ptLst>
      <dgm:cxnLst>
        <dgm:cxn modelId="1000" srcId="0" destId="100" srcOrd="0" destOrd="0"/>
        <dgm:cxn modelId="1001" srcId="100" destId="101" srcOrd="0" destOrd="0"/>
        <dgm:cxn modelId="2000" srcId="0" destId="200" srcOrd="1" destOrd="0"/>
        <dgm:cxn modelId="2001" srcId="200" destId="201" srcOrd="0" destOrd="0"/>
        <dgm:cxn modelId="3000" srcId="0" destId="300" srcOrd="2" destOrd="0"/>
        <dgm:cxn modelId="3001" srcId="300" destId="301" srcOrd="0" destOrd="0"/>
        <dgm:cxn modelId="4000" srcId="0" destId="400" srcOrd="3" destOrd="0"/>
        <dgm:cxn modelId="4001" srcId="400" destId="401" srcOrd="0" destOrd="0"/>
      </dgm:cxn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composite"/>
    <dgm:shape xmlns:r="http://schemas.openxmlformats.org/officeDocument/2006/relationships" r:blip="">
      <dgm:adjLst/>
    </dgm:shape>
    <dgm:presOf/>
    <dgm:constrLst>
      <dgm:constr type="l" for="ch" forName="connLine" refType="w" fact="0.02"/>
      <dgm:constr type="w" for="ch" forName="connLine" refType="w" fact="0.96"/>
      <dgm:constr type="ctrY" for="ch" forName="connLine" refType="h" fact="0.48"/>
      <dgm:constr type="h" for="ch" forName="connLine" refType="w" fact="0.002"/>
      <dgm:constr type="l" for="ch" forName="itemsFlow" refType="w" fact="0.02"/>
      <dgm:constr type="w" for="ch" forName="itemsFlow" refType="w" fact="0.96"/>
      <dgm:constr type="t" for="ch" forName="itemsFlow"/>
      <dgm:constr type="h" for="ch" forName="itemsFlow" refType="h"/>
    </dgm:constrLst>
    <dgm:ruleLst/>
    <dgm:layoutNode name="connLine"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itemsFlow">
      <dgm:choose name="dirChoose">
        <dgm:if name="dirNorm" func="var" arg="dir" op="equ" val="norm">
          <dgm:alg type="lin">
            <dgm:param type="linDir" val="fromL"/>
            <dgm:param type="fallback" val="1D"/>
          </dgm:alg>
        </dgm:if>
        <dgm:else name="dirRev">
          <dgm:alg type="lin">
            <dgm:param type="linDir" val="fromR"/>
            <dgm:param type="fallback" val="1D"/>
          </dgm:alg>
        </dgm:else>
      </dgm:choose>
      <dgm:shape xmlns:r="http://schemas.openxmlformats.org/officeDocument/2006/relationships" r:blip="">
        <dgm:adjLst/>
      </dgm:shape>
      <dgm:presOf/>
      <dgm:constrLst>
        <dgm:constr type="h" for="ch" forName="item" refType="h"/>
        <dgm:constr type="w" for="ch" forName="item" refType="w"/>
        <dgm:constr type="w" for="ch" forName="spacer" refType="w" refFor="ch" refForName="item" fact="0.05"/>
        <dgm:constr type="primFontSz" for="des" forName="titleText" op="equ"/>
        <dgm:constr type="primFontSz" for="des" forName="descText" op="equ"/>
      </dgm:constrLst>
      <dgm:ruleLst/>
      <dgm:forEach name="nodesForEach" axis="ch" ptType="node">
        <dgm:layoutNode name="item">
          <dgm:alg type="composite"/>
          <dgm:shape xmlns:r="http://schemas.openxmlformats.org/officeDocument/2006/relationships" r:blip="">
            <dgm:adjLst/>
          </dgm:shape>
          <dgm:presOf/>
          <dgm:constrLst>
            <dgm:constr type="l" for="ch" forName="anchor"/>
            <dgm:constr type="t" for="ch" forName="anchor"/>
            <dgm:constr type="w" for="ch" forName="anchor" refType="w"/>
            <dgm:constr type="h" for="ch" forName="anchor" refType="h"/>
            <dgm:constr type="l" for="ch" forName="titleText"/>
            <dgm:constr type="t" for="ch" forName="titleText" refType="h" fact="0.098"/>
            <dgm:constr type="w" for="ch" forName="titleText" refType="w"/>
            <dgm:constr type="h" for="ch" forName="titleText" refType="h" fact="0.306"/>
            <dgm:constr type="ctrX" for="ch" forName="dot" refType="w" fact="0.5"/>
            <dgm:constr type="ctrY" for="ch" forName="dot" refType="h" fact="0.48"/>
            <dgm:constr type="w" for="ch" forName="dot" refType="h" fact="0.036"/>
            <dgm:constr type="h" for="ch" forName="dot" refType="h" fact="0.036"/>
            <dgm:constr type="l" for="ch" forName="descText"/>
            <dgm:constr type="t" for="ch" forName="descText" refType="h" fact="0.557"/>
            <dgm:constr type="w" for="ch" forName="descText" refType="w"/>
            <dgm:constr type="h" for="ch" forName="descText" refType="h" fact="0.443"/>
          </dgm:constrLst>
          <dgm:ruleLst/>
          <dgm:layoutNode name="anchor">
            <dgm:alg type="sp"/>
            <dgm:shape xmlns:r="http://schemas.openxmlformats.org/officeDocument/2006/relationships" r:blip="">
              <dgm:adjLst/>
            </dgm:shape>
            <dgm:presOf/>
            <dgm:constrLst/>
            <dgm:ruleLst/>
          </dgm:layoutNode>
          <dgm:layoutNode name="titleText" styleLbl="revTx">
            <dgm:varLst>
              <dgm:chMax val="0"/>
              <dgm:chPref val="0"/>
            </dgm:varLst>
            <dgm:alg type="tx">
              <dgm:param type="txAnchorVert" val="b"/>
              <dgm:param type="parTxLTRAlign" val="ctr"/>
              <dgm:param type="parTxRTLAlign" val="ctr"/>
            </dgm:alg>
            <dgm:shape xmlns:r="http://schemas.openxmlformats.org/officeDocument/2006/relationships" type="rect" r:blip="" hideGeom="1">
              <dgm:adjLst/>
            </dgm:shape>
            <dgm:presOf axis="self" ptType="node"/>
            <dgm:constrLst>
              <dgm:constr type="primFontSz" val="28"/>
              <dgm:constr type="lMarg" refType="primFontSz" fact="0.1"/>
              <dgm:constr type="rMarg" refType="primFontSz" fact="0.1"/>
              <dgm:constr type="tMarg" refType="primFontSz" fact="0.05"/>
              <dgm:constr type="bMarg" refType="primFontSz" fact="0.05"/>
            </dgm:constrLst>
            <dgm:ruleLst>
              <dgm:rule type="primFontSz" val="8" fact="NaN" max="NaN"/>
            </dgm:ruleLst>
          </dgm:layoutNode>
          <dgm:layoutNode name="dot" styleLbl="node1">
            <dgm:alg type="sp"/>
            <dgm:shape xmlns:r="http://schemas.openxmlformats.org/officeDocument/2006/relationships" type="ellipse" r:blip="">
              <dgm:adjLst/>
            </dgm:shape>
            <dgm:presOf/>
            <dgm:constrLst/>
            <dgm:ruleLst/>
          </dgm:layoutNode>
          <dgm:layoutNode name="descText" styleLbl="revTx">
            <dgm:varLst>
              <dgm:chMax val="0"/>
              <dgm:chPref val="0"/>
            </dgm:varLst>
            <dgm:alg type="tx">
              <dgm:param type="txAnchorVert" val="t"/>
              <dgm:param type="parTxLTRAlign" val="ctr"/>
              <dgm:param type="parTxRTLAlign" val="ctr"/>
            </dgm:alg>
            <dgm:shape xmlns:r="http://schemas.openxmlformats.org/officeDocument/2006/relationships" type="rect" r:blip="" hideGeom="1">
              <dgm:adjLst/>
            </dgm:shape>
            <dgm:presOf axis="des" ptType="node"/>
            <dgm:constrLst>
              <dgm:constr type="secFontSz" val="18"/>
              <dgm:constr type="primFontSz" refType="secFontSz"/>
              <dgm:constr type="lMarg" refType="primFontSz" fact="0.1"/>
              <dgm:constr type="rMarg" refType="primFontSz" fact="0.1"/>
              <dgm:constr type="tMarg" refType="primFontSz" fact="0.05"/>
              <dgm:constr type="bMarg" refType="primFontSz" fact="0.05"/>
            </dgm:constrLst>
            <dgm:ruleLst>
              <dgm:rule type="primFontSz" val="7" fact="NaN" max="NaN"/>
            </dgm:ruleLst>
          </dgm:layoutNode>
        </dgm:layoutNode>
        <dgm:forEach name="sibTransForEach" axis="followSib" ptType="sibTrans" cnt="1">
          <dgm:layoutNode name="spacer">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solidFill>
              <a:schemeClr val="accent1"/>
            </a:solidFill>
          </a:defRPr>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35B30-0AC1-7CED-DFCC-7325EBC19F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06D795-3D58-5B8A-FB57-00F8D6592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05EF45-24B7-E091-04FF-7088A29330DA}"/>
              </a:ext>
            </a:extLst>
          </p:cNvPr>
          <p:cNvSpPr>
            <a:spLocks noGrp="1"/>
          </p:cNvSpPr>
          <p:nvPr>
            <p:ph type="dt" sz="half" idx="10"/>
          </p:nvPr>
        </p:nvSpPr>
        <p:spPr/>
        <p:txBody>
          <a:bodyPr/>
          <a:lstStyle/>
          <a:p>
            <a:fld id="{43697B0F-C607-E14C-B36C-6836FEAB3217}" type="datetimeFigureOut">
              <a:rPr lang="en-US" smtClean="0"/>
              <a:t>9/23/26</a:t>
            </a:fld>
            <a:endParaRPr lang="en-US"/>
          </a:p>
        </p:txBody>
      </p:sp>
      <p:sp>
        <p:nvSpPr>
          <p:cNvPr id="5" name="Footer Placeholder 4">
            <a:extLst>
              <a:ext uri="{FF2B5EF4-FFF2-40B4-BE49-F238E27FC236}">
                <a16:creationId xmlns:a16="http://schemas.microsoft.com/office/drawing/2014/main" id="{26FCC56C-8F07-5950-B3E9-51FA9022AB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03D279-152E-A81B-985B-5ED45BF5B309}"/>
              </a:ext>
            </a:extLst>
          </p:cNvPr>
          <p:cNvSpPr>
            <a:spLocks noGrp="1"/>
          </p:cNvSpPr>
          <p:nvPr>
            <p:ph type="sldNum" sz="quarter" idx="12"/>
          </p:nvPr>
        </p:nvSpPr>
        <p:spPr/>
        <p:txBody>
          <a:bodyPr/>
          <a:lstStyle/>
          <a:p>
            <a:fld id="{8F677BA9-7140-FF4B-A7E3-E6B2E2C988A5}" type="slidenum">
              <a:rPr lang="en-US" smtClean="0"/>
              <a:t>‹#›</a:t>
            </a:fld>
            <a:endParaRPr lang="en-US"/>
          </a:p>
        </p:txBody>
      </p:sp>
    </p:spTree>
    <p:extLst>
      <p:ext uri="{BB962C8B-B14F-4D97-AF65-F5344CB8AC3E}">
        <p14:creationId xmlns:p14="http://schemas.microsoft.com/office/powerpoint/2010/main" val="2732987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92779-0993-606C-90DA-4B5BAD9BAE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902E75-A276-23BE-5981-4046892747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863E86-CE87-612E-D5DF-1A7D5B570CDD}"/>
              </a:ext>
            </a:extLst>
          </p:cNvPr>
          <p:cNvSpPr>
            <a:spLocks noGrp="1"/>
          </p:cNvSpPr>
          <p:nvPr>
            <p:ph type="dt" sz="half" idx="10"/>
          </p:nvPr>
        </p:nvSpPr>
        <p:spPr/>
        <p:txBody>
          <a:bodyPr/>
          <a:lstStyle/>
          <a:p>
            <a:fld id="{43697B0F-C607-E14C-B36C-6836FEAB3217}" type="datetimeFigureOut">
              <a:rPr lang="en-US" smtClean="0"/>
              <a:t>9/23/26</a:t>
            </a:fld>
            <a:endParaRPr lang="en-US"/>
          </a:p>
        </p:txBody>
      </p:sp>
      <p:sp>
        <p:nvSpPr>
          <p:cNvPr id="5" name="Footer Placeholder 4">
            <a:extLst>
              <a:ext uri="{FF2B5EF4-FFF2-40B4-BE49-F238E27FC236}">
                <a16:creationId xmlns:a16="http://schemas.microsoft.com/office/drawing/2014/main" id="{50843A8D-1BB1-DBC5-054D-AEA2C7CEB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CF239-8804-562C-1FC7-E33BE6C0EA7C}"/>
              </a:ext>
            </a:extLst>
          </p:cNvPr>
          <p:cNvSpPr>
            <a:spLocks noGrp="1"/>
          </p:cNvSpPr>
          <p:nvPr>
            <p:ph type="sldNum" sz="quarter" idx="12"/>
          </p:nvPr>
        </p:nvSpPr>
        <p:spPr/>
        <p:txBody>
          <a:bodyPr/>
          <a:lstStyle/>
          <a:p>
            <a:fld id="{8F677BA9-7140-FF4B-A7E3-E6B2E2C988A5}" type="slidenum">
              <a:rPr lang="en-US" smtClean="0"/>
              <a:t>‹#›</a:t>
            </a:fld>
            <a:endParaRPr lang="en-US"/>
          </a:p>
        </p:txBody>
      </p:sp>
    </p:spTree>
    <p:extLst>
      <p:ext uri="{BB962C8B-B14F-4D97-AF65-F5344CB8AC3E}">
        <p14:creationId xmlns:p14="http://schemas.microsoft.com/office/powerpoint/2010/main" val="3209532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BC9BE-9A63-ABF3-D0F3-BE8EBA9420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F980A7-67A6-6881-504C-8E6DEF1874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2BF1DC-966E-B23C-7B45-36E5A592C2F2}"/>
              </a:ext>
            </a:extLst>
          </p:cNvPr>
          <p:cNvSpPr>
            <a:spLocks noGrp="1"/>
          </p:cNvSpPr>
          <p:nvPr>
            <p:ph type="dt" sz="half" idx="10"/>
          </p:nvPr>
        </p:nvSpPr>
        <p:spPr/>
        <p:txBody>
          <a:bodyPr/>
          <a:lstStyle/>
          <a:p>
            <a:fld id="{43697B0F-C607-E14C-B36C-6836FEAB3217}" type="datetimeFigureOut">
              <a:rPr lang="en-US" smtClean="0"/>
              <a:t>9/23/26</a:t>
            </a:fld>
            <a:endParaRPr lang="en-US"/>
          </a:p>
        </p:txBody>
      </p:sp>
      <p:sp>
        <p:nvSpPr>
          <p:cNvPr id="5" name="Footer Placeholder 4">
            <a:extLst>
              <a:ext uri="{FF2B5EF4-FFF2-40B4-BE49-F238E27FC236}">
                <a16:creationId xmlns:a16="http://schemas.microsoft.com/office/drawing/2014/main" id="{3072BAE9-F1B3-850E-239D-81BC6078B0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3F2F5-D0F4-1A7C-533E-9DC5CD889690}"/>
              </a:ext>
            </a:extLst>
          </p:cNvPr>
          <p:cNvSpPr>
            <a:spLocks noGrp="1"/>
          </p:cNvSpPr>
          <p:nvPr>
            <p:ph type="sldNum" sz="quarter" idx="12"/>
          </p:nvPr>
        </p:nvSpPr>
        <p:spPr/>
        <p:txBody>
          <a:bodyPr/>
          <a:lstStyle/>
          <a:p>
            <a:fld id="{8F677BA9-7140-FF4B-A7E3-E6B2E2C988A5}" type="slidenum">
              <a:rPr lang="en-US" smtClean="0"/>
              <a:t>‹#›</a:t>
            </a:fld>
            <a:endParaRPr lang="en-US"/>
          </a:p>
        </p:txBody>
      </p:sp>
    </p:spTree>
    <p:extLst>
      <p:ext uri="{BB962C8B-B14F-4D97-AF65-F5344CB8AC3E}">
        <p14:creationId xmlns:p14="http://schemas.microsoft.com/office/powerpoint/2010/main" val="2851507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CC17E-545D-CDF8-6977-492C3F47F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AA6556-1A85-A742-645F-EF345048C0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B34F3D-72B6-E1D0-5B23-B25A3F033D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2210D4-2E96-6C32-8E7D-F060CD8B644B}"/>
              </a:ext>
            </a:extLst>
          </p:cNvPr>
          <p:cNvSpPr>
            <a:spLocks noGrp="1"/>
          </p:cNvSpPr>
          <p:nvPr>
            <p:ph type="dt" sz="half" idx="10"/>
          </p:nvPr>
        </p:nvSpPr>
        <p:spPr/>
        <p:txBody>
          <a:bodyPr/>
          <a:lstStyle/>
          <a:p>
            <a:fld id="{43697B0F-C607-E14C-B36C-6836FEAB3217}" type="datetimeFigureOut">
              <a:rPr lang="en-US" smtClean="0"/>
              <a:t>9/23/26</a:t>
            </a:fld>
            <a:endParaRPr lang="en-US"/>
          </a:p>
        </p:txBody>
      </p:sp>
      <p:sp>
        <p:nvSpPr>
          <p:cNvPr id="6" name="Footer Placeholder 5">
            <a:extLst>
              <a:ext uri="{FF2B5EF4-FFF2-40B4-BE49-F238E27FC236}">
                <a16:creationId xmlns:a16="http://schemas.microsoft.com/office/drawing/2014/main" id="{8214752C-F2B6-B522-AEC7-7351034359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7E9E6A-9DED-75CB-A8F3-FBF8E9784A52}"/>
              </a:ext>
            </a:extLst>
          </p:cNvPr>
          <p:cNvSpPr>
            <a:spLocks noGrp="1"/>
          </p:cNvSpPr>
          <p:nvPr>
            <p:ph type="sldNum" sz="quarter" idx="12"/>
          </p:nvPr>
        </p:nvSpPr>
        <p:spPr/>
        <p:txBody>
          <a:bodyPr/>
          <a:lstStyle/>
          <a:p>
            <a:fld id="{8F677BA9-7140-FF4B-A7E3-E6B2E2C988A5}" type="slidenum">
              <a:rPr lang="en-US" smtClean="0"/>
              <a:t>‹#›</a:t>
            </a:fld>
            <a:endParaRPr lang="en-US"/>
          </a:p>
        </p:txBody>
      </p:sp>
    </p:spTree>
    <p:extLst>
      <p:ext uri="{BB962C8B-B14F-4D97-AF65-F5344CB8AC3E}">
        <p14:creationId xmlns:p14="http://schemas.microsoft.com/office/powerpoint/2010/main" val="2323664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A72A0-B3C1-168B-BCC2-FA708F00D9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242F38-7DEA-6734-D43C-2E8E46ECDE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0B9538-2066-5DCB-F435-9FB69CC539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C3E0AF-B8B4-7EB4-0072-8D2BFE9BD8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25CF7C-3446-0003-B59D-3664C6BDF8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5DE1A2-B5E9-4851-5CBE-A0A3E90D08EE}"/>
              </a:ext>
            </a:extLst>
          </p:cNvPr>
          <p:cNvSpPr>
            <a:spLocks noGrp="1"/>
          </p:cNvSpPr>
          <p:nvPr>
            <p:ph type="dt" sz="half" idx="10"/>
          </p:nvPr>
        </p:nvSpPr>
        <p:spPr/>
        <p:txBody>
          <a:bodyPr/>
          <a:lstStyle/>
          <a:p>
            <a:fld id="{43697B0F-C607-E14C-B36C-6836FEAB3217}" type="datetimeFigureOut">
              <a:rPr lang="en-US" smtClean="0"/>
              <a:t>9/23/26</a:t>
            </a:fld>
            <a:endParaRPr lang="en-US"/>
          </a:p>
        </p:txBody>
      </p:sp>
      <p:sp>
        <p:nvSpPr>
          <p:cNvPr id="8" name="Footer Placeholder 7">
            <a:extLst>
              <a:ext uri="{FF2B5EF4-FFF2-40B4-BE49-F238E27FC236}">
                <a16:creationId xmlns:a16="http://schemas.microsoft.com/office/drawing/2014/main" id="{EE7C6886-09AA-6076-43B7-E0DFE13EEB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F6F119-A0CC-54BB-1590-63B296A2B1E7}"/>
              </a:ext>
            </a:extLst>
          </p:cNvPr>
          <p:cNvSpPr>
            <a:spLocks noGrp="1"/>
          </p:cNvSpPr>
          <p:nvPr>
            <p:ph type="sldNum" sz="quarter" idx="12"/>
          </p:nvPr>
        </p:nvSpPr>
        <p:spPr/>
        <p:txBody>
          <a:bodyPr/>
          <a:lstStyle/>
          <a:p>
            <a:fld id="{8F677BA9-7140-FF4B-A7E3-E6B2E2C988A5}" type="slidenum">
              <a:rPr lang="en-US" smtClean="0"/>
              <a:t>‹#›</a:t>
            </a:fld>
            <a:endParaRPr lang="en-US"/>
          </a:p>
        </p:txBody>
      </p:sp>
    </p:spTree>
    <p:extLst>
      <p:ext uri="{BB962C8B-B14F-4D97-AF65-F5344CB8AC3E}">
        <p14:creationId xmlns:p14="http://schemas.microsoft.com/office/powerpoint/2010/main" val="437598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E36D9-6914-0EC0-C4F1-49704F46F0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58F985-73EA-415F-E476-9840973ACC39}"/>
              </a:ext>
            </a:extLst>
          </p:cNvPr>
          <p:cNvSpPr>
            <a:spLocks noGrp="1"/>
          </p:cNvSpPr>
          <p:nvPr>
            <p:ph type="dt" sz="half" idx="10"/>
          </p:nvPr>
        </p:nvSpPr>
        <p:spPr/>
        <p:txBody>
          <a:bodyPr/>
          <a:lstStyle/>
          <a:p>
            <a:fld id="{43697B0F-C607-E14C-B36C-6836FEAB3217}" type="datetimeFigureOut">
              <a:rPr lang="en-US" smtClean="0"/>
              <a:t>9/23/26</a:t>
            </a:fld>
            <a:endParaRPr lang="en-US"/>
          </a:p>
        </p:txBody>
      </p:sp>
      <p:sp>
        <p:nvSpPr>
          <p:cNvPr id="4" name="Footer Placeholder 3">
            <a:extLst>
              <a:ext uri="{FF2B5EF4-FFF2-40B4-BE49-F238E27FC236}">
                <a16:creationId xmlns:a16="http://schemas.microsoft.com/office/drawing/2014/main" id="{04856737-344E-456C-7C0B-5FAE57450C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8B80218-3A4C-6B8C-B0D3-343A24891C61}"/>
              </a:ext>
            </a:extLst>
          </p:cNvPr>
          <p:cNvSpPr>
            <a:spLocks noGrp="1"/>
          </p:cNvSpPr>
          <p:nvPr>
            <p:ph type="sldNum" sz="quarter" idx="12"/>
          </p:nvPr>
        </p:nvSpPr>
        <p:spPr/>
        <p:txBody>
          <a:bodyPr/>
          <a:lstStyle/>
          <a:p>
            <a:fld id="{8F677BA9-7140-FF4B-A7E3-E6B2E2C988A5}" type="slidenum">
              <a:rPr lang="en-US" smtClean="0"/>
              <a:t>‹#›</a:t>
            </a:fld>
            <a:endParaRPr lang="en-US"/>
          </a:p>
        </p:txBody>
      </p:sp>
    </p:spTree>
    <p:extLst>
      <p:ext uri="{BB962C8B-B14F-4D97-AF65-F5344CB8AC3E}">
        <p14:creationId xmlns:p14="http://schemas.microsoft.com/office/powerpoint/2010/main" val="52788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2DF740-F9E0-C8FE-8B2A-B61E30FCDD83}"/>
              </a:ext>
            </a:extLst>
          </p:cNvPr>
          <p:cNvSpPr>
            <a:spLocks noGrp="1"/>
          </p:cNvSpPr>
          <p:nvPr>
            <p:ph type="dt" sz="half" idx="10"/>
          </p:nvPr>
        </p:nvSpPr>
        <p:spPr/>
        <p:txBody>
          <a:bodyPr/>
          <a:lstStyle/>
          <a:p>
            <a:fld id="{43697B0F-C607-E14C-B36C-6836FEAB3217}" type="datetimeFigureOut">
              <a:rPr lang="en-US" smtClean="0"/>
              <a:t>9/23/26</a:t>
            </a:fld>
            <a:endParaRPr lang="en-US"/>
          </a:p>
        </p:txBody>
      </p:sp>
      <p:sp>
        <p:nvSpPr>
          <p:cNvPr id="3" name="Footer Placeholder 2">
            <a:extLst>
              <a:ext uri="{FF2B5EF4-FFF2-40B4-BE49-F238E27FC236}">
                <a16:creationId xmlns:a16="http://schemas.microsoft.com/office/drawing/2014/main" id="{B384B7FF-AFA8-0018-2569-D2A5574308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CD94CC-BDA4-C931-927A-3B5FD9AA2093}"/>
              </a:ext>
            </a:extLst>
          </p:cNvPr>
          <p:cNvSpPr>
            <a:spLocks noGrp="1"/>
          </p:cNvSpPr>
          <p:nvPr>
            <p:ph type="sldNum" sz="quarter" idx="12"/>
          </p:nvPr>
        </p:nvSpPr>
        <p:spPr/>
        <p:txBody>
          <a:bodyPr/>
          <a:lstStyle/>
          <a:p>
            <a:fld id="{8F677BA9-7140-FF4B-A7E3-E6B2E2C988A5}" type="slidenum">
              <a:rPr lang="en-US" smtClean="0"/>
              <a:t>‹#›</a:t>
            </a:fld>
            <a:endParaRPr lang="en-US"/>
          </a:p>
        </p:txBody>
      </p:sp>
    </p:spTree>
    <p:extLst>
      <p:ext uri="{BB962C8B-B14F-4D97-AF65-F5344CB8AC3E}">
        <p14:creationId xmlns:p14="http://schemas.microsoft.com/office/powerpoint/2010/main" val="2614862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EEE46-44A4-F22B-33A6-110F57CA68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D5A621-657D-30DE-5F73-FFAD691A5D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C959CA-F630-FBD6-E3D2-7600AB31CB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13E3CC-4133-962A-3708-FCFE6E3B78BB}"/>
              </a:ext>
            </a:extLst>
          </p:cNvPr>
          <p:cNvSpPr>
            <a:spLocks noGrp="1"/>
          </p:cNvSpPr>
          <p:nvPr>
            <p:ph type="dt" sz="half" idx="10"/>
          </p:nvPr>
        </p:nvSpPr>
        <p:spPr/>
        <p:txBody>
          <a:bodyPr/>
          <a:lstStyle/>
          <a:p>
            <a:fld id="{43697B0F-C607-E14C-B36C-6836FEAB3217}" type="datetimeFigureOut">
              <a:rPr lang="en-US" smtClean="0"/>
              <a:t>9/23/26</a:t>
            </a:fld>
            <a:endParaRPr lang="en-US"/>
          </a:p>
        </p:txBody>
      </p:sp>
      <p:sp>
        <p:nvSpPr>
          <p:cNvPr id="6" name="Footer Placeholder 5">
            <a:extLst>
              <a:ext uri="{FF2B5EF4-FFF2-40B4-BE49-F238E27FC236}">
                <a16:creationId xmlns:a16="http://schemas.microsoft.com/office/drawing/2014/main" id="{9AC02641-CF23-4FA3-12A8-43F05B9A6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A2D2F9-0D17-F2E4-A2DB-0D166412F091}"/>
              </a:ext>
            </a:extLst>
          </p:cNvPr>
          <p:cNvSpPr>
            <a:spLocks noGrp="1"/>
          </p:cNvSpPr>
          <p:nvPr>
            <p:ph type="sldNum" sz="quarter" idx="12"/>
          </p:nvPr>
        </p:nvSpPr>
        <p:spPr/>
        <p:txBody>
          <a:bodyPr/>
          <a:lstStyle/>
          <a:p>
            <a:fld id="{8F677BA9-7140-FF4B-A7E3-E6B2E2C988A5}" type="slidenum">
              <a:rPr lang="en-US" smtClean="0"/>
              <a:t>‹#›</a:t>
            </a:fld>
            <a:endParaRPr lang="en-US"/>
          </a:p>
        </p:txBody>
      </p:sp>
    </p:spTree>
    <p:extLst>
      <p:ext uri="{BB962C8B-B14F-4D97-AF65-F5344CB8AC3E}">
        <p14:creationId xmlns:p14="http://schemas.microsoft.com/office/powerpoint/2010/main" val="160358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518CF-69FB-915E-5FF2-FEAFFE6E2B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7CE5DF-3F81-4D8F-BB09-EF5296ECD3C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E34F48-0E17-619F-3305-B5683B16A0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317E7B-7E90-7951-45A7-D9280D62DACA}"/>
              </a:ext>
            </a:extLst>
          </p:cNvPr>
          <p:cNvSpPr>
            <a:spLocks noGrp="1"/>
          </p:cNvSpPr>
          <p:nvPr>
            <p:ph type="dt" sz="half" idx="10"/>
          </p:nvPr>
        </p:nvSpPr>
        <p:spPr/>
        <p:txBody>
          <a:bodyPr/>
          <a:lstStyle/>
          <a:p>
            <a:fld id="{43697B0F-C607-E14C-B36C-6836FEAB3217}" type="datetimeFigureOut">
              <a:rPr lang="en-US" smtClean="0"/>
              <a:t>9/23/26</a:t>
            </a:fld>
            <a:endParaRPr lang="en-US"/>
          </a:p>
        </p:txBody>
      </p:sp>
      <p:sp>
        <p:nvSpPr>
          <p:cNvPr id="6" name="Footer Placeholder 5">
            <a:extLst>
              <a:ext uri="{FF2B5EF4-FFF2-40B4-BE49-F238E27FC236}">
                <a16:creationId xmlns:a16="http://schemas.microsoft.com/office/drawing/2014/main" id="{0108A6E9-A54E-C329-4E2A-3749F6DE5B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B360D8-8800-39FF-1D6F-4EB482562646}"/>
              </a:ext>
            </a:extLst>
          </p:cNvPr>
          <p:cNvSpPr>
            <a:spLocks noGrp="1"/>
          </p:cNvSpPr>
          <p:nvPr>
            <p:ph type="sldNum" sz="quarter" idx="12"/>
          </p:nvPr>
        </p:nvSpPr>
        <p:spPr/>
        <p:txBody>
          <a:bodyPr/>
          <a:lstStyle/>
          <a:p>
            <a:fld id="{8F677BA9-7140-FF4B-A7E3-E6B2E2C988A5}" type="slidenum">
              <a:rPr lang="en-US" smtClean="0"/>
              <a:t>‹#›</a:t>
            </a:fld>
            <a:endParaRPr lang="en-US"/>
          </a:p>
        </p:txBody>
      </p:sp>
    </p:spTree>
    <p:extLst>
      <p:ext uri="{BB962C8B-B14F-4D97-AF65-F5344CB8AC3E}">
        <p14:creationId xmlns:p14="http://schemas.microsoft.com/office/powerpoint/2010/main" val="1165264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1803-5997-A7AC-9018-0721854CF1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06D2AC-FE07-AE05-177D-F46BE73313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DD5BED-B4EC-D9FE-6702-5E2FF592B973}"/>
              </a:ext>
            </a:extLst>
          </p:cNvPr>
          <p:cNvSpPr>
            <a:spLocks noGrp="1"/>
          </p:cNvSpPr>
          <p:nvPr>
            <p:ph type="dt" sz="half" idx="10"/>
          </p:nvPr>
        </p:nvSpPr>
        <p:spPr/>
        <p:txBody>
          <a:bodyPr/>
          <a:lstStyle/>
          <a:p>
            <a:fld id="{43697B0F-C607-E14C-B36C-6836FEAB3217}" type="datetimeFigureOut">
              <a:rPr lang="en-US" smtClean="0"/>
              <a:t>9/23/26</a:t>
            </a:fld>
            <a:endParaRPr lang="en-US"/>
          </a:p>
        </p:txBody>
      </p:sp>
      <p:sp>
        <p:nvSpPr>
          <p:cNvPr id="5" name="Footer Placeholder 4">
            <a:extLst>
              <a:ext uri="{FF2B5EF4-FFF2-40B4-BE49-F238E27FC236}">
                <a16:creationId xmlns:a16="http://schemas.microsoft.com/office/drawing/2014/main" id="{70331D11-D374-0BA6-A4DB-DCEE531B21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49ED89-9E9F-7B74-C12F-987F95A446DB}"/>
              </a:ext>
            </a:extLst>
          </p:cNvPr>
          <p:cNvSpPr>
            <a:spLocks noGrp="1"/>
          </p:cNvSpPr>
          <p:nvPr>
            <p:ph type="sldNum" sz="quarter" idx="12"/>
          </p:nvPr>
        </p:nvSpPr>
        <p:spPr/>
        <p:txBody>
          <a:bodyPr/>
          <a:lstStyle/>
          <a:p>
            <a:fld id="{8F677BA9-7140-FF4B-A7E3-E6B2E2C988A5}" type="slidenum">
              <a:rPr lang="en-US" smtClean="0"/>
              <a:t>‹#›</a:t>
            </a:fld>
            <a:endParaRPr lang="en-US"/>
          </a:p>
        </p:txBody>
      </p:sp>
    </p:spTree>
    <p:extLst>
      <p:ext uri="{BB962C8B-B14F-4D97-AF65-F5344CB8AC3E}">
        <p14:creationId xmlns:p14="http://schemas.microsoft.com/office/powerpoint/2010/main" val="3078594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F33502-C160-563D-B12D-B7976ACE6F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6D279B-5BA6-E097-1B08-1DA0AB5253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94DCF9-1CC0-D83A-90AD-D4DEAE271C93}"/>
              </a:ext>
            </a:extLst>
          </p:cNvPr>
          <p:cNvSpPr>
            <a:spLocks noGrp="1"/>
          </p:cNvSpPr>
          <p:nvPr>
            <p:ph type="dt" sz="half" idx="10"/>
          </p:nvPr>
        </p:nvSpPr>
        <p:spPr/>
        <p:txBody>
          <a:bodyPr/>
          <a:lstStyle/>
          <a:p>
            <a:fld id="{43697B0F-C607-E14C-B36C-6836FEAB3217}" type="datetimeFigureOut">
              <a:rPr lang="en-US" smtClean="0"/>
              <a:t>9/23/26</a:t>
            </a:fld>
            <a:endParaRPr lang="en-US"/>
          </a:p>
        </p:txBody>
      </p:sp>
      <p:sp>
        <p:nvSpPr>
          <p:cNvPr id="5" name="Footer Placeholder 4">
            <a:extLst>
              <a:ext uri="{FF2B5EF4-FFF2-40B4-BE49-F238E27FC236}">
                <a16:creationId xmlns:a16="http://schemas.microsoft.com/office/drawing/2014/main" id="{056FB3DD-948E-5C09-6FEA-6C2AC2D231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38A5CB-1166-6E50-B393-61DF7A765F9C}"/>
              </a:ext>
            </a:extLst>
          </p:cNvPr>
          <p:cNvSpPr>
            <a:spLocks noGrp="1"/>
          </p:cNvSpPr>
          <p:nvPr>
            <p:ph type="sldNum" sz="quarter" idx="12"/>
          </p:nvPr>
        </p:nvSpPr>
        <p:spPr/>
        <p:txBody>
          <a:bodyPr/>
          <a:lstStyle/>
          <a:p>
            <a:fld id="{8F677BA9-7140-FF4B-A7E3-E6B2E2C988A5}" type="slidenum">
              <a:rPr lang="en-US" smtClean="0"/>
              <a:t>‹#›</a:t>
            </a:fld>
            <a:endParaRPr lang="en-US"/>
          </a:p>
        </p:txBody>
      </p:sp>
    </p:spTree>
    <p:extLst>
      <p:ext uri="{BB962C8B-B14F-4D97-AF65-F5344CB8AC3E}">
        <p14:creationId xmlns:p14="http://schemas.microsoft.com/office/powerpoint/2010/main" val="1422903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5337C7-A666-2866-3C5F-0EC622D33E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E50459-C5F8-9AD5-29F2-A77C07528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1B546-F8B9-F406-1BAF-842370AAB0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697B0F-C607-E14C-B36C-6836FEAB3217}" type="datetimeFigureOut">
              <a:rPr lang="en-US" smtClean="0"/>
              <a:t>9/23/26</a:t>
            </a:fld>
            <a:endParaRPr lang="en-US"/>
          </a:p>
        </p:txBody>
      </p:sp>
      <p:sp>
        <p:nvSpPr>
          <p:cNvPr id="5" name="Footer Placeholder 4">
            <a:extLst>
              <a:ext uri="{FF2B5EF4-FFF2-40B4-BE49-F238E27FC236}">
                <a16:creationId xmlns:a16="http://schemas.microsoft.com/office/drawing/2014/main" id="{9595E606-E2B4-B877-8AAA-8A950705DB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AB1550-0D03-D43E-66DC-EF34C40844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677BA9-7140-FF4B-A7E3-E6B2E2C988A5}" type="slidenum">
              <a:rPr lang="en-US" smtClean="0"/>
              <a:t>‹#›</a:t>
            </a:fld>
            <a:endParaRPr lang="en-US"/>
          </a:p>
        </p:txBody>
      </p:sp>
    </p:spTree>
    <p:extLst>
      <p:ext uri="{BB962C8B-B14F-4D97-AF65-F5344CB8AC3E}">
        <p14:creationId xmlns:p14="http://schemas.microsoft.com/office/powerpoint/2010/main" val="3009036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 name="Title 1">
            <a:extLst>
              <a:ext uri="{FF2B5EF4-FFF2-40B4-BE49-F238E27FC236}">
                <a16:creationId xmlns:a16="http://schemas.microsoft.com/office/drawing/2014/main" id="{CE643784-8D38-576E-A800-A5BB671D997C}"/>
              </a:ext>
            </a:extLst>
          </p:cNvPr>
          <p:cNvSpPr>
            <a:spLocks noGrp="1"/>
          </p:cNvSpPr>
          <p:nvPr>
            <p:ph type="ctrTitle"/>
          </p:nvPr>
        </p:nvSpPr>
        <p:spPr>
          <a:xfrm>
            <a:off x="1329766" y="1146412"/>
            <a:ext cx="9014348" cy="2402006"/>
          </a:xfrm>
        </p:spPr>
        <p:txBody>
          <a:bodyPr anchor="b">
            <a:normAutofit/>
          </a:bodyPr>
          <a:lstStyle/>
          <a:p>
            <a:pPr algn="l"/>
            <a:r>
              <a:rPr lang="sr-Latn-RS" sz="4800" noProof="0" dirty="0"/>
              <a:t>Grad-CAM: </a:t>
            </a:r>
            <a:r>
              <a:rPr lang="sr-Latn-RS" sz="4800" noProof="0" dirty="0" err="1"/>
              <a:t>Visual</a:t>
            </a:r>
            <a:r>
              <a:rPr lang="sr-Latn-RS" sz="4800" noProof="0" dirty="0"/>
              <a:t> </a:t>
            </a:r>
            <a:r>
              <a:rPr lang="sr-Latn-RS" sz="4800" noProof="0" dirty="0" err="1"/>
              <a:t>Explanations</a:t>
            </a:r>
            <a:r>
              <a:rPr lang="sr-Latn-RS" sz="4800" noProof="0" dirty="0"/>
              <a:t> from </a:t>
            </a:r>
            <a:r>
              <a:rPr lang="sr-Latn-RS" sz="4800" noProof="0" dirty="0" err="1"/>
              <a:t>Deep</a:t>
            </a:r>
            <a:r>
              <a:rPr lang="sr-Latn-RS" sz="4800" noProof="0" dirty="0"/>
              <a:t> </a:t>
            </a:r>
            <a:r>
              <a:rPr lang="sr-Latn-RS" sz="4800" noProof="0" dirty="0" err="1"/>
              <a:t>Networks</a:t>
            </a:r>
            <a:br>
              <a:rPr lang="sr-Latn-RS" sz="4800" noProof="0" dirty="0"/>
            </a:br>
            <a:endParaRPr lang="sr-Latn-RS" sz="4800" noProof="0" dirty="0"/>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2" name="Rectangle 1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4" name="Rectangle 13">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3" name="Subtitle 2">
            <a:extLst>
              <a:ext uri="{FF2B5EF4-FFF2-40B4-BE49-F238E27FC236}">
                <a16:creationId xmlns:a16="http://schemas.microsoft.com/office/drawing/2014/main" id="{C7AB576F-3002-AF6F-B571-A2C9B71B99DA}"/>
              </a:ext>
            </a:extLst>
          </p:cNvPr>
          <p:cNvSpPr>
            <a:spLocks noGrp="1"/>
          </p:cNvSpPr>
          <p:nvPr>
            <p:ph type="subTitle" idx="1"/>
          </p:nvPr>
        </p:nvSpPr>
        <p:spPr>
          <a:xfrm>
            <a:off x="1329765" y="4892722"/>
            <a:ext cx="6387155" cy="1078173"/>
          </a:xfrm>
        </p:spPr>
        <p:txBody>
          <a:bodyPr anchor="ctr">
            <a:normAutofit/>
          </a:bodyPr>
          <a:lstStyle/>
          <a:p>
            <a:pPr algn="l"/>
            <a:r>
              <a:rPr lang="sr-Latn-RS" noProof="0" dirty="0">
                <a:solidFill>
                  <a:srgbClr val="FFFFFF"/>
                </a:solidFill>
              </a:rPr>
              <a:t>Mladen Milić</a:t>
            </a:r>
          </a:p>
          <a:p>
            <a:pPr algn="l"/>
            <a:r>
              <a:rPr lang="sr-Latn-RS" noProof="0" dirty="0">
                <a:solidFill>
                  <a:srgbClr val="FFFFFF"/>
                </a:solidFill>
              </a:rPr>
              <a:t>Modeliranje i optimizacija učenjem iz podataka</a:t>
            </a:r>
          </a:p>
        </p:txBody>
      </p:sp>
    </p:spTree>
    <p:extLst>
      <p:ext uri="{BB962C8B-B14F-4D97-AF65-F5344CB8AC3E}">
        <p14:creationId xmlns:p14="http://schemas.microsoft.com/office/powerpoint/2010/main" val="3876083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 name="Title 1">
            <a:extLst>
              <a:ext uri="{FF2B5EF4-FFF2-40B4-BE49-F238E27FC236}">
                <a16:creationId xmlns:a16="http://schemas.microsoft.com/office/drawing/2014/main" id="{10B487AD-23DC-EDEE-3C3F-3DEB4027AB5E}"/>
              </a:ext>
            </a:extLst>
          </p:cNvPr>
          <p:cNvSpPr>
            <a:spLocks noGrp="1"/>
          </p:cNvSpPr>
          <p:nvPr>
            <p:ph type="title"/>
          </p:nvPr>
        </p:nvSpPr>
        <p:spPr>
          <a:xfrm>
            <a:off x="1136397" y="502020"/>
            <a:ext cx="5323715" cy="1642970"/>
          </a:xfrm>
        </p:spPr>
        <p:txBody>
          <a:bodyPr anchor="b">
            <a:normAutofit/>
          </a:bodyPr>
          <a:lstStyle/>
          <a:p>
            <a:r>
              <a:rPr lang="sr-Latn-RS" sz="4000" noProof="0" dirty="0"/>
              <a:t>Zašto nam je potrebna </a:t>
            </a:r>
            <a:r>
              <a:rPr lang="sr-Latn-RS" sz="4000" noProof="0" dirty="0" err="1"/>
              <a:t>interpretabilnost</a:t>
            </a:r>
            <a:r>
              <a:rPr lang="sr-Latn-RS" sz="4000" noProof="0" dirty="0"/>
              <a:t>?</a:t>
            </a:r>
          </a:p>
        </p:txBody>
      </p:sp>
      <p:sp>
        <p:nvSpPr>
          <p:cNvPr id="3" name="Content Placeholder 2">
            <a:extLst>
              <a:ext uri="{FF2B5EF4-FFF2-40B4-BE49-F238E27FC236}">
                <a16:creationId xmlns:a16="http://schemas.microsoft.com/office/drawing/2014/main" id="{60F55D61-C3AD-78FF-4A3C-9C3A43EF3301}"/>
              </a:ext>
            </a:extLst>
          </p:cNvPr>
          <p:cNvSpPr>
            <a:spLocks noGrp="1"/>
          </p:cNvSpPr>
          <p:nvPr>
            <p:ph idx="1"/>
          </p:nvPr>
        </p:nvSpPr>
        <p:spPr>
          <a:xfrm>
            <a:off x="1144923" y="2405894"/>
            <a:ext cx="5315189" cy="3535083"/>
          </a:xfrm>
        </p:spPr>
        <p:txBody>
          <a:bodyPr anchor="t">
            <a:normAutofit/>
          </a:bodyPr>
          <a:lstStyle/>
          <a:p>
            <a:pPr algn="just"/>
            <a:r>
              <a:rPr lang="sr-Latn-RS" sz="2000" noProof="0" dirty="0"/>
              <a:t>Kako modeli mašinskog učenja postaju sve složeniji, sa velikim brojem parametara i ogromnim količinama podataka korišćenih za njihovo obučavanje, ljudima postaje sve teže da razumeju na koji način model dolazi do određene odluke. Pojedinačne težinske vrednosti same po sebi najčešće ne pružaju intuitivno objašnjenje, dok njihov veliki broj otežava interpretaciju čak i stručnjacima.</a:t>
            </a:r>
          </a:p>
          <a:p>
            <a:pPr algn="just"/>
            <a:endParaRPr lang="sr-Latn-RS" sz="2000" noProof="0" dirty="0"/>
          </a:p>
        </p:txBody>
      </p:sp>
      <p:sp>
        <p:nvSpPr>
          <p:cNvPr id="49" name="Rectangle 48">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51" name="Rectangle 50">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53" name="Rectangle 52">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55" name="Rectangle 54">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pic>
        <p:nvPicPr>
          <p:cNvPr id="4" name="Picture 3" descr="Normal chest x-ray | Radiology Case | Radiopaedia.org">
            <a:extLst>
              <a:ext uri="{FF2B5EF4-FFF2-40B4-BE49-F238E27FC236}">
                <a16:creationId xmlns:a16="http://schemas.microsoft.com/office/drawing/2014/main" id="{A7CE94F3-220D-FBD3-C932-890A60DB6AD0}"/>
              </a:ext>
            </a:extLst>
          </p:cNvPr>
          <p:cNvPicPr>
            <a:picLocks noChangeAspect="1"/>
          </p:cNvPicPr>
          <p:nvPr/>
        </p:nvPicPr>
        <p:blipFill>
          <a:blip r:embed="rId2"/>
          <a:stretch>
            <a:fillRect/>
          </a:stretch>
        </p:blipFill>
        <p:spPr>
          <a:xfrm>
            <a:off x="7075967" y="1359681"/>
            <a:ext cx="4170530" cy="4170530"/>
          </a:xfrm>
          <a:prstGeom prst="rect">
            <a:avLst/>
          </a:prstGeom>
        </p:spPr>
      </p:pic>
    </p:spTree>
    <p:extLst>
      <p:ext uri="{BB962C8B-B14F-4D97-AF65-F5344CB8AC3E}">
        <p14:creationId xmlns:p14="http://schemas.microsoft.com/office/powerpoint/2010/main" val="1304737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 name="Title 1">
            <a:extLst>
              <a:ext uri="{FF2B5EF4-FFF2-40B4-BE49-F238E27FC236}">
                <a16:creationId xmlns:a16="http://schemas.microsoft.com/office/drawing/2014/main" id="{2D4C8965-EEEF-97CE-FDBC-C69CFC2E1D5A}"/>
              </a:ext>
            </a:extLst>
          </p:cNvPr>
          <p:cNvSpPr>
            <a:spLocks noGrp="1"/>
          </p:cNvSpPr>
          <p:nvPr>
            <p:ph type="title"/>
          </p:nvPr>
        </p:nvSpPr>
        <p:spPr>
          <a:xfrm>
            <a:off x="1136397" y="502021"/>
            <a:ext cx="9688296" cy="1642969"/>
          </a:xfrm>
        </p:spPr>
        <p:txBody>
          <a:bodyPr anchor="b">
            <a:normAutofit/>
          </a:bodyPr>
          <a:lstStyle/>
          <a:p>
            <a:r>
              <a:rPr lang="sr-Latn-RS" sz="4000" noProof="0" dirty="0"/>
              <a:t>AI kao neizostavan deo svakodnevnice</a:t>
            </a:r>
          </a:p>
        </p:txBody>
      </p:sp>
      <p:sp>
        <p:nvSpPr>
          <p:cNvPr id="3" name="Content Placeholder 2">
            <a:extLst>
              <a:ext uri="{FF2B5EF4-FFF2-40B4-BE49-F238E27FC236}">
                <a16:creationId xmlns:a16="http://schemas.microsoft.com/office/drawing/2014/main" id="{DEA8D508-9CEB-D66A-461D-A1D924B6B52A}"/>
              </a:ext>
            </a:extLst>
          </p:cNvPr>
          <p:cNvSpPr>
            <a:spLocks noGrp="1"/>
          </p:cNvSpPr>
          <p:nvPr>
            <p:ph idx="1"/>
          </p:nvPr>
        </p:nvSpPr>
        <p:spPr>
          <a:xfrm>
            <a:off x="1136397" y="2418409"/>
            <a:ext cx="9688296" cy="3454358"/>
          </a:xfrm>
        </p:spPr>
        <p:txBody>
          <a:bodyPr>
            <a:normAutofit/>
          </a:bodyPr>
          <a:lstStyle/>
          <a:p>
            <a:pPr algn="just"/>
            <a:r>
              <a:rPr lang="sr-Latn-RS" sz="2000" noProof="0" dirty="0"/>
              <a:t>Sistemi zasnovani na veštačkoj inteligenciji danas se koriste u sve većem broju oblasti, od </a:t>
            </a:r>
            <a:r>
              <a:rPr lang="sr-Latn-RS" sz="2000" noProof="0" dirty="0" err="1"/>
              <a:t>brainstorminga</a:t>
            </a:r>
            <a:r>
              <a:rPr lang="sr-Latn-RS" sz="2000" noProof="0" dirty="0"/>
              <a:t> i obrade slike i teksta, do industrije, finansija i medicine. Sa porastom njihove složenosti i uticaja raste i značaj razumevanja odluka koje ovi sistemi donose.</a:t>
            </a:r>
          </a:p>
          <a:p>
            <a:pPr algn="just"/>
            <a:r>
              <a:rPr lang="sr-Latn-RS" sz="2000" noProof="0" dirty="0"/>
              <a:t>AI sistem možemo zamisliti kao kolegu koji nam saopšti rešenje problema, ali ne pruži obrazloženje kako je do njega došao, pri čemu ne postoji garancija da je dato rešenje ispravno. Što je odluka značajnija, to je važnije razumeti na osnovu čega je doneta.</a:t>
            </a:r>
          </a:p>
          <a:p>
            <a:pPr algn="just"/>
            <a:r>
              <a:rPr lang="sr-Latn-RS" sz="2000" noProof="0" dirty="0"/>
              <a:t>Postavlja se zato pitanje: Kako možemo razumeti i objasniti odluke složenih AI modela?</a:t>
            </a:r>
          </a:p>
          <a:p>
            <a:endParaRPr lang="sr-Latn-RS" sz="2000" noProof="0" dirty="0"/>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Tree>
    <p:extLst>
      <p:ext uri="{BB962C8B-B14F-4D97-AF65-F5344CB8AC3E}">
        <p14:creationId xmlns:p14="http://schemas.microsoft.com/office/powerpoint/2010/main" val="3727977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 name="Title 1">
            <a:extLst>
              <a:ext uri="{FF2B5EF4-FFF2-40B4-BE49-F238E27FC236}">
                <a16:creationId xmlns:a16="http://schemas.microsoft.com/office/drawing/2014/main" id="{93520858-79B3-5BB0-9091-73B86F225DE6}"/>
              </a:ext>
            </a:extLst>
          </p:cNvPr>
          <p:cNvSpPr>
            <a:spLocks noGrp="1"/>
          </p:cNvSpPr>
          <p:nvPr>
            <p:ph type="title"/>
          </p:nvPr>
        </p:nvSpPr>
        <p:spPr>
          <a:xfrm>
            <a:off x="1136397" y="502020"/>
            <a:ext cx="5323715" cy="1642970"/>
          </a:xfrm>
        </p:spPr>
        <p:txBody>
          <a:bodyPr anchor="b">
            <a:normAutofit/>
          </a:bodyPr>
          <a:lstStyle/>
          <a:p>
            <a:r>
              <a:rPr lang="sr-Latn-RS" sz="3700" noProof="0" dirty="0" err="1"/>
              <a:t>Interpretability</a:t>
            </a:r>
            <a:r>
              <a:rPr lang="sr-Latn-RS" sz="3700" noProof="0" dirty="0"/>
              <a:t> </a:t>
            </a:r>
            <a:r>
              <a:rPr lang="sr-Latn-RS" sz="3700" noProof="0" dirty="0" err="1"/>
              <a:t>vs</a:t>
            </a:r>
            <a:r>
              <a:rPr lang="sr-Latn-RS" sz="3700" noProof="0" dirty="0"/>
              <a:t>. </a:t>
            </a:r>
            <a:r>
              <a:rPr lang="sr-Latn-RS" sz="3700" noProof="0" dirty="0" err="1"/>
              <a:t>Explainability</a:t>
            </a:r>
            <a:br>
              <a:rPr lang="sr-Latn-RS" sz="3700" noProof="0" dirty="0"/>
            </a:br>
            <a:endParaRPr lang="sr-Latn-RS" sz="3700" noProof="0" dirty="0"/>
          </a:p>
        </p:txBody>
      </p:sp>
      <p:sp>
        <p:nvSpPr>
          <p:cNvPr id="3" name="Content Placeholder 2">
            <a:extLst>
              <a:ext uri="{FF2B5EF4-FFF2-40B4-BE49-F238E27FC236}">
                <a16:creationId xmlns:a16="http://schemas.microsoft.com/office/drawing/2014/main" id="{D8C4D947-E767-C94F-99BD-85F60F2AB78F}"/>
              </a:ext>
            </a:extLst>
          </p:cNvPr>
          <p:cNvSpPr>
            <a:spLocks noGrp="1"/>
          </p:cNvSpPr>
          <p:nvPr>
            <p:ph idx="1"/>
          </p:nvPr>
        </p:nvSpPr>
        <p:spPr>
          <a:xfrm>
            <a:off x="1144923" y="2405894"/>
            <a:ext cx="5315189" cy="3535083"/>
          </a:xfrm>
        </p:spPr>
        <p:txBody>
          <a:bodyPr>
            <a:normAutofit/>
          </a:bodyPr>
          <a:lstStyle/>
          <a:p>
            <a:pPr algn="just"/>
            <a:r>
              <a:rPr lang="sr-Latn-RS" sz="2000" noProof="0" dirty="0" err="1"/>
              <a:t>Explainable</a:t>
            </a:r>
            <a:r>
              <a:rPr lang="sr-Latn-RS" sz="2000" noProof="0" dirty="0"/>
              <a:t> AI predstavlja skup tehnika koje se mogu primeniti na modele mašinskog učenja nakon njihove izgradnje, kako bi se objasnilo njihovo ponašanje pri donošenju jedne ili više predikcija.</a:t>
            </a:r>
          </a:p>
          <a:p>
            <a:pPr algn="just"/>
            <a:r>
              <a:rPr lang="sr-Latn-RS" sz="2000" noProof="0" dirty="0"/>
              <a:t>Ne postoji jedinstven pristup objašnjavanju modela, jer različite grupe korisnika, stručnjaci, posmatrači i krajnji korisnici, imaju različite potrebe, očekuju različite nivoe i vrste objašnjenja jer koriste modele u različite svrhe.</a:t>
            </a:r>
          </a:p>
          <a:p>
            <a:endParaRPr lang="sr-Latn-RS" sz="2000" noProof="0" dirty="0"/>
          </a:p>
          <a:p>
            <a:endParaRPr lang="sr-Latn-RS" sz="2000" noProof="0" dirty="0"/>
          </a:p>
        </p:txBody>
      </p:sp>
      <p:sp>
        <p:nvSpPr>
          <p:cNvPr id="19" name="Rectangle 18">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1" name="Rectangle 20">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3" name="Rectangle 22">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5" name="Rectangle 24">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pic>
        <p:nvPicPr>
          <p:cNvPr id="4" name="Picture 3" descr="Explainable AI (XAI) - YouTube">
            <a:extLst>
              <a:ext uri="{FF2B5EF4-FFF2-40B4-BE49-F238E27FC236}">
                <a16:creationId xmlns:a16="http://schemas.microsoft.com/office/drawing/2014/main" id="{DFA16003-5B0E-0FA6-CC1E-9DC5856C8BE8}"/>
              </a:ext>
            </a:extLst>
          </p:cNvPr>
          <p:cNvPicPr>
            <a:picLocks noChangeAspect="1"/>
          </p:cNvPicPr>
          <p:nvPr/>
        </p:nvPicPr>
        <p:blipFill>
          <a:blip r:embed="rId2"/>
          <a:stretch>
            <a:fillRect/>
          </a:stretch>
        </p:blipFill>
        <p:spPr>
          <a:xfrm>
            <a:off x="7075967" y="2271985"/>
            <a:ext cx="4170530" cy="2345923"/>
          </a:xfrm>
          <a:prstGeom prst="rect">
            <a:avLst/>
          </a:prstGeom>
        </p:spPr>
      </p:pic>
    </p:spTree>
    <p:extLst>
      <p:ext uri="{BB962C8B-B14F-4D97-AF65-F5344CB8AC3E}">
        <p14:creationId xmlns:p14="http://schemas.microsoft.com/office/powerpoint/2010/main" val="4266927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91FC-D2C5-5923-7A7D-F8B808409871}"/>
              </a:ext>
            </a:extLst>
          </p:cNvPr>
          <p:cNvSpPr>
            <a:spLocks noGrp="1"/>
          </p:cNvSpPr>
          <p:nvPr>
            <p:ph type="title"/>
          </p:nvPr>
        </p:nvSpPr>
        <p:spPr/>
        <p:txBody>
          <a:bodyPr/>
          <a:lstStyle/>
          <a:p>
            <a:r>
              <a:rPr lang="sr-Latn-RS" noProof="0" dirty="0" err="1"/>
              <a:t>Interpretability</a:t>
            </a:r>
            <a:r>
              <a:rPr lang="sr-Latn-RS" noProof="0" dirty="0"/>
              <a:t> </a:t>
            </a:r>
            <a:r>
              <a:rPr lang="sr-Latn-RS" noProof="0" dirty="0" err="1"/>
              <a:t>vs</a:t>
            </a:r>
            <a:r>
              <a:rPr lang="sr-Latn-RS" noProof="0" dirty="0"/>
              <a:t>. </a:t>
            </a:r>
            <a:r>
              <a:rPr lang="sr-Latn-RS" noProof="0" dirty="0" err="1"/>
              <a:t>Explainability</a:t>
            </a:r>
            <a:endParaRPr lang="sr-Latn-RS" noProof="0" dirty="0"/>
          </a:p>
        </p:txBody>
      </p:sp>
      <p:graphicFrame>
        <p:nvGraphicFramePr>
          <p:cNvPr id="4" name="Content Placeholder 3">
            <a:extLst>
              <a:ext uri="{FF2B5EF4-FFF2-40B4-BE49-F238E27FC236}">
                <a16:creationId xmlns:a16="http://schemas.microsoft.com/office/drawing/2014/main" id="{67E80F7D-8780-0C81-8F60-5EEA84EAE486}"/>
              </a:ext>
            </a:extLst>
          </p:cNvPr>
          <p:cNvGraphicFramePr>
            <a:graphicFrameLocks noGrp="1"/>
          </p:cNvGraphicFramePr>
          <p:nvPr>
            <p:ph idx="1"/>
            <p:extLst>
              <p:ext uri="{D42A27DB-BD31-4B8C-83A1-F6EECF244321}">
                <p14:modId xmlns:p14="http://schemas.microsoft.com/office/powerpoint/2010/main" val="3480137121"/>
              </p:ext>
            </p:extLst>
          </p:nvPr>
        </p:nvGraphicFramePr>
        <p:xfrm>
          <a:off x="0" y="1825625"/>
          <a:ext cx="121920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12FBD421-8822-83FD-76D0-30F654989138}"/>
              </a:ext>
            </a:extLst>
          </p:cNvPr>
          <p:cNvGraphicFramePr/>
          <p:nvPr>
            <p:extLst>
              <p:ext uri="{D42A27DB-BD31-4B8C-83A1-F6EECF244321}">
                <p14:modId xmlns:p14="http://schemas.microsoft.com/office/powerpoint/2010/main" val="3175552858"/>
              </p:ext>
            </p:extLst>
          </p:nvPr>
        </p:nvGraphicFramePr>
        <p:xfrm>
          <a:off x="2863557" y="3265918"/>
          <a:ext cx="6464886" cy="541866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949657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sr-Latn-RS" noProof="0"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 name="Title 1">
            <a:extLst>
              <a:ext uri="{FF2B5EF4-FFF2-40B4-BE49-F238E27FC236}">
                <a16:creationId xmlns:a16="http://schemas.microsoft.com/office/drawing/2014/main" id="{56DEF6D0-D1FD-4996-4C75-36D43F590B5F}"/>
              </a:ext>
            </a:extLst>
          </p:cNvPr>
          <p:cNvSpPr>
            <a:spLocks noGrp="1"/>
          </p:cNvSpPr>
          <p:nvPr>
            <p:ph type="title"/>
          </p:nvPr>
        </p:nvSpPr>
        <p:spPr>
          <a:xfrm>
            <a:off x="586478" y="1683756"/>
            <a:ext cx="3115265" cy="2396359"/>
          </a:xfrm>
        </p:spPr>
        <p:txBody>
          <a:bodyPr anchor="b">
            <a:normAutofit/>
          </a:bodyPr>
          <a:lstStyle/>
          <a:p>
            <a:pPr algn="r"/>
            <a:r>
              <a:rPr lang="sr-Latn-RS" sz="3700" noProof="0" dirty="0">
                <a:solidFill>
                  <a:srgbClr val="FFFFFF"/>
                </a:solidFill>
              </a:rPr>
              <a:t>Najveći izazovi sa kojima se susrećemo u XAI</a:t>
            </a:r>
          </a:p>
        </p:txBody>
      </p:sp>
      <p:graphicFrame>
        <p:nvGraphicFramePr>
          <p:cNvPr id="12" name="Content Placeholder 2">
            <a:extLst>
              <a:ext uri="{FF2B5EF4-FFF2-40B4-BE49-F238E27FC236}">
                <a16:creationId xmlns:a16="http://schemas.microsoft.com/office/drawing/2014/main" id="{A9EB72AF-7D8F-C07F-3986-87FF3AE4133C}"/>
              </a:ext>
            </a:extLst>
          </p:cNvPr>
          <p:cNvGraphicFramePr>
            <a:graphicFrameLocks noGrp="1"/>
          </p:cNvGraphicFramePr>
          <p:nvPr>
            <p:ph idx="1"/>
            <p:extLst>
              <p:ext uri="{D42A27DB-BD31-4B8C-83A1-F6EECF244321}">
                <p14:modId xmlns:p14="http://schemas.microsoft.com/office/powerpoint/2010/main" val="3688916066"/>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3955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 name="Title 1">
            <a:extLst>
              <a:ext uri="{FF2B5EF4-FFF2-40B4-BE49-F238E27FC236}">
                <a16:creationId xmlns:a16="http://schemas.microsoft.com/office/drawing/2014/main" id="{3E6AE594-1B7A-9F5D-50EA-6328D1378368}"/>
              </a:ext>
            </a:extLst>
          </p:cNvPr>
          <p:cNvSpPr>
            <a:spLocks noGrp="1"/>
          </p:cNvSpPr>
          <p:nvPr>
            <p:ph type="title"/>
          </p:nvPr>
        </p:nvSpPr>
        <p:spPr>
          <a:xfrm>
            <a:off x="1371597" y="348865"/>
            <a:ext cx="10044023" cy="877729"/>
          </a:xfrm>
        </p:spPr>
        <p:txBody>
          <a:bodyPr anchor="ctr">
            <a:normAutofit/>
          </a:bodyPr>
          <a:lstStyle/>
          <a:p>
            <a:r>
              <a:rPr lang="sr-Latn-RS" sz="3400" noProof="0" dirty="0">
                <a:solidFill>
                  <a:srgbClr val="FFFFFF"/>
                </a:solidFill>
              </a:rPr>
              <a:t>Neophodni pojmovi za razumeti prilikom korišćenja XAI</a:t>
            </a:r>
          </a:p>
        </p:txBody>
      </p:sp>
      <p:graphicFrame>
        <p:nvGraphicFramePr>
          <p:cNvPr id="5" name="Content Placeholder 2">
            <a:extLst>
              <a:ext uri="{FF2B5EF4-FFF2-40B4-BE49-F238E27FC236}">
                <a16:creationId xmlns:a16="http://schemas.microsoft.com/office/drawing/2014/main" id="{253A513F-5F91-41B9-E1BC-7DC7D4478C5C}"/>
              </a:ext>
            </a:extLst>
          </p:cNvPr>
          <p:cNvGraphicFramePr>
            <a:graphicFrameLocks noGrp="1"/>
          </p:cNvGraphicFramePr>
          <p:nvPr>
            <p:ph idx="1"/>
            <p:extLst>
              <p:ext uri="{D42A27DB-BD31-4B8C-83A1-F6EECF244321}">
                <p14:modId xmlns:p14="http://schemas.microsoft.com/office/powerpoint/2010/main" val="2244314798"/>
              </p:ext>
            </p:extLst>
          </p:nvPr>
        </p:nvGraphicFramePr>
        <p:xfrm>
          <a:off x="-1086264"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6">
            <a:extLst>
              <a:ext uri="{FF2B5EF4-FFF2-40B4-BE49-F238E27FC236}">
                <a16:creationId xmlns:a16="http://schemas.microsoft.com/office/drawing/2014/main" id="{F9C98826-B884-6048-273C-DDB0E950DFCB}"/>
              </a:ext>
            </a:extLst>
          </p:cNvPr>
          <p:cNvSpPr/>
          <p:nvPr/>
        </p:nvSpPr>
        <p:spPr>
          <a:xfrm>
            <a:off x="6977575" y="3393373"/>
            <a:ext cx="4542300" cy="1631216"/>
          </a:xfrm>
          <a:prstGeom prst="rect">
            <a:avLst/>
          </a:prstGeom>
          <a:noFill/>
        </p:spPr>
        <p:txBody>
          <a:bodyPr wrap="square" lIns="91440" tIns="45720" rIns="91440" bIns="45720">
            <a:spAutoFit/>
          </a:bodyPr>
          <a:lstStyle/>
          <a:p>
            <a:pPr algn="just"/>
            <a:r>
              <a:rPr lang="sr-Latn-RS" sz="2000" b="1" noProof="0" dirty="0">
                <a:ln w="12700" cmpd="sng">
                  <a:solidFill>
                    <a:srgbClr val="C00000"/>
                  </a:solidFill>
                  <a:prstDash val="solid"/>
                </a:ln>
                <a:solidFill>
                  <a:srgbClr val="0070C0"/>
                </a:solidFill>
              </a:rPr>
              <a:t>Ne postoji jedno objašnjenje, XAI je u tom smislu fleksibilan i podoban modelovanju spram namene i faze u kojoj se koristi (Trening, </a:t>
            </a:r>
            <a:r>
              <a:rPr lang="sr-Latn-RS" sz="2000" b="1" noProof="0" dirty="0" err="1">
                <a:ln w="12700" cmpd="sng">
                  <a:solidFill>
                    <a:srgbClr val="C00000"/>
                  </a:solidFill>
                  <a:prstDash val="solid"/>
                </a:ln>
                <a:solidFill>
                  <a:srgbClr val="0070C0"/>
                </a:solidFill>
              </a:rPr>
              <a:t>Validacija</a:t>
            </a:r>
            <a:r>
              <a:rPr lang="sr-Latn-RS" sz="2000" b="1" noProof="0" dirty="0">
                <a:ln w="12700" cmpd="sng">
                  <a:solidFill>
                    <a:srgbClr val="C00000"/>
                  </a:solidFill>
                  <a:prstDash val="solid"/>
                </a:ln>
                <a:solidFill>
                  <a:srgbClr val="0070C0"/>
                </a:solidFill>
              </a:rPr>
              <a:t>, Operativna primena)!</a:t>
            </a:r>
          </a:p>
        </p:txBody>
      </p:sp>
      <p:sp>
        <p:nvSpPr>
          <p:cNvPr id="19" name="TextBox 18">
            <a:extLst>
              <a:ext uri="{FF2B5EF4-FFF2-40B4-BE49-F238E27FC236}">
                <a16:creationId xmlns:a16="http://schemas.microsoft.com/office/drawing/2014/main" id="{E3DF0DD8-B848-3FB2-E865-51A8E8AEEE52}"/>
              </a:ext>
            </a:extLst>
          </p:cNvPr>
          <p:cNvSpPr txBox="1"/>
          <p:nvPr/>
        </p:nvSpPr>
        <p:spPr>
          <a:xfrm>
            <a:off x="6977575" y="5560722"/>
            <a:ext cx="3738752" cy="646331"/>
          </a:xfrm>
          <a:prstGeom prst="rect">
            <a:avLst/>
          </a:prstGeom>
          <a:noFill/>
        </p:spPr>
        <p:txBody>
          <a:bodyPr wrap="square" rtlCol="0">
            <a:spAutoFit/>
          </a:bodyPr>
          <a:lstStyle/>
          <a:p>
            <a:r>
              <a:rPr lang="en-US" dirty="0"/>
              <a:t>Grad-CAM </a:t>
            </a:r>
            <a:r>
              <a:rPr lang="en-US" dirty="0" err="1"/>
              <a:t>spada</a:t>
            </a:r>
            <a:r>
              <a:rPr lang="en-US" dirty="0"/>
              <a:t> u Post-hoc, local </a:t>
            </a:r>
            <a:r>
              <a:rPr lang="en-US" dirty="0" err="1"/>
              <a:t>i</a:t>
            </a:r>
            <a:r>
              <a:rPr lang="en-US" dirty="0"/>
              <a:t> attribution-based explanation</a:t>
            </a:r>
          </a:p>
        </p:txBody>
      </p:sp>
    </p:spTree>
    <p:extLst>
      <p:ext uri="{BB962C8B-B14F-4D97-AF65-F5344CB8AC3E}">
        <p14:creationId xmlns:p14="http://schemas.microsoft.com/office/powerpoint/2010/main" val="3420834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46708FAB-3898-47A9-B05A-AB9ECBD9E7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 name="Title 1">
            <a:extLst>
              <a:ext uri="{FF2B5EF4-FFF2-40B4-BE49-F238E27FC236}">
                <a16:creationId xmlns:a16="http://schemas.microsoft.com/office/drawing/2014/main" id="{25AE1C28-4082-372E-A245-37B4C47D83BE}"/>
              </a:ext>
            </a:extLst>
          </p:cNvPr>
          <p:cNvSpPr>
            <a:spLocks noGrp="1"/>
          </p:cNvSpPr>
          <p:nvPr>
            <p:ph type="title"/>
          </p:nvPr>
        </p:nvSpPr>
        <p:spPr>
          <a:xfrm>
            <a:off x="1136398" y="457201"/>
            <a:ext cx="10117810" cy="1150470"/>
          </a:xfrm>
        </p:spPr>
        <p:txBody>
          <a:bodyPr anchor="b">
            <a:normAutofit/>
          </a:bodyPr>
          <a:lstStyle/>
          <a:p>
            <a:r>
              <a:rPr lang="sr-Latn-RS" sz="4000" noProof="0" dirty="0"/>
              <a:t>CNN - osnova Grad-CAM metode</a:t>
            </a:r>
          </a:p>
        </p:txBody>
      </p:sp>
      <p:sp>
        <p:nvSpPr>
          <p:cNvPr id="3" name="Content Placeholder 2">
            <a:extLst>
              <a:ext uri="{FF2B5EF4-FFF2-40B4-BE49-F238E27FC236}">
                <a16:creationId xmlns:a16="http://schemas.microsoft.com/office/drawing/2014/main" id="{A860EE25-D9CA-4FC8-A02F-BDE5FE350C09}"/>
              </a:ext>
            </a:extLst>
          </p:cNvPr>
          <p:cNvSpPr>
            <a:spLocks noGrp="1"/>
          </p:cNvSpPr>
          <p:nvPr>
            <p:ph idx="1"/>
          </p:nvPr>
        </p:nvSpPr>
        <p:spPr>
          <a:xfrm>
            <a:off x="1150286" y="1980775"/>
            <a:ext cx="6001836" cy="3632824"/>
          </a:xfrm>
        </p:spPr>
        <p:txBody>
          <a:bodyPr>
            <a:normAutofit/>
          </a:bodyPr>
          <a:lstStyle/>
          <a:p>
            <a:pPr algn="just"/>
            <a:r>
              <a:rPr lang="sr-Latn-RS" sz="1400" noProof="0" dirty="0" err="1"/>
              <a:t>Konvolucione</a:t>
            </a:r>
            <a:r>
              <a:rPr lang="sr-Latn-RS" sz="1400" noProof="0" dirty="0"/>
              <a:t> mreže se sastoje uglavnom od </a:t>
            </a:r>
            <a:r>
              <a:rPr lang="sr-Latn-RS" sz="1400" noProof="0" dirty="0" err="1"/>
              <a:t>konvolucionih</a:t>
            </a:r>
            <a:r>
              <a:rPr lang="sr-Latn-RS" sz="1400" noProof="0" dirty="0"/>
              <a:t> </a:t>
            </a:r>
            <a:r>
              <a:rPr lang="sr-Latn-RS" sz="1400" noProof="0" dirty="0" err="1"/>
              <a:t>layera</a:t>
            </a:r>
            <a:r>
              <a:rPr lang="sr-Latn-RS" sz="1400" noProof="0" dirty="0"/>
              <a:t>, </a:t>
            </a:r>
            <a:r>
              <a:rPr lang="sr-Latn-RS" sz="1400" noProof="0" dirty="0" err="1"/>
              <a:t>pooling</a:t>
            </a:r>
            <a:r>
              <a:rPr lang="sr-Latn-RS" sz="1400" noProof="0" dirty="0"/>
              <a:t> </a:t>
            </a:r>
            <a:r>
              <a:rPr lang="sr-Latn-RS" sz="1400" noProof="0" dirty="0" err="1"/>
              <a:t>layera</a:t>
            </a:r>
            <a:r>
              <a:rPr lang="sr-Latn-RS" sz="1400" noProof="0" dirty="0"/>
              <a:t>, i FC </a:t>
            </a:r>
            <a:r>
              <a:rPr lang="sr-Latn-RS" sz="1400" noProof="0" dirty="0" err="1"/>
              <a:t>layera</a:t>
            </a:r>
            <a:r>
              <a:rPr lang="sr-Latn-RS" sz="1400" noProof="0" dirty="0"/>
              <a:t>, iako postoje i određeni drugi </a:t>
            </a:r>
            <a:r>
              <a:rPr lang="sr-Latn-RS" sz="1400" noProof="0" dirty="0" err="1"/>
              <a:t>layeri</a:t>
            </a:r>
            <a:r>
              <a:rPr lang="sr-Latn-RS" sz="1400" noProof="0" dirty="0"/>
              <a:t> koji su razmatrani u </a:t>
            </a:r>
            <a:r>
              <a:rPr lang="sr-Latn-RS" sz="1400" noProof="0" dirty="0" err="1"/>
              <a:t>proslosti</a:t>
            </a:r>
            <a:r>
              <a:rPr lang="sr-Latn-RS" sz="1400" noProof="0" dirty="0"/>
              <a:t> poput </a:t>
            </a:r>
            <a:r>
              <a:rPr lang="sr-Latn-RS" sz="1400" noProof="0" dirty="0" err="1"/>
              <a:t>normalizacionih</a:t>
            </a:r>
            <a:r>
              <a:rPr lang="sr-Latn-RS" sz="1400" noProof="0" dirty="0"/>
              <a:t>. Osnovni element </a:t>
            </a:r>
            <a:r>
              <a:rPr lang="sr-Latn-RS" sz="1400" noProof="0" dirty="0" err="1"/>
              <a:t>konvolucionog</a:t>
            </a:r>
            <a:r>
              <a:rPr lang="sr-Latn-RS" sz="1400" noProof="0" dirty="0"/>
              <a:t> sloja je </a:t>
            </a:r>
            <a:r>
              <a:rPr lang="sr-Latn-RS" sz="1400" b="1" noProof="0" dirty="0"/>
              <a:t>filter (</a:t>
            </a:r>
            <a:r>
              <a:rPr lang="sr-Latn-RS" sz="1400" b="1" noProof="0" dirty="0" err="1"/>
              <a:t>kernel</a:t>
            </a:r>
            <a:r>
              <a:rPr lang="sr-Latn-RS" sz="1400" b="1" noProof="0" dirty="0"/>
              <a:t>),</a:t>
            </a:r>
            <a:r>
              <a:rPr lang="sr-Latn-RS" sz="1400" noProof="0" dirty="0"/>
              <a:t> mali skup težina koji se tokom treninga uči da prepoznaje određene karakteristike slike.</a:t>
            </a:r>
          </a:p>
          <a:p>
            <a:pPr lvl="1" algn="just"/>
            <a:r>
              <a:rPr lang="sr-Latn-RS" sz="1400" noProof="0" dirty="0"/>
              <a:t>Filter je prostorno mali, npr. 3×3, ali obuhvata celu dubinu ulaza. (RGB- 3x3x3)</a:t>
            </a:r>
          </a:p>
          <a:p>
            <a:pPr lvl="1" algn="just"/>
            <a:r>
              <a:rPr lang="sr-Latn-RS" sz="1400" noProof="0" dirty="0"/>
              <a:t>Filter se pomera kroz sliku i na svakoj poziciji obrađuje samo lokalni region (</a:t>
            </a:r>
            <a:r>
              <a:rPr lang="sr-Latn-RS" sz="1400" noProof="0" dirty="0" err="1"/>
              <a:t>local</a:t>
            </a:r>
            <a:r>
              <a:rPr lang="sr-Latn-RS" sz="1400" noProof="0" dirty="0"/>
              <a:t> </a:t>
            </a:r>
            <a:r>
              <a:rPr lang="sr-Latn-RS" sz="1400" noProof="0" dirty="0" err="1"/>
              <a:t>connectivity</a:t>
            </a:r>
            <a:r>
              <a:rPr lang="sr-Latn-RS" sz="1400" noProof="0" dirty="0"/>
              <a:t>).</a:t>
            </a:r>
          </a:p>
          <a:p>
            <a:pPr lvl="1" algn="just"/>
            <a:r>
              <a:rPr lang="sr-Latn-RS" sz="1400" noProof="0" dirty="0"/>
              <a:t>Rezultat primene jednog filtera kroz celu sliku je </a:t>
            </a:r>
            <a:r>
              <a:rPr lang="sr-Latn-RS" sz="1400" noProof="0" dirty="0" err="1"/>
              <a:t>feature</a:t>
            </a:r>
            <a:r>
              <a:rPr lang="sr-Latn-RS" sz="1400" noProof="0" dirty="0"/>
              <a:t>/</a:t>
            </a:r>
            <a:r>
              <a:rPr lang="sr-Latn-RS" sz="1400" noProof="0" dirty="0" err="1"/>
              <a:t>activation</a:t>
            </a:r>
            <a:r>
              <a:rPr lang="sr-Latn-RS" sz="1400" noProof="0" dirty="0"/>
              <a:t> mapa.</a:t>
            </a:r>
          </a:p>
          <a:p>
            <a:pPr lvl="1" algn="just"/>
            <a:r>
              <a:rPr lang="sr-Latn-RS" sz="1400" noProof="0" dirty="0"/>
              <a:t>Različiti filteri uče da reaguju na različite karakteristike slike.</a:t>
            </a:r>
          </a:p>
          <a:p>
            <a:pPr algn="just"/>
            <a:r>
              <a:rPr lang="sr-Latn-RS" sz="1400" noProof="0" dirty="0"/>
              <a:t>U ranim slojevima filteri mogu reagovati na jednostavne karakteristike poput ivica i boja, dok dublji slojevi mogu reagovati na složenije vizuelne obrasce.</a:t>
            </a:r>
          </a:p>
          <a:p>
            <a:pPr algn="just"/>
            <a:endParaRPr lang="sr-Latn-RS" sz="1400" noProof="0" dirty="0"/>
          </a:p>
          <a:p>
            <a:pPr lvl="1" algn="just"/>
            <a:endParaRPr lang="sr-Latn-RS" sz="1400" noProof="0" dirty="0"/>
          </a:p>
          <a:p>
            <a:pPr algn="just"/>
            <a:endParaRPr lang="sr-Latn-RS" sz="1400" noProof="0" dirty="0"/>
          </a:p>
        </p:txBody>
      </p:sp>
      <p:pic>
        <p:nvPicPr>
          <p:cNvPr id="6" name="Picture 5" descr="Visualize feature map - vision - PyTorch Forums">
            <a:extLst>
              <a:ext uri="{FF2B5EF4-FFF2-40B4-BE49-F238E27FC236}">
                <a16:creationId xmlns:a16="http://schemas.microsoft.com/office/drawing/2014/main" id="{281ABBD9-D037-6B0E-ECF1-AB0C3BB38604}"/>
              </a:ext>
            </a:extLst>
          </p:cNvPr>
          <p:cNvPicPr>
            <a:picLocks noChangeAspect="1"/>
          </p:cNvPicPr>
          <p:nvPr/>
        </p:nvPicPr>
        <p:blipFill>
          <a:blip r:embed="rId2"/>
          <a:srcRect l="22447" r="34431"/>
          <a:stretch>
            <a:fillRect/>
          </a:stretch>
        </p:blipFill>
        <p:spPr>
          <a:xfrm>
            <a:off x="7646838" y="1980775"/>
            <a:ext cx="3748858" cy="3632824"/>
          </a:xfrm>
          <a:prstGeom prst="rect">
            <a:avLst/>
          </a:prstGeom>
        </p:spPr>
      </p:pic>
      <p:sp>
        <p:nvSpPr>
          <p:cNvPr id="33" name="Rectangle 32">
            <a:extLst>
              <a:ext uri="{FF2B5EF4-FFF2-40B4-BE49-F238E27FC236}">
                <a16:creationId xmlns:a16="http://schemas.microsoft.com/office/drawing/2014/main" id="{2E438CA0-CB4D-4C94-8C39-9C7FC9BBEE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1962"/>
            <a:ext cx="12191998" cy="461774"/>
          </a:xfrm>
          <a:prstGeom prst="rect">
            <a:avLst/>
          </a:prstGeom>
          <a:gradFill>
            <a:gsLst>
              <a:gs pos="0">
                <a:srgbClr val="000000"/>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35" name="Rectangle 34">
            <a:extLst>
              <a:ext uri="{FF2B5EF4-FFF2-40B4-BE49-F238E27FC236}">
                <a16:creationId xmlns:a16="http://schemas.microsoft.com/office/drawing/2014/main" id="{6B2C05E3-84E7-4957-95EF-B471CBF71C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1962"/>
            <a:ext cx="4076698" cy="464399"/>
          </a:xfrm>
          <a:prstGeom prst="rect">
            <a:avLst/>
          </a:prstGeom>
          <a:gradFill>
            <a:gsLst>
              <a:gs pos="0">
                <a:srgbClr val="000000">
                  <a:alpha val="46000"/>
                </a:srgbClr>
              </a:gs>
              <a:gs pos="99000">
                <a:schemeClr val="accent1"/>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Tree>
    <p:extLst>
      <p:ext uri="{BB962C8B-B14F-4D97-AF65-F5344CB8AC3E}">
        <p14:creationId xmlns:p14="http://schemas.microsoft.com/office/powerpoint/2010/main" val="3316871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2E17E911-875F-4DE5-8699-99D9F1805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45" name="Rectangle 4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47" name="Rectangle 4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49" name="Rectangle 4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51" name="Freeform: Shape 5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sr-Latn-RS" noProof="0" dirty="0"/>
          </a:p>
        </p:txBody>
      </p:sp>
      <p:sp>
        <p:nvSpPr>
          <p:cNvPr id="53" name="Rectangle 5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 name="Title 1">
            <a:extLst>
              <a:ext uri="{FF2B5EF4-FFF2-40B4-BE49-F238E27FC236}">
                <a16:creationId xmlns:a16="http://schemas.microsoft.com/office/drawing/2014/main" id="{7EAA5B0C-8BC6-4B2D-4417-00543036D543}"/>
              </a:ext>
            </a:extLst>
          </p:cNvPr>
          <p:cNvSpPr>
            <a:spLocks noGrp="1"/>
          </p:cNvSpPr>
          <p:nvPr>
            <p:ph type="title"/>
          </p:nvPr>
        </p:nvSpPr>
        <p:spPr>
          <a:xfrm>
            <a:off x="466722" y="586855"/>
            <a:ext cx="3201366" cy="3387497"/>
          </a:xfrm>
        </p:spPr>
        <p:txBody>
          <a:bodyPr anchor="b">
            <a:normAutofit/>
          </a:bodyPr>
          <a:lstStyle/>
          <a:p>
            <a:pPr algn="r"/>
            <a:r>
              <a:rPr lang="sr-Latn-RS" sz="4000" noProof="0" dirty="0">
                <a:solidFill>
                  <a:srgbClr val="FFFFFF"/>
                </a:solidFill>
              </a:rPr>
              <a:t>Zašto koristimo </a:t>
            </a:r>
            <a:r>
              <a:rPr lang="sr-Latn-RS" sz="4000" noProof="0" dirty="0" err="1">
                <a:solidFill>
                  <a:srgbClr val="FFFFFF"/>
                </a:solidFill>
              </a:rPr>
              <a:t>CNNs</a:t>
            </a:r>
            <a:r>
              <a:rPr lang="sr-Latn-RS" sz="4000" noProof="0" dirty="0">
                <a:solidFill>
                  <a:srgbClr val="FFFFFF"/>
                </a:solidFill>
              </a:rPr>
              <a:t> uopšte?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82E7D0-4E9D-E694-7BD3-837C2DF847E0}"/>
                  </a:ext>
                </a:extLst>
              </p:cNvPr>
              <p:cNvSpPr>
                <a:spLocks noGrp="1"/>
              </p:cNvSpPr>
              <p:nvPr>
                <p:ph idx="1"/>
              </p:nvPr>
            </p:nvSpPr>
            <p:spPr>
              <a:xfrm>
                <a:off x="4037825" y="10138"/>
                <a:ext cx="4037834" cy="6837724"/>
              </a:xfrm>
            </p:spPr>
            <p:txBody>
              <a:bodyPr anchor="ctr">
                <a:noAutofit/>
              </a:bodyPr>
              <a:lstStyle/>
              <a:p>
                <a:pPr algn="just"/>
                <a:r>
                  <a:rPr lang="sr-Latn-RS" sz="1600" noProof="0" dirty="0"/>
                  <a:t>CNN koristi iste osnovne elemente kao FCNN: težine, </a:t>
                </a:r>
                <a:r>
                  <a:rPr lang="sr-Latn-RS" sz="1600" noProof="0" dirty="0" err="1"/>
                  <a:t>bias</a:t>
                </a:r>
                <a:r>
                  <a:rPr lang="sr-Latn-RS" sz="1600" noProof="0" dirty="0"/>
                  <a:t> parametre i nelinearne </a:t>
                </a:r>
                <a:r>
                  <a:rPr lang="sr-Latn-RS" sz="1600" noProof="0" dirty="0" err="1"/>
                  <a:t>aktivacione</a:t>
                </a:r>
                <a:r>
                  <a:rPr lang="sr-Latn-RS" sz="1600" noProof="0" dirty="0"/>
                  <a:t> funkcije, ali je arhitektura prilagođena prostornoj strukturi slike.</a:t>
                </a:r>
              </a:p>
              <a:p>
                <a:pPr algn="just"/>
                <a:r>
                  <a:rPr lang="sr-Latn-RS" sz="1600" noProof="0" dirty="0"/>
                  <a:t>Glavni problemi FCNN pri obradi slika:</a:t>
                </a:r>
              </a:p>
              <a:p>
                <a:pPr lvl="1" algn="just"/>
                <a:r>
                  <a:rPr lang="sr-Latn-RS" sz="1600" noProof="0" dirty="0" err="1"/>
                  <a:t>Flatten</a:t>
                </a:r>
                <a:r>
                  <a:rPr lang="sr-Latn-RS" sz="1600" noProof="0" dirty="0"/>
                  <a:t> transformiše sliku u vektor, pa samim tim prostorna struktura više nije eksplicitno predstavljena</a:t>
                </a:r>
              </a:p>
              <a:p>
                <a:pPr lvl="1" algn="just"/>
                <a:r>
                  <a:rPr lang="sr-Latn-RS" sz="1600" noProof="0" dirty="0"/>
                  <a:t>Svaki neuron je povezan sa svim ulazima što dovodi do velikog broja parametara u mreži</a:t>
                </a:r>
              </a:p>
              <a:p>
                <a:pPr algn="just"/>
                <a:r>
                  <a:rPr lang="sr-Latn-RS" sz="1600" noProof="0" dirty="0"/>
                  <a:t>Primer RGB slike 224x224:</a:t>
                </a:r>
              </a:p>
              <a:p>
                <a:pPr lvl="1" algn="just"/>
                <a14:m>
                  <m:oMath xmlns:m="http://schemas.openxmlformats.org/officeDocument/2006/math">
                    <m:r>
                      <a:rPr lang="sr-Latn-RS" sz="1600" b="0" i="1" noProof="0">
                        <a:latin typeface="Cambria Math" panose="02040503050406030204" pitchFamily="18" charset="0"/>
                      </a:rPr>
                      <m:t>224∗224∗3=150528</m:t>
                    </m:r>
                  </m:oMath>
                </a14:m>
                <a:r>
                  <a:rPr lang="sr-Latn-RS" sz="1600" noProof="0" dirty="0"/>
                  <a:t> inputa</a:t>
                </a:r>
              </a:p>
              <a:p>
                <a:pPr lvl="1" algn="just"/>
                <a:r>
                  <a:rPr lang="sr-Latn-RS" sz="1600" noProof="0" dirty="0"/>
                  <a:t>Pretpostavimo arhitekturu 150528→4096→4096→1000, iz koje sledi:</a:t>
                </a:r>
              </a:p>
              <a:p>
                <a:pPr lvl="1" algn="just"/>
                <a14:m>
                  <m:oMath xmlns:m="http://schemas.openxmlformats.org/officeDocument/2006/math">
                    <m:r>
                      <a:rPr lang="sr-Latn-RS" sz="1600" b="0" i="1" noProof="0">
                        <a:latin typeface="Cambria Math" panose="02040503050406030204" pitchFamily="18" charset="0"/>
                      </a:rPr>
                      <m:t>150528∗4096+4096+4096∗4096+4096+4096∗1000+1000</m:t>
                    </m:r>
                    <m:r>
                      <a:rPr lang="sr-Latn-RS" sz="1600" b="0" i="1" noProof="0">
                        <a:latin typeface="Cambria Math" panose="02040503050406030204" pitchFamily="18" charset="0"/>
                        <a:ea typeface="Cambria Math" panose="02040503050406030204" pitchFamily="18" charset="0"/>
                      </a:rPr>
                      <m:t>≈637</m:t>
                    </m:r>
                    <m:r>
                      <a:rPr lang="sr-Latn-RS" sz="1600" b="0" i="1" noProof="0">
                        <a:latin typeface="Cambria Math" panose="02040503050406030204" pitchFamily="18" charset="0"/>
                        <a:ea typeface="Cambria Math" panose="02040503050406030204" pitchFamily="18" charset="0"/>
                      </a:rPr>
                      <m:t>𝑚</m:t>
                    </m:r>
                  </m:oMath>
                </a14:m>
                <a:r>
                  <a:rPr lang="sr-Latn-RS" sz="1600" noProof="0" dirty="0"/>
                  <a:t> parametara</a:t>
                </a:r>
              </a:p>
              <a:p>
                <a:pPr lvl="1" algn="just"/>
                <a:r>
                  <a:rPr lang="sr-Latn-RS" sz="1600" noProof="0" dirty="0"/>
                  <a:t>Ako su ti parametri u </a:t>
                </a:r>
                <a:r>
                  <a:rPr lang="sr-Latn-RS" sz="1600" i="1" noProof="0" dirty="0"/>
                  <a:t>float32</a:t>
                </a:r>
                <a:r>
                  <a:rPr lang="sr-Latn-RS" sz="1600" noProof="0" dirty="0"/>
                  <a:t> formatu, približno 2.55GB memorije</a:t>
                </a:r>
              </a:p>
              <a:p>
                <a:pPr algn="just"/>
                <a:r>
                  <a:rPr lang="sr-Latn-RS" sz="1600" noProof="0" dirty="0"/>
                  <a:t>CNN rešenje: lokalna povezanost + deljenje težina (</a:t>
                </a:r>
                <a:r>
                  <a:rPr lang="sr-Latn-RS" sz="1600" noProof="0" dirty="0" err="1"/>
                  <a:t>weight</a:t>
                </a:r>
                <a:r>
                  <a:rPr lang="sr-Latn-RS" sz="1600" noProof="0" dirty="0"/>
                  <a:t> </a:t>
                </a:r>
                <a:r>
                  <a:rPr lang="sr-Latn-RS" sz="1600" noProof="0" dirty="0" err="1"/>
                  <a:t>sharing</a:t>
                </a:r>
                <a:r>
                  <a:rPr lang="sr-Latn-RS" sz="1600" noProof="0" dirty="0"/>
                  <a:t>) → značajno manje parametara uz očuvanje prostorne strukture slike.</a:t>
                </a:r>
              </a:p>
            </p:txBody>
          </p:sp>
        </mc:Choice>
        <mc:Fallback xmlns="">
          <p:sp>
            <p:nvSpPr>
              <p:cNvPr id="3" name="Content Placeholder 2">
                <a:extLst>
                  <a:ext uri="{FF2B5EF4-FFF2-40B4-BE49-F238E27FC236}">
                    <a16:creationId xmlns:a16="http://schemas.microsoft.com/office/drawing/2014/main" id="{BE82E7D0-4E9D-E694-7BD3-837C2DF847E0}"/>
                  </a:ext>
                </a:extLst>
              </p:cNvPr>
              <p:cNvSpPr>
                <a:spLocks noGrp="1" noRot="1" noChangeAspect="1" noMove="1" noResize="1" noEditPoints="1" noAdjustHandles="1" noChangeArrowheads="1" noChangeShapeType="1" noTextEdit="1"/>
              </p:cNvSpPr>
              <p:nvPr>
                <p:ph idx="1"/>
              </p:nvPr>
            </p:nvSpPr>
            <p:spPr>
              <a:xfrm>
                <a:off x="4037825" y="10138"/>
                <a:ext cx="4037834" cy="6837724"/>
              </a:xfrm>
              <a:blipFill>
                <a:blip r:embed="rId2"/>
                <a:stretch>
                  <a:fillRect l="-627" r="-940"/>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B4A48F0-631D-401C-DD9B-CAD1E1C63933}"/>
              </a:ext>
            </a:extLst>
          </p:cNvPr>
          <p:cNvPicPr>
            <a:picLocks noChangeAspect="1"/>
          </p:cNvPicPr>
          <p:nvPr/>
        </p:nvPicPr>
        <p:blipFill>
          <a:blip r:embed="rId3"/>
          <a:srcRect l="37728" r="33698" b="1"/>
          <a:stretch>
            <a:fillRect/>
          </a:stretch>
        </p:blipFill>
        <p:spPr>
          <a:xfrm>
            <a:off x="8109502" y="10"/>
            <a:ext cx="4082498" cy="6857990"/>
          </a:xfrm>
          <a:prstGeom prst="rect">
            <a:avLst/>
          </a:prstGeom>
        </p:spPr>
      </p:pic>
    </p:spTree>
    <p:extLst>
      <p:ext uri="{BB962C8B-B14F-4D97-AF65-F5344CB8AC3E}">
        <p14:creationId xmlns:p14="http://schemas.microsoft.com/office/powerpoint/2010/main" val="754827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sr-Latn-RS" noProof="0"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 name="Title 1">
            <a:extLst>
              <a:ext uri="{FF2B5EF4-FFF2-40B4-BE49-F238E27FC236}">
                <a16:creationId xmlns:a16="http://schemas.microsoft.com/office/drawing/2014/main" id="{0D724DDB-E8C2-2A0E-948D-8F1229BFF6C0}"/>
              </a:ext>
            </a:extLst>
          </p:cNvPr>
          <p:cNvSpPr>
            <a:spLocks noGrp="1"/>
          </p:cNvSpPr>
          <p:nvPr>
            <p:ph type="title"/>
          </p:nvPr>
        </p:nvSpPr>
        <p:spPr>
          <a:xfrm>
            <a:off x="586478" y="1683756"/>
            <a:ext cx="3115265" cy="2396359"/>
          </a:xfrm>
        </p:spPr>
        <p:txBody>
          <a:bodyPr anchor="b">
            <a:normAutofit/>
          </a:bodyPr>
          <a:lstStyle/>
          <a:p>
            <a:pPr algn="r"/>
            <a:r>
              <a:rPr lang="sr-Latn-RS" sz="2800" noProof="0" dirty="0">
                <a:solidFill>
                  <a:srgbClr val="FFFFFF"/>
                </a:solidFill>
              </a:rPr>
              <a:t>Lokalna povezanost i deljenje parametara kod </a:t>
            </a:r>
            <a:r>
              <a:rPr lang="sr-Latn-RS" sz="2800" noProof="0" dirty="0" err="1">
                <a:solidFill>
                  <a:srgbClr val="FFFFFF"/>
                </a:solidFill>
              </a:rPr>
              <a:t>CNNs</a:t>
            </a:r>
            <a:br>
              <a:rPr lang="sr-Latn-RS" sz="2800" noProof="0" dirty="0">
                <a:solidFill>
                  <a:srgbClr val="FFFFFF"/>
                </a:solidFill>
              </a:rPr>
            </a:br>
            <a:endParaRPr lang="sr-Latn-RS" sz="2800" noProof="0" dirty="0">
              <a:solidFill>
                <a:srgbClr val="FFFFFF"/>
              </a:solidFill>
            </a:endParaRPr>
          </a:p>
        </p:txBody>
      </p:sp>
      <p:graphicFrame>
        <p:nvGraphicFramePr>
          <p:cNvPr id="5" name="Content Placeholder 2">
            <a:extLst>
              <a:ext uri="{FF2B5EF4-FFF2-40B4-BE49-F238E27FC236}">
                <a16:creationId xmlns:a16="http://schemas.microsoft.com/office/drawing/2014/main" id="{2603E4D6-638B-4D1C-68E3-4E7EC316F7B7}"/>
              </a:ext>
            </a:extLst>
          </p:cNvPr>
          <p:cNvGraphicFramePr>
            <a:graphicFrameLocks noGrp="1"/>
          </p:cNvGraphicFramePr>
          <p:nvPr>
            <p:ph idx="1"/>
            <p:extLst>
              <p:ext uri="{D42A27DB-BD31-4B8C-83A1-F6EECF244321}">
                <p14:modId xmlns:p14="http://schemas.microsoft.com/office/powerpoint/2010/main" val="2617826259"/>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513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pic>
        <p:nvPicPr>
          <p:cNvPr id="5" name="Content Placeholder 4">
            <a:extLst>
              <a:ext uri="{FF2B5EF4-FFF2-40B4-BE49-F238E27FC236}">
                <a16:creationId xmlns:a16="http://schemas.microsoft.com/office/drawing/2014/main" id="{F7FD1871-8577-F80B-D97E-6A53A51A2383}"/>
              </a:ext>
            </a:extLst>
          </p:cNvPr>
          <p:cNvPicPr>
            <a:picLocks noGrp="1" noChangeAspect="1"/>
          </p:cNvPicPr>
          <p:nvPr>
            <p:ph idx="1"/>
          </p:nvPr>
        </p:nvPicPr>
        <p:blipFill>
          <a:blip r:embed="rId2"/>
          <a:stretch>
            <a:fillRect/>
          </a:stretch>
        </p:blipFill>
        <p:spPr>
          <a:xfrm>
            <a:off x="2756898" y="457200"/>
            <a:ext cx="6678203" cy="5943600"/>
          </a:xfrm>
          <a:prstGeom prst="rect">
            <a:avLst/>
          </a:prstGeom>
        </p:spPr>
      </p:pic>
      <p:sp>
        <p:nvSpPr>
          <p:cNvPr id="6" name="TextBox 5">
            <a:extLst>
              <a:ext uri="{FF2B5EF4-FFF2-40B4-BE49-F238E27FC236}">
                <a16:creationId xmlns:a16="http://schemas.microsoft.com/office/drawing/2014/main" id="{71E50250-1756-BFCB-1984-EF62AA33F7BB}"/>
              </a:ext>
            </a:extLst>
          </p:cNvPr>
          <p:cNvSpPr txBox="1"/>
          <p:nvPr/>
        </p:nvSpPr>
        <p:spPr>
          <a:xfrm>
            <a:off x="5433400" y="4792718"/>
            <a:ext cx="3818418" cy="1754326"/>
          </a:xfrm>
          <a:prstGeom prst="rect">
            <a:avLst/>
          </a:prstGeom>
          <a:noFill/>
        </p:spPr>
        <p:txBody>
          <a:bodyPr wrap="none" rtlCol="0">
            <a:spAutoFit/>
          </a:bodyPr>
          <a:lstStyle/>
          <a:p>
            <a:r>
              <a:rPr lang="sr-Latn-RS" noProof="0" dirty="0" err="1"/>
              <a:t>Hiperparametri</a:t>
            </a:r>
            <a:r>
              <a:rPr lang="sr-Latn-RS" noProof="0" dirty="0"/>
              <a:t> </a:t>
            </a:r>
            <a:r>
              <a:rPr lang="sr-Latn-RS" noProof="0" dirty="0" err="1"/>
              <a:t>Konvolucione</a:t>
            </a:r>
            <a:r>
              <a:rPr lang="sr-Latn-RS" noProof="0" dirty="0"/>
              <a:t> mreže:</a:t>
            </a:r>
          </a:p>
          <a:p>
            <a:pPr marL="285750" indent="-285750">
              <a:buFont typeface="Arial" panose="020B0604020202020204" pitchFamily="34" charset="0"/>
              <a:buChar char="•"/>
            </a:pPr>
            <a:r>
              <a:rPr lang="sr-Latn-RS" noProof="0" dirty="0"/>
              <a:t>Broj filtera</a:t>
            </a:r>
          </a:p>
          <a:p>
            <a:pPr marL="285750" indent="-285750">
              <a:buFont typeface="Arial" panose="020B0604020202020204" pitchFamily="34" charset="0"/>
              <a:buChar char="•"/>
            </a:pPr>
            <a:r>
              <a:rPr lang="sr-Latn-RS" noProof="0" dirty="0"/>
              <a:t>Veličina </a:t>
            </a:r>
            <a:r>
              <a:rPr lang="sr-Latn-RS" noProof="0" dirty="0" err="1"/>
              <a:t>kernela</a:t>
            </a:r>
            <a:endParaRPr lang="sr-Latn-RS" noProof="0" dirty="0"/>
          </a:p>
          <a:p>
            <a:pPr marL="285750" indent="-285750">
              <a:buFont typeface="Arial" panose="020B0604020202020204" pitchFamily="34" charset="0"/>
              <a:buChar char="•"/>
            </a:pPr>
            <a:r>
              <a:rPr lang="sr-Latn-RS" noProof="0" dirty="0" err="1"/>
              <a:t>Stride</a:t>
            </a:r>
            <a:endParaRPr lang="sr-Latn-RS" noProof="0" dirty="0"/>
          </a:p>
          <a:p>
            <a:pPr marL="285750" indent="-285750">
              <a:buFont typeface="Arial" panose="020B0604020202020204" pitchFamily="34" charset="0"/>
              <a:buChar char="•"/>
            </a:pPr>
            <a:r>
              <a:rPr lang="sr-Latn-RS" noProof="0" dirty="0" err="1"/>
              <a:t>Padding</a:t>
            </a:r>
            <a:endParaRPr lang="sr-Latn-RS" noProof="0" dirty="0"/>
          </a:p>
          <a:p>
            <a:endParaRPr lang="sr-Latn-RS" noProof="0" dirty="0"/>
          </a:p>
        </p:txBody>
      </p:sp>
      <p:sp>
        <p:nvSpPr>
          <p:cNvPr id="7" name="TextBox 6">
            <a:extLst>
              <a:ext uri="{FF2B5EF4-FFF2-40B4-BE49-F238E27FC236}">
                <a16:creationId xmlns:a16="http://schemas.microsoft.com/office/drawing/2014/main" id="{C7849A6D-82C7-B39F-CEF9-D690F563AC58}"/>
              </a:ext>
            </a:extLst>
          </p:cNvPr>
          <p:cNvSpPr txBox="1"/>
          <p:nvPr/>
        </p:nvSpPr>
        <p:spPr>
          <a:xfrm>
            <a:off x="-4623" y="457200"/>
            <a:ext cx="2733947" cy="3970318"/>
          </a:xfrm>
          <a:prstGeom prst="rect">
            <a:avLst/>
          </a:prstGeom>
          <a:noFill/>
        </p:spPr>
        <p:txBody>
          <a:bodyPr wrap="square" rtlCol="0">
            <a:spAutoFit/>
          </a:bodyPr>
          <a:lstStyle/>
          <a:p>
            <a:r>
              <a:rPr lang="sr-Latn-RS" noProof="0" dirty="0">
                <a:solidFill>
                  <a:schemeClr val="bg1"/>
                </a:solidFill>
              </a:rPr>
              <a:t>Dublje </a:t>
            </a:r>
            <a:r>
              <a:rPr lang="sr-Latn-RS" noProof="0" dirty="0" err="1">
                <a:solidFill>
                  <a:schemeClr val="bg1"/>
                </a:solidFill>
              </a:rPr>
              <a:t>konvolucione</a:t>
            </a:r>
            <a:r>
              <a:rPr lang="sr-Latn-RS" noProof="0" dirty="0">
                <a:solidFill>
                  <a:schemeClr val="bg1"/>
                </a:solidFill>
              </a:rPr>
              <a:t> </a:t>
            </a:r>
            <a:r>
              <a:rPr lang="sr-Latn-RS" noProof="0" dirty="0" err="1">
                <a:solidFill>
                  <a:schemeClr val="bg1"/>
                </a:solidFill>
              </a:rPr>
              <a:t>feature</a:t>
            </a:r>
            <a:r>
              <a:rPr lang="sr-Latn-RS" noProof="0" dirty="0">
                <a:solidFill>
                  <a:schemeClr val="bg1"/>
                </a:solidFill>
              </a:rPr>
              <a:t> mape kombinuju </a:t>
            </a:r>
            <a:r>
              <a:rPr lang="sr-Latn-RS" b="1" noProof="0" dirty="0">
                <a:solidFill>
                  <a:schemeClr val="bg1"/>
                </a:solidFill>
              </a:rPr>
              <a:t>semantički značajne informacije</a:t>
            </a:r>
            <a:r>
              <a:rPr lang="sr-Latn-RS" noProof="0" dirty="0">
                <a:solidFill>
                  <a:schemeClr val="bg1"/>
                </a:solidFill>
              </a:rPr>
              <a:t> sa preostalom </a:t>
            </a:r>
            <a:r>
              <a:rPr lang="sr-Latn-RS" b="1" noProof="0" dirty="0">
                <a:solidFill>
                  <a:schemeClr val="bg1"/>
                </a:solidFill>
              </a:rPr>
              <a:t>prostornom informacijom</a:t>
            </a:r>
            <a:r>
              <a:rPr lang="sr-Latn-RS" noProof="0" dirty="0">
                <a:solidFill>
                  <a:schemeClr val="bg1"/>
                </a:solidFill>
              </a:rPr>
              <a:t>, zbog čega su posebno pogodne za vizuelno objašnjavanje odluka CNN-a.</a:t>
            </a:r>
          </a:p>
          <a:p>
            <a:endParaRPr lang="sr-Latn-RS" noProof="0" dirty="0">
              <a:solidFill>
                <a:schemeClr val="bg1"/>
              </a:solidFill>
            </a:endParaRPr>
          </a:p>
          <a:p>
            <a:r>
              <a:rPr lang="sr-Latn-RS" b="1" noProof="0" dirty="0">
                <a:solidFill>
                  <a:schemeClr val="bg1"/>
                </a:solidFill>
              </a:rPr>
              <a:t>Slika → ivice → teksture/oblici → delovi objekta → objekat</a:t>
            </a:r>
            <a:endParaRPr lang="sr-Latn-RS" noProof="0" dirty="0">
              <a:solidFill>
                <a:schemeClr val="bg1"/>
              </a:solidFill>
            </a:endParaRPr>
          </a:p>
          <a:p>
            <a:endParaRPr lang="sr-Latn-RS" noProof="0" dirty="0">
              <a:solidFill>
                <a:schemeClr val="bg1"/>
              </a:solidFill>
            </a:endParaRPr>
          </a:p>
        </p:txBody>
      </p:sp>
    </p:spTree>
    <p:extLst>
      <p:ext uri="{BB962C8B-B14F-4D97-AF65-F5344CB8AC3E}">
        <p14:creationId xmlns:p14="http://schemas.microsoft.com/office/powerpoint/2010/main" val="3549876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 name="Title 1">
            <a:extLst>
              <a:ext uri="{FF2B5EF4-FFF2-40B4-BE49-F238E27FC236}">
                <a16:creationId xmlns:a16="http://schemas.microsoft.com/office/drawing/2014/main" id="{099BF736-ADA0-98E7-4D5F-2971FE9CBAED}"/>
              </a:ext>
            </a:extLst>
          </p:cNvPr>
          <p:cNvSpPr>
            <a:spLocks noGrp="1"/>
          </p:cNvSpPr>
          <p:nvPr>
            <p:ph type="title"/>
          </p:nvPr>
        </p:nvSpPr>
        <p:spPr>
          <a:xfrm>
            <a:off x="1371599" y="5510253"/>
            <a:ext cx="9895951" cy="1033669"/>
          </a:xfrm>
        </p:spPr>
        <p:txBody>
          <a:bodyPr>
            <a:normAutofit/>
          </a:bodyPr>
          <a:lstStyle/>
          <a:p>
            <a:r>
              <a:rPr lang="sr-Latn-RS" sz="4000" noProof="0" dirty="0">
                <a:solidFill>
                  <a:srgbClr val="FFFFFF"/>
                </a:solidFill>
              </a:rPr>
              <a:t>Od klasifikacije do lokalizacije</a:t>
            </a:r>
          </a:p>
        </p:txBody>
      </p:sp>
      <p:pic>
        <p:nvPicPr>
          <p:cNvPr id="5" name="Picture 4">
            <a:extLst>
              <a:ext uri="{FF2B5EF4-FFF2-40B4-BE49-F238E27FC236}">
                <a16:creationId xmlns:a16="http://schemas.microsoft.com/office/drawing/2014/main" id="{B37ABD8F-C0D2-DA47-A00C-3CEC7FE28409}"/>
              </a:ext>
            </a:extLst>
          </p:cNvPr>
          <p:cNvPicPr>
            <a:picLocks noChangeAspect="1"/>
          </p:cNvPicPr>
          <p:nvPr/>
        </p:nvPicPr>
        <p:blipFill>
          <a:blip r:embed="rId2"/>
          <a:srcRect l="1186" b="2031"/>
          <a:stretch>
            <a:fillRect/>
          </a:stretch>
        </p:blipFill>
        <p:spPr>
          <a:xfrm>
            <a:off x="2122553" y="402570"/>
            <a:ext cx="8043411" cy="3149985"/>
          </a:xfrm>
          <a:prstGeom prst="rect">
            <a:avLst/>
          </a:prstGeom>
        </p:spPr>
      </p:pic>
      <p:sp>
        <p:nvSpPr>
          <p:cNvPr id="3" name="Content Placeholder 2">
            <a:extLst>
              <a:ext uri="{FF2B5EF4-FFF2-40B4-BE49-F238E27FC236}">
                <a16:creationId xmlns:a16="http://schemas.microsoft.com/office/drawing/2014/main" id="{CF19A6BC-B640-9E4C-1B28-8F60C1531AE1}"/>
              </a:ext>
            </a:extLst>
          </p:cNvPr>
          <p:cNvSpPr>
            <a:spLocks noGrp="1"/>
          </p:cNvSpPr>
          <p:nvPr>
            <p:ph idx="1"/>
          </p:nvPr>
        </p:nvSpPr>
        <p:spPr>
          <a:xfrm>
            <a:off x="1940256" y="4074931"/>
            <a:ext cx="8332826" cy="1119982"/>
          </a:xfrm>
        </p:spPr>
        <p:txBody>
          <a:bodyPr anchor="ctr">
            <a:noAutofit/>
          </a:bodyPr>
          <a:lstStyle/>
          <a:p>
            <a:pPr algn="just"/>
            <a:r>
              <a:rPr lang="sr-Latn-RS" sz="1400" noProof="0" dirty="0"/>
              <a:t>CNN klasifikator određuje šta se nalazi na slici, ali sama predikcija ne objašnjava koji regioni slike su doprineli toj odluci.</a:t>
            </a:r>
          </a:p>
          <a:p>
            <a:pPr algn="just"/>
            <a:r>
              <a:rPr lang="sr-Latn-RS" sz="1400" noProof="0" dirty="0"/>
              <a:t>Slika → CNN → ”Papagaj”</a:t>
            </a:r>
          </a:p>
          <a:p>
            <a:pPr algn="just"/>
            <a:r>
              <a:rPr lang="sr-Latn-RS" sz="1400" noProof="0" dirty="0"/>
              <a:t> Cilj je povezati odluku modela sa prostornim informacijama sadržanim u </a:t>
            </a:r>
            <a:r>
              <a:rPr lang="sr-Latn-RS" sz="1400" noProof="0" dirty="0" err="1"/>
              <a:t>konvolucionim</a:t>
            </a:r>
            <a:r>
              <a:rPr lang="sr-Latn-RS" sz="1400" noProof="0" dirty="0"/>
              <a:t> </a:t>
            </a:r>
            <a:r>
              <a:rPr lang="sr-Latn-RS" sz="1400" noProof="0" dirty="0" err="1"/>
              <a:t>feature</a:t>
            </a:r>
            <a:r>
              <a:rPr lang="sr-Latn-RS" sz="1400" noProof="0" dirty="0"/>
              <a:t> mapama.</a:t>
            </a:r>
          </a:p>
          <a:p>
            <a:pPr algn="just"/>
            <a:r>
              <a:rPr lang="sr-Latn-RS" sz="1400" noProof="0" dirty="0"/>
              <a:t>Slika → CNN → ”Papagaj” + relevantni regioni slike </a:t>
            </a:r>
          </a:p>
          <a:p>
            <a:pPr algn="just"/>
            <a:endParaRPr lang="sr-Latn-RS" sz="1400" noProof="0" dirty="0"/>
          </a:p>
          <a:p>
            <a:pPr algn="just"/>
            <a:endParaRPr lang="sr-Latn-RS" sz="1400" noProof="0" dirty="0"/>
          </a:p>
        </p:txBody>
      </p:sp>
    </p:spTree>
    <p:extLst>
      <p:ext uri="{BB962C8B-B14F-4D97-AF65-F5344CB8AC3E}">
        <p14:creationId xmlns:p14="http://schemas.microsoft.com/office/powerpoint/2010/main" val="4121073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7" name="Rectangle 1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8" name="Rectangle 1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 name="Title 1">
            <a:extLst>
              <a:ext uri="{FF2B5EF4-FFF2-40B4-BE49-F238E27FC236}">
                <a16:creationId xmlns:a16="http://schemas.microsoft.com/office/drawing/2014/main" id="{4A825FC3-033B-EC14-6851-D8506A915EC4}"/>
              </a:ext>
            </a:extLst>
          </p:cNvPr>
          <p:cNvSpPr>
            <a:spLocks noGrp="1"/>
          </p:cNvSpPr>
          <p:nvPr>
            <p:ph type="title"/>
          </p:nvPr>
        </p:nvSpPr>
        <p:spPr>
          <a:xfrm>
            <a:off x="1371599" y="294538"/>
            <a:ext cx="9895951" cy="1033669"/>
          </a:xfrm>
        </p:spPr>
        <p:txBody>
          <a:bodyPr>
            <a:normAutofit/>
          </a:bodyPr>
          <a:lstStyle/>
          <a:p>
            <a:r>
              <a:rPr lang="sr-Latn-RS" sz="4000" noProof="0" dirty="0">
                <a:solidFill>
                  <a:srgbClr val="FFFFFF"/>
                </a:solidFill>
              </a:rPr>
              <a:t>CAM – </a:t>
            </a:r>
            <a:r>
              <a:rPr lang="sr-Latn-RS" sz="4000" noProof="0" dirty="0" err="1">
                <a:solidFill>
                  <a:srgbClr val="FFFFFF"/>
                </a:solidFill>
              </a:rPr>
              <a:t>Class</a:t>
            </a:r>
            <a:r>
              <a:rPr lang="sr-Latn-RS" sz="4000" noProof="0" dirty="0">
                <a:solidFill>
                  <a:srgbClr val="FFFFFF"/>
                </a:solidFill>
              </a:rPr>
              <a:t> </a:t>
            </a:r>
            <a:r>
              <a:rPr lang="sr-Latn-RS" sz="4000" noProof="0" dirty="0" err="1">
                <a:solidFill>
                  <a:srgbClr val="FFFFFF"/>
                </a:solidFill>
              </a:rPr>
              <a:t>Activation</a:t>
            </a:r>
            <a:r>
              <a:rPr lang="sr-Latn-RS" sz="4000" noProof="0" dirty="0">
                <a:solidFill>
                  <a:srgbClr val="FFFFFF"/>
                </a:solidFill>
              </a:rPr>
              <a:t> </a:t>
            </a:r>
            <a:r>
              <a:rPr lang="sr-Latn-RS" sz="4000" noProof="0" dirty="0" err="1">
                <a:solidFill>
                  <a:srgbClr val="FFFFFF"/>
                </a:solidFill>
              </a:rPr>
              <a:t>Mapping</a:t>
            </a:r>
            <a:endParaRPr lang="sr-Latn-RS" sz="4000" noProof="0" dirty="0">
              <a:solidFill>
                <a:srgbClr val="FFFFFF"/>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F3B764-21BB-FEB9-B34E-B34E7A857FA5}"/>
                  </a:ext>
                </a:extLst>
              </p:cNvPr>
              <p:cNvSpPr>
                <a:spLocks noGrp="1"/>
              </p:cNvSpPr>
              <p:nvPr>
                <p:ph idx="1"/>
              </p:nvPr>
            </p:nvSpPr>
            <p:spPr>
              <a:xfrm>
                <a:off x="1371599" y="2318197"/>
                <a:ext cx="9724031" cy="3683358"/>
              </a:xfrm>
            </p:spPr>
            <p:txBody>
              <a:bodyPr anchor="ctr">
                <a:normAutofit/>
              </a:bodyPr>
              <a:lstStyle/>
              <a:p>
                <a:pPr marL="0" indent="0" algn="just">
                  <a:buNone/>
                </a:pPr>
                <a:endParaRPr lang="sr-Latn-RS" sz="2000" noProof="0" dirty="0"/>
              </a:p>
              <a:p>
                <a:pPr algn="just"/>
                <a:r>
                  <a:rPr lang="sr-Latn-RS" sz="2000" noProof="0" dirty="0"/>
                  <a:t>CAM koristi prostorne informacije iz poslednjeg </a:t>
                </a:r>
                <a:r>
                  <a:rPr lang="sr-Latn-RS" sz="2000" noProof="0" dirty="0" err="1"/>
                  <a:t>konvolucionog</a:t>
                </a:r>
                <a:r>
                  <a:rPr lang="sr-Latn-RS" sz="2000" noProof="0" dirty="0"/>
                  <a:t> sloja kako bi odredio regione slike relevantne za određenu klasu.</a:t>
                </a:r>
              </a:p>
              <a:p>
                <a:pPr algn="just"/>
                <a:r>
                  <a:rPr lang="sr-Latn-RS" sz="2000" noProof="0" dirty="0" err="1"/>
                  <a:t>Conv</a:t>
                </a:r>
                <a:r>
                  <a:rPr lang="sr-Latn-RS" sz="2000" noProof="0" dirty="0"/>
                  <a:t> → Global </a:t>
                </a:r>
                <a:r>
                  <a:rPr lang="sr-Latn-RS" sz="2000" noProof="0" dirty="0" err="1"/>
                  <a:t>Average</a:t>
                </a:r>
                <a:r>
                  <a:rPr lang="sr-Latn-RS" sz="2000" noProof="0" dirty="0"/>
                  <a:t> </a:t>
                </a:r>
                <a:r>
                  <a:rPr lang="sr-Latn-RS" sz="2000" noProof="0" dirty="0" err="1"/>
                  <a:t>Pooling</a:t>
                </a:r>
                <a:r>
                  <a:rPr lang="sr-Latn-RS" sz="2000" noProof="0" dirty="0"/>
                  <a:t> → </a:t>
                </a:r>
                <a:r>
                  <a:rPr lang="sr-Latn-RS" sz="2000" noProof="0" dirty="0" err="1"/>
                  <a:t>Linear</a:t>
                </a:r>
                <a:r>
                  <a:rPr lang="sr-Latn-RS" sz="2000" noProof="0" dirty="0"/>
                  <a:t> → </a:t>
                </a:r>
                <a:r>
                  <a:rPr lang="sr-Latn-RS" sz="2000" noProof="0" dirty="0" err="1"/>
                  <a:t>Class</a:t>
                </a:r>
                <a:endParaRPr lang="sr-Latn-RS" sz="2000" noProof="0" dirty="0"/>
              </a:p>
              <a:p>
                <a:pPr algn="just"/>
                <a:r>
                  <a:rPr lang="sr-Latn-RS" sz="2000" noProof="0" dirty="0"/>
                  <a:t>Za svaku </a:t>
                </a:r>
                <a:r>
                  <a:rPr lang="sr-Latn-RS" sz="2000" noProof="0" dirty="0" err="1"/>
                  <a:t>feature</a:t>
                </a:r>
                <a:r>
                  <a:rPr lang="sr-Latn-RS" sz="2000" noProof="0" dirty="0"/>
                  <a:t> mapu:</a:t>
                </a:r>
              </a:p>
              <a:p>
                <a:pPr algn="just"/>
                <a14:m>
                  <m:oMath xmlns:m="http://schemas.openxmlformats.org/officeDocument/2006/math">
                    <m:sSub>
                      <m:sSubPr>
                        <m:ctrlPr>
                          <a:rPr lang="sr-Latn-RS" sz="2000" b="0" i="1" noProof="0" smtClean="0">
                            <a:latin typeface="Cambria Math" panose="02040503050406030204" pitchFamily="18" charset="0"/>
                          </a:rPr>
                        </m:ctrlPr>
                      </m:sSubPr>
                      <m:e>
                        <m:r>
                          <a:rPr lang="sr-Latn-RS" sz="2000" b="0" i="1" noProof="0" smtClean="0">
                            <a:latin typeface="Cambria Math" panose="02040503050406030204" pitchFamily="18" charset="0"/>
                          </a:rPr>
                          <m:t>𝑔</m:t>
                        </m:r>
                      </m:e>
                      <m:sub>
                        <m:r>
                          <a:rPr lang="sr-Latn-RS" sz="2000" b="0" i="1" noProof="0" smtClean="0">
                            <a:latin typeface="Cambria Math" panose="02040503050406030204" pitchFamily="18" charset="0"/>
                          </a:rPr>
                          <m:t>𝑘</m:t>
                        </m:r>
                      </m:sub>
                    </m:sSub>
                    <m:r>
                      <a:rPr lang="sr-Latn-RS" sz="2000" b="0" i="1" noProof="0" smtClean="0">
                        <a:latin typeface="Cambria Math" panose="02040503050406030204" pitchFamily="18" charset="0"/>
                      </a:rPr>
                      <m:t>=</m:t>
                    </m:r>
                    <m:f>
                      <m:fPr>
                        <m:ctrlPr>
                          <a:rPr lang="sr-Latn-RS" sz="2000" b="0" i="1" noProof="0" smtClean="0">
                            <a:latin typeface="Cambria Math" panose="02040503050406030204" pitchFamily="18" charset="0"/>
                          </a:rPr>
                        </m:ctrlPr>
                      </m:fPr>
                      <m:num>
                        <m:r>
                          <a:rPr lang="sr-Latn-RS" sz="2000" b="0" i="1" noProof="0" smtClean="0">
                            <a:latin typeface="Cambria Math" panose="02040503050406030204" pitchFamily="18" charset="0"/>
                          </a:rPr>
                          <m:t>1</m:t>
                        </m:r>
                      </m:num>
                      <m:den>
                        <m:r>
                          <a:rPr lang="sr-Latn-RS" sz="2000" b="0" i="1" noProof="0" smtClean="0">
                            <a:latin typeface="Cambria Math" panose="02040503050406030204" pitchFamily="18" charset="0"/>
                          </a:rPr>
                          <m:t>𝑍</m:t>
                        </m:r>
                      </m:den>
                    </m:f>
                    <m:nary>
                      <m:naryPr>
                        <m:chr m:val="∑"/>
                        <m:supHide m:val="on"/>
                        <m:ctrlPr>
                          <a:rPr lang="sr-Latn-RS" sz="2000" b="0" i="1" noProof="0" smtClean="0">
                            <a:latin typeface="Cambria Math" panose="02040503050406030204" pitchFamily="18" charset="0"/>
                          </a:rPr>
                        </m:ctrlPr>
                      </m:naryPr>
                      <m:sub>
                        <m:r>
                          <m:rPr>
                            <m:brk m:alnAt="7"/>
                          </m:rPr>
                          <a:rPr lang="sr-Latn-RS" sz="2000" b="0" i="1" noProof="0" smtClean="0">
                            <a:latin typeface="Cambria Math" panose="02040503050406030204" pitchFamily="18" charset="0"/>
                          </a:rPr>
                          <m:t>𝑖</m:t>
                        </m:r>
                      </m:sub>
                      <m:sup/>
                      <m:e>
                        <m:nary>
                          <m:naryPr>
                            <m:chr m:val="∑"/>
                            <m:supHide m:val="on"/>
                            <m:ctrlPr>
                              <a:rPr lang="sr-Latn-RS" sz="2000" b="0" i="1" noProof="0" smtClean="0">
                                <a:latin typeface="Cambria Math" panose="02040503050406030204" pitchFamily="18" charset="0"/>
                              </a:rPr>
                            </m:ctrlPr>
                          </m:naryPr>
                          <m:sub>
                            <m:r>
                              <m:rPr>
                                <m:brk m:alnAt="7"/>
                              </m:rPr>
                              <a:rPr lang="sr-Latn-RS" sz="2000" b="0" i="1" noProof="0" smtClean="0">
                                <a:latin typeface="Cambria Math" panose="02040503050406030204" pitchFamily="18" charset="0"/>
                              </a:rPr>
                              <m:t>𝑗</m:t>
                            </m:r>
                          </m:sub>
                          <m:sup/>
                          <m:e>
                            <m:sSubSup>
                              <m:sSubSupPr>
                                <m:ctrlPr>
                                  <a:rPr lang="sr-Latn-RS" sz="2000" b="0" i="1" noProof="0" smtClean="0">
                                    <a:latin typeface="Cambria Math" panose="02040503050406030204" pitchFamily="18" charset="0"/>
                                  </a:rPr>
                                </m:ctrlPr>
                              </m:sSubSupPr>
                              <m:e>
                                <m:r>
                                  <a:rPr lang="sr-Latn-RS" sz="2000" b="0" i="1" noProof="0" smtClean="0">
                                    <a:latin typeface="Cambria Math" panose="02040503050406030204" pitchFamily="18" charset="0"/>
                                  </a:rPr>
                                  <m:t>𝐴</m:t>
                                </m:r>
                              </m:e>
                              <m:sub>
                                <m:r>
                                  <a:rPr lang="sr-Latn-RS" sz="2000" b="0" i="1" noProof="0" smtClean="0">
                                    <a:latin typeface="Cambria Math" panose="02040503050406030204" pitchFamily="18" charset="0"/>
                                  </a:rPr>
                                  <m:t>𝑖𝑗</m:t>
                                </m:r>
                              </m:sub>
                              <m:sup>
                                <m:r>
                                  <a:rPr lang="sr-Latn-RS" sz="2000" b="0" i="1" noProof="0" smtClean="0">
                                    <a:latin typeface="Cambria Math" panose="02040503050406030204" pitchFamily="18" charset="0"/>
                                  </a:rPr>
                                  <m:t>𝑘</m:t>
                                </m:r>
                              </m:sup>
                            </m:sSubSup>
                          </m:e>
                        </m:nary>
                      </m:e>
                    </m:nary>
                  </m:oMath>
                </a14:m>
                <a:r>
                  <a:rPr lang="sr-Latn-RS" sz="2000" noProof="0" dirty="0"/>
                  <a:t>, Težina </a:t>
                </a:r>
                <a14:m>
                  <m:oMath xmlns:m="http://schemas.openxmlformats.org/officeDocument/2006/math">
                    <m:sSubSup>
                      <m:sSubSupPr>
                        <m:ctrlPr>
                          <a:rPr lang="sr-Latn-RS" sz="2000" i="1" noProof="0" smtClean="0">
                            <a:latin typeface="Cambria Math" panose="02040503050406030204" pitchFamily="18" charset="0"/>
                            <a:ea typeface="Cambria Math" panose="02040503050406030204" pitchFamily="18" charset="0"/>
                          </a:rPr>
                        </m:ctrlPr>
                      </m:sSubSupPr>
                      <m:e>
                        <m:r>
                          <m:rPr>
                            <m:sty m:val="p"/>
                          </m:rPr>
                          <a:rPr lang="sr-Latn-RS" sz="2000" i="1" noProof="0" smtClean="0">
                            <a:latin typeface="Cambria Math" panose="02040503050406030204" pitchFamily="18" charset="0"/>
                            <a:ea typeface="Cambria Math" panose="02040503050406030204" pitchFamily="18" charset="0"/>
                          </a:rPr>
                          <m:t>ω</m:t>
                        </m:r>
                      </m:e>
                      <m:sub>
                        <m:r>
                          <a:rPr lang="sr-Latn-RS" sz="2000" b="0" i="1" noProof="0" smtClean="0">
                            <a:latin typeface="Cambria Math" panose="02040503050406030204" pitchFamily="18" charset="0"/>
                            <a:ea typeface="Cambria Math" panose="02040503050406030204" pitchFamily="18" charset="0"/>
                          </a:rPr>
                          <m:t>𝑘</m:t>
                        </m:r>
                      </m:sub>
                      <m:sup>
                        <m:r>
                          <a:rPr lang="sr-Latn-RS" sz="2000" b="0" i="1" noProof="0" smtClean="0">
                            <a:latin typeface="Cambria Math" panose="02040503050406030204" pitchFamily="18" charset="0"/>
                            <a:ea typeface="Cambria Math" panose="02040503050406030204" pitchFamily="18" charset="0"/>
                          </a:rPr>
                          <m:t>𝑐</m:t>
                        </m:r>
                      </m:sup>
                    </m:sSubSup>
                    <m:r>
                      <a:rPr lang="sr-Latn-RS" sz="2000" i="1" noProof="0" smtClean="0">
                        <a:latin typeface="Cambria Math" panose="02040503050406030204" pitchFamily="18" charset="0"/>
                      </a:rPr>
                      <m:t> </m:t>
                    </m:r>
                  </m:oMath>
                </a14:m>
                <a:r>
                  <a:rPr lang="sr-Latn-RS" sz="2000" noProof="0" dirty="0"/>
                  <a:t>iz klasifikacionog sloja predstavlja značaj </a:t>
                </a:r>
                <a:r>
                  <a:rPr lang="sr-Latn-RS" sz="2000" noProof="0" dirty="0" err="1"/>
                  <a:t>feature</a:t>
                </a:r>
                <a:r>
                  <a:rPr lang="sr-Latn-RS" sz="2000" noProof="0" dirty="0"/>
                  <a:t> mape </a:t>
                </a:r>
                <a14:m>
                  <m:oMath xmlns:m="http://schemas.openxmlformats.org/officeDocument/2006/math">
                    <m:sSup>
                      <m:sSupPr>
                        <m:ctrlPr>
                          <a:rPr lang="sr-Latn-RS" sz="2000" b="0" i="1" noProof="0" smtClean="0">
                            <a:latin typeface="Cambria Math" panose="02040503050406030204" pitchFamily="18" charset="0"/>
                          </a:rPr>
                        </m:ctrlPr>
                      </m:sSupPr>
                      <m:e>
                        <m:r>
                          <a:rPr lang="sr-Latn-RS" sz="2000" b="0" i="1" noProof="0" smtClean="0">
                            <a:latin typeface="Cambria Math" panose="02040503050406030204" pitchFamily="18" charset="0"/>
                          </a:rPr>
                          <m:t>𝐴</m:t>
                        </m:r>
                      </m:e>
                      <m:sup>
                        <m:r>
                          <a:rPr lang="sr-Latn-RS" sz="2000" b="0" i="1" noProof="0" smtClean="0">
                            <a:latin typeface="Cambria Math" panose="02040503050406030204" pitchFamily="18" charset="0"/>
                          </a:rPr>
                          <m:t>𝑘</m:t>
                        </m:r>
                      </m:sup>
                    </m:sSup>
                  </m:oMath>
                </a14:m>
                <a:r>
                  <a:rPr lang="sr-Latn-RS" sz="2000" noProof="0" dirty="0"/>
                  <a:t> za klasu </a:t>
                </a:r>
                <a14:m>
                  <m:oMath xmlns:m="http://schemas.openxmlformats.org/officeDocument/2006/math">
                    <m:r>
                      <a:rPr lang="sr-Latn-RS" sz="2000" b="0" i="1" noProof="0" smtClean="0">
                        <a:latin typeface="Cambria Math" panose="02040503050406030204" pitchFamily="18" charset="0"/>
                      </a:rPr>
                      <m:t>𝑐</m:t>
                    </m:r>
                  </m:oMath>
                </a14:m>
                <a:r>
                  <a:rPr lang="sr-Latn-RS" sz="2000" noProof="0" dirty="0"/>
                  <a:t>.</a:t>
                </a:r>
              </a:p>
              <a:p>
                <a:pPr algn="just"/>
                <a14:m>
                  <m:oMath xmlns:m="http://schemas.openxmlformats.org/officeDocument/2006/math">
                    <m:sSub>
                      <m:sSubPr>
                        <m:ctrlPr>
                          <a:rPr lang="sr-Latn-RS" sz="2000" b="0" i="1" noProof="0" smtClean="0">
                            <a:latin typeface="Cambria Math" panose="02040503050406030204" pitchFamily="18" charset="0"/>
                          </a:rPr>
                        </m:ctrlPr>
                      </m:sSubPr>
                      <m:e>
                        <m:r>
                          <a:rPr lang="sr-Latn-RS" sz="2000" b="0" i="1" noProof="0" smtClean="0">
                            <a:latin typeface="Cambria Math" panose="02040503050406030204" pitchFamily="18" charset="0"/>
                          </a:rPr>
                          <m:t>𝑀</m:t>
                        </m:r>
                      </m:e>
                      <m:sub>
                        <m:r>
                          <a:rPr lang="sr-Latn-RS" sz="2000" b="0" i="1" noProof="0" smtClean="0">
                            <a:latin typeface="Cambria Math" panose="02040503050406030204" pitchFamily="18" charset="0"/>
                          </a:rPr>
                          <m:t>𝑐</m:t>
                        </m:r>
                      </m:sub>
                    </m:sSub>
                    <m:d>
                      <m:dPr>
                        <m:ctrlPr>
                          <a:rPr lang="sr-Latn-RS" sz="2000" b="0" i="1" noProof="0" smtClean="0">
                            <a:latin typeface="Cambria Math" panose="02040503050406030204" pitchFamily="18" charset="0"/>
                          </a:rPr>
                        </m:ctrlPr>
                      </m:dPr>
                      <m:e>
                        <m:r>
                          <a:rPr lang="sr-Latn-RS" sz="2000" b="0" i="1" noProof="0" smtClean="0">
                            <a:latin typeface="Cambria Math" panose="02040503050406030204" pitchFamily="18" charset="0"/>
                          </a:rPr>
                          <m:t>𝑖</m:t>
                        </m:r>
                        <m:r>
                          <a:rPr lang="sr-Latn-RS" sz="2000" b="0" i="1" noProof="0" smtClean="0">
                            <a:latin typeface="Cambria Math" panose="02040503050406030204" pitchFamily="18" charset="0"/>
                          </a:rPr>
                          <m:t>,</m:t>
                        </m:r>
                        <m:r>
                          <a:rPr lang="sr-Latn-RS" sz="2000" b="0" i="1" noProof="0" smtClean="0">
                            <a:latin typeface="Cambria Math" panose="02040503050406030204" pitchFamily="18" charset="0"/>
                          </a:rPr>
                          <m:t>𝑗</m:t>
                        </m:r>
                      </m:e>
                    </m:d>
                    <m:r>
                      <a:rPr lang="sr-Latn-RS" sz="2000" b="0" i="1" noProof="0" smtClean="0">
                        <a:latin typeface="Cambria Math" panose="02040503050406030204" pitchFamily="18" charset="0"/>
                      </a:rPr>
                      <m:t>=</m:t>
                    </m:r>
                    <m:nary>
                      <m:naryPr>
                        <m:chr m:val="∑"/>
                        <m:supHide m:val="on"/>
                        <m:ctrlPr>
                          <a:rPr lang="sr-Latn-RS" sz="2000" b="0" i="1" noProof="0" smtClean="0">
                            <a:latin typeface="Cambria Math" panose="02040503050406030204" pitchFamily="18" charset="0"/>
                          </a:rPr>
                        </m:ctrlPr>
                      </m:naryPr>
                      <m:sub>
                        <m:r>
                          <m:rPr>
                            <m:brk m:alnAt="7"/>
                          </m:rPr>
                          <a:rPr lang="sr-Latn-RS" sz="2000" b="0" i="1" noProof="0" smtClean="0">
                            <a:latin typeface="Cambria Math" panose="02040503050406030204" pitchFamily="18" charset="0"/>
                          </a:rPr>
                          <m:t>𝑘</m:t>
                        </m:r>
                      </m:sub>
                      <m:sup/>
                      <m:e>
                        <m:sSubSup>
                          <m:sSubSupPr>
                            <m:ctrlPr>
                              <a:rPr lang="sr-Latn-RS" sz="2000" b="0" i="1" noProof="0" smtClean="0">
                                <a:latin typeface="Cambria Math" panose="02040503050406030204" pitchFamily="18" charset="0"/>
                                <a:ea typeface="Cambria Math" panose="02040503050406030204" pitchFamily="18" charset="0"/>
                              </a:rPr>
                            </m:ctrlPr>
                          </m:sSubSupPr>
                          <m:e>
                            <m:r>
                              <a:rPr lang="sr-Latn-RS" sz="2000" b="0" i="1" noProof="0" smtClean="0">
                                <a:latin typeface="Cambria Math" panose="02040503050406030204" pitchFamily="18" charset="0"/>
                                <a:ea typeface="Cambria Math" panose="02040503050406030204" pitchFamily="18" charset="0"/>
                              </a:rPr>
                              <m:t>𝜔</m:t>
                            </m:r>
                          </m:e>
                          <m:sub>
                            <m:r>
                              <a:rPr lang="sr-Latn-RS" sz="2000" b="0" i="1" noProof="0" smtClean="0">
                                <a:latin typeface="Cambria Math" panose="02040503050406030204" pitchFamily="18" charset="0"/>
                              </a:rPr>
                              <m:t>𝑘</m:t>
                            </m:r>
                          </m:sub>
                          <m:sup>
                            <m:r>
                              <a:rPr lang="sr-Latn-RS" sz="2000" b="0" i="1" noProof="0" smtClean="0">
                                <a:latin typeface="Cambria Math" panose="02040503050406030204" pitchFamily="18" charset="0"/>
                              </a:rPr>
                              <m:t>𝑐</m:t>
                            </m:r>
                          </m:sup>
                        </m:sSubSup>
                        <m:sSubSup>
                          <m:sSubSupPr>
                            <m:ctrlPr>
                              <a:rPr lang="sr-Latn-RS" sz="2000" b="0" i="1" noProof="0" smtClean="0">
                                <a:latin typeface="Cambria Math" panose="02040503050406030204" pitchFamily="18" charset="0"/>
                              </a:rPr>
                            </m:ctrlPr>
                          </m:sSubSupPr>
                          <m:e>
                            <m:r>
                              <a:rPr lang="sr-Latn-RS" sz="2000" b="0" i="1" noProof="0" smtClean="0">
                                <a:latin typeface="Cambria Math" panose="02040503050406030204" pitchFamily="18" charset="0"/>
                              </a:rPr>
                              <m:t>𝐴</m:t>
                            </m:r>
                          </m:e>
                          <m:sub>
                            <m:r>
                              <a:rPr lang="sr-Latn-RS" sz="2000" b="0" i="1" noProof="0" smtClean="0">
                                <a:latin typeface="Cambria Math" panose="02040503050406030204" pitchFamily="18" charset="0"/>
                              </a:rPr>
                              <m:t>𝑖𝑗</m:t>
                            </m:r>
                          </m:sub>
                          <m:sup>
                            <m:r>
                              <a:rPr lang="sr-Latn-RS" sz="2000" b="0" i="1" noProof="0" smtClean="0">
                                <a:latin typeface="Cambria Math" panose="02040503050406030204" pitchFamily="18" charset="0"/>
                              </a:rPr>
                              <m:t>𝑘</m:t>
                            </m:r>
                          </m:sup>
                        </m:sSubSup>
                      </m:e>
                    </m:nary>
                  </m:oMath>
                </a14:m>
                <a:r>
                  <a:rPr lang="sr-Latn-RS" sz="2000" noProof="0" dirty="0"/>
                  <a:t>, Veći intenzitet mape označava regione koji više doprinose </a:t>
                </a:r>
                <a:r>
                  <a:rPr lang="sr-Latn-RS" sz="2000" noProof="0" dirty="0" err="1"/>
                  <a:t>score</a:t>
                </a:r>
                <a:r>
                  <a:rPr lang="sr-Latn-RS" sz="2000" noProof="0" dirty="0"/>
                  <a:t>-u posmatrane klase.</a:t>
                </a:r>
              </a:p>
              <a:p>
                <a:pPr algn="just"/>
                <a:endParaRPr lang="sr-Latn-RS" sz="2000" noProof="0" dirty="0"/>
              </a:p>
              <a:p>
                <a:pPr algn="just"/>
                <a:endParaRPr lang="sr-Latn-RS" sz="2000" noProof="0" dirty="0"/>
              </a:p>
              <a:p>
                <a:pPr algn="just"/>
                <a:endParaRPr lang="sr-Latn-RS" sz="2000" noProof="0" dirty="0"/>
              </a:p>
            </p:txBody>
          </p:sp>
        </mc:Choice>
        <mc:Fallback xmlns="">
          <p:sp>
            <p:nvSpPr>
              <p:cNvPr id="3" name="Content Placeholder 2">
                <a:extLst>
                  <a:ext uri="{FF2B5EF4-FFF2-40B4-BE49-F238E27FC236}">
                    <a16:creationId xmlns:a16="http://schemas.microsoft.com/office/drawing/2014/main" id="{DAF3B764-21BB-FEB9-B34E-B34E7A857FA5}"/>
                  </a:ext>
                </a:extLst>
              </p:cNvPr>
              <p:cNvSpPr>
                <a:spLocks noGrp="1" noRot="1" noChangeAspect="1" noMove="1" noResize="1" noEditPoints="1" noAdjustHandles="1" noChangeArrowheads="1" noChangeShapeType="1" noTextEdit="1"/>
              </p:cNvSpPr>
              <p:nvPr>
                <p:ph idx="1"/>
              </p:nvPr>
            </p:nvSpPr>
            <p:spPr>
              <a:xfrm>
                <a:off x="1371599" y="2318197"/>
                <a:ext cx="9724031" cy="3683358"/>
              </a:xfrm>
              <a:blipFill>
                <a:blip r:embed="rId2"/>
                <a:stretch>
                  <a:fillRect l="-522" t="-2405" r="-653"/>
                </a:stretch>
              </a:blipFill>
            </p:spPr>
            <p:txBody>
              <a:bodyPr/>
              <a:lstStyle/>
              <a:p>
                <a:r>
                  <a:rPr lang="en-US">
                    <a:noFill/>
                  </a:rPr>
                  <a:t> </a:t>
                </a:r>
              </a:p>
            </p:txBody>
          </p:sp>
        </mc:Fallback>
      </mc:AlternateContent>
    </p:spTree>
    <p:extLst>
      <p:ext uri="{BB962C8B-B14F-4D97-AF65-F5344CB8AC3E}">
        <p14:creationId xmlns:p14="http://schemas.microsoft.com/office/powerpoint/2010/main" val="928709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 name="Title 1">
            <a:extLst>
              <a:ext uri="{FF2B5EF4-FFF2-40B4-BE49-F238E27FC236}">
                <a16:creationId xmlns:a16="http://schemas.microsoft.com/office/drawing/2014/main" id="{C00E4B80-767E-9EFF-385B-164549B9580F}"/>
              </a:ext>
            </a:extLst>
          </p:cNvPr>
          <p:cNvSpPr>
            <a:spLocks noGrp="1"/>
          </p:cNvSpPr>
          <p:nvPr>
            <p:ph type="title"/>
          </p:nvPr>
        </p:nvSpPr>
        <p:spPr>
          <a:xfrm>
            <a:off x="1371599" y="294538"/>
            <a:ext cx="9895951" cy="1033669"/>
          </a:xfrm>
        </p:spPr>
        <p:txBody>
          <a:bodyPr>
            <a:normAutofit/>
          </a:bodyPr>
          <a:lstStyle/>
          <a:p>
            <a:r>
              <a:rPr lang="sr-Latn-RS" sz="4000" noProof="0" dirty="0">
                <a:solidFill>
                  <a:srgbClr val="FFFFFF"/>
                </a:solidFill>
              </a:rPr>
              <a:t>Ograničenja CAM-a → Grad-CAM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267FC1-DC09-9E71-2EAA-74FA5ADD5BB5}"/>
                  </a:ext>
                </a:extLst>
              </p:cNvPr>
              <p:cNvSpPr>
                <a:spLocks noGrp="1"/>
              </p:cNvSpPr>
              <p:nvPr>
                <p:ph idx="1"/>
              </p:nvPr>
            </p:nvSpPr>
            <p:spPr>
              <a:xfrm>
                <a:off x="1371599" y="2318197"/>
                <a:ext cx="9724031" cy="3683358"/>
              </a:xfrm>
            </p:spPr>
            <p:txBody>
              <a:bodyPr anchor="ctr">
                <a:normAutofit/>
              </a:bodyPr>
              <a:lstStyle/>
              <a:p>
                <a:pPr algn="just"/>
                <a:r>
                  <a:rPr lang="sr-Latn-RS" sz="2000" noProof="0" dirty="0"/>
                  <a:t>CAM zahteva specifičnu arhitekturu.</a:t>
                </a:r>
              </a:p>
              <a:p>
                <a:pPr algn="just"/>
                <a:r>
                  <a:rPr lang="sr-Latn-RS" sz="2000" noProof="0" dirty="0"/>
                  <a:t>Kod složenijih CNN arhitektura ne postoji direktna težina </a:t>
                </a:r>
                <a14:m>
                  <m:oMath xmlns:m="http://schemas.openxmlformats.org/officeDocument/2006/math">
                    <m:sSubSup>
                      <m:sSubSupPr>
                        <m:ctrlPr>
                          <a:rPr lang="sr-Latn-RS" sz="2000" i="1" noProof="0" smtClean="0">
                            <a:latin typeface="Cambria Math" panose="02040503050406030204" pitchFamily="18" charset="0"/>
                            <a:ea typeface="Cambria Math" panose="02040503050406030204" pitchFamily="18" charset="0"/>
                          </a:rPr>
                        </m:ctrlPr>
                      </m:sSubSupPr>
                      <m:e>
                        <m:r>
                          <m:rPr>
                            <m:sty m:val="p"/>
                          </m:rPr>
                          <a:rPr lang="sr-Latn-RS" sz="2000" i="1" noProof="0" smtClean="0">
                            <a:latin typeface="Cambria Math" panose="02040503050406030204" pitchFamily="18" charset="0"/>
                            <a:ea typeface="Cambria Math" panose="02040503050406030204" pitchFamily="18" charset="0"/>
                          </a:rPr>
                          <m:t>ω</m:t>
                        </m:r>
                      </m:e>
                      <m:sub>
                        <m:r>
                          <a:rPr lang="sr-Latn-RS" sz="2000" i="1" noProof="0" smtClean="0">
                            <a:latin typeface="Cambria Math" panose="02040503050406030204" pitchFamily="18" charset="0"/>
                            <a:ea typeface="Cambria Math" panose="02040503050406030204" pitchFamily="18" charset="0"/>
                          </a:rPr>
                          <m:t>𝑘</m:t>
                        </m:r>
                      </m:sub>
                      <m:sup>
                        <m:r>
                          <a:rPr lang="sr-Latn-RS" sz="2000" i="1" noProof="0" smtClean="0">
                            <a:latin typeface="Cambria Math" panose="02040503050406030204" pitchFamily="18" charset="0"/>
                            <a:ea typeface="Cambria Math" panose="02040503050406030204" pitchFamily="18" charset="0"/>
                          </a:rPr>
                          <m:t>𝑐</m:t>
                        </m:r>
                      </m:sup>
                    </m:sSubSup>
                  </m:oMath>
                </a14:m>
                <a:r>
                  <a:rPr lang="sr-Latn-RS" sz="2000" noProof="0" dirty="0"/>
                  <a:t>  koja povezuje svaku </a:t>
                </a:r>
                <a:r>
                  <a:rPr lang="sr-Latn-RS" sz="2000" noProof="0" dirty="0" err="1"/>
                  <a:t>feature</a:t>
                </a:r>
                <a:r>
                  <a:rPr lang="sr-Latn-RS" sz="2000" noProof="0" dirty="0"/>
                  <a:t> mapu sa određenom klasom.</a:t>
                </a:r>
              </a:p>
              <a:p>
                <a:pPr algn="just"/>
                <a:r>
                  <a:rPr lang="sr-Latn-RS" sz="2000" noProof="0" dirty="0"/>
                  <a:t>Umesto težina klasifikacionog sloja, značaj </a:t>
                </a:r>
                <a:r>
                  <a:rPr lang="sr-Latn-RS" sz="2000" noProof="0" dirty="0" err="1"/>
                  <a:t>feature</a:t>
                </a:r>
                <a:r>
                  <a:rPr lang="sr-Latn-RS" sz="2000" noProof="0" dirty="0"/>
                  <a:t> mapa određuje se pomoću gradijenata </a:t>
                </a:r>
                <a:r>
                  <a:rPr lang="sr-Latn-RS" sz="2000" noProof="0" dirty="0" err="1"/>
                  <a:t>class</a:t>
                </a:r>
                <a:r>
                  <a:rPr lang="sr-Latn-RS" sz="2000" noProof="0" dirty="0"/>
                  <a:t> </a:t>
                </a:r>
                <a:r>
                  <a:rPr lang="sr-Latn-RS" sz="2000" noProof="0" dirty="0" err="1"/>
                  <a:t>score</a:t>
                </a:r>
                <a:r>
                  <a:rPr lang="sr-Latn-RS" sz="2000" noProof="0" dirty="0"/>
                  <a:t>-a u odnosu na aktivacije </a:t>
                </a:r>
                <a:r>
                  <a:rPr lang="sr-Latn-RS" sz="2000" noProof="0" dirty="0" err="1"/>
                  <a:t>konvolucionog</a:t>
                </a:r>
                <a:r>
                  <a:rPr lang="sr-Latn-RS" sz="2000" noProof="0" dirty="0"/>
                  <a:t> sloja:</a:t>
                </a:r>
              </a:p>
              <a:p>
                <a:pPr algn="just"/>
                <a14:m>
                  <m:oMath xmlns:m="http://schemas.openxmlformats.org/officeDocument/2006/math">
                    <m:f>
                      <m:fPr>
                        <m:ctrlPr>
                          <a:rPr lang="sr-Latn-RS" sz="2000" i="1" noProof="0" smtClean="0">
                            <a:latin typeface="Cambria Math" panose="02040503050406030204" pitchFamily="18" charset="0"/>
                            <a:ea typeface="Cambria Math" panose="02040503050406030204" pitchFamily="18" charset="0"/>
                          </a:rPr>
                        </m:ctrlPr>
                      </m:fPr>
                      <m:num>
                        <m:r>
                          <a:rPr lang="sr-Latn-RS" sz="2000" i="1" noProof="0" smtClean="0">
                            <a:latin typeface="Cambria Math" panose="02040503050406030204" pitchFamily="18" charset="0"/>
                            <a:ea typeface="Cambria Math" panose="02040503050406030204" pitchFamily="18" charset="0"/>
                          </a:rPr>
                          <m:t>𝜕</m:t>
                        </m:r>
                        <m:sSup>
                          <m:sSupPr>
                            <m:ctrlPr>
                              <a:rPr lang="sr-Latn-RS" sz="2000" b="0" i="1" noProof="0" smtClean="0">
                                <a:latin typeface="Cambria Math" panose="02040503050406030204" pitchFamily="18" charset="0"/>
                                <a:ea typeface="Cambria Math" panose="02040503050406030204" pitchFamily="18" charset="0"/>
                              </a:rPr>
                            </m:ctrlPr>
                          </m:sSupPr>
                          <m:e>
                            <m:r>
                              <a:rPr lang="sr-Latn-RS" sz="2000" b="0" i="1" noProof="0" smtClean="0">
                                <a:latin typeface="Cambria Math" panose="02040503050406030204" pitchFamily="18" charset="0"/>
                                <a:ea typeface="Cambria Math" panose="02040503050406030204" pitchFamily="18" charset="0"/>
                              </a:rPr>
                              <m:t>𝑦</m:t>
                            </m:r>
                          </m:e>
                          <m:sup>
                            <m:r>
                              <a:rPr lang="sr-Latn-RS" sz="2000" b="0" i="1" noProof="0" smtClean="0">
                                <a:latin typeface="Cambria Math" panose="02040503050406030204" pitchFamily="18" charset="0"/>
                                <a:ea typeface="Cambria Math" panose="02040503050406030204" pitchFamily="18" charset="0"/>
                              </a:rPr>
                              <m:t>𝑐</m:t>
                            </m:r>
                          </m:sup>
                        </m:sSup>
                      </m:num>
                      <m:den>
                        <m:r>
                          <a:rPr lang="sr-Latn-RS" sz="2000" i="1" noProof="0" smtClean="0">
                            <a:latin typeface="Cambria Math" panose="02040503050406030204" pitchFamily="18" charset="0"/>
                            <a:ea typeface="Cambria Math" panose="02040503050406030204" pitchFamily="18" charset="0"/>
                          </a:rPr>
                          <m:t>𝜕</m:t>
                        </m:r>
                        <m:sSubSup>
                          <m:sSubSupPr>
                            <m:ctrlPr>
                              <a:rPr lang="sr-Latn-RS" sz="2000" b="0" i="1" noProof="0" smtClean="0">
                                <a:latin typeface="Cambria Math" panose="02040503050406030204" pitchFamily="18" charset="0"/>
                                <a:ea typeface="Cambria Math" panose="02040503050406030204" pitchFamily="18" charset="0"/>
                              </a:rPr>
                            </m:ctrlPr>
                          </m:sSubSupPr>
                          <m:e>
                            <m:r>
                              <a:rPr lang="sr-Latn-RS" sz="2000" b="0" i="1" noProof="0" smtClean="0">
                                <a:latin typeface="Cambria Math" panose="02040503050406030204" pitchFamily="18" charset="0"/>
                                <a:ea typeface="Cambria Math" panose="02040503050406030204" pitchFamily="18" charset="0"/>
                              </a:rPr>
                              <m:t>𝐴</m:t>
                            </m:r>
                          </m:e>
                          <m:sub>
                            <m:r>
                              <a:rPr lang="sr-Latn-RS" sz="2000" b="0" i="1" noProof="0" smtClean="0">
                                <a:latin typeface="Cambria Math" panose="02040503050406030204" pitchFamily="18" charset="0"/>
                                <a:ea typeface="Cambria Math" panose="02040503050406030204" pitchFamily="18" charset="0"/>
                              </a:rPr>
                              <m:t>𝑖𝑗</m:t>
                            </m:r>
                          </m:sub>
                          <m:sup>
                            <m:r>
                              <a:rPr lang="sr-Latn-RS" sz="2000" b="0" i="1" noProof="0" smtClean="0">
                                <a:latin typeface="Cambria Math" panose="02040503050406030204" pitchFamily="18" charset="0"/>
                                <a:ea typeface="Cambria Math" panose="02040503050406030204" pitchFamily="18" charset="0"/>
                              </a:rPr>
                              <m:t>𝑘</m:t>
                            </m:r>
                          </m:sup>
                        </m:sSubSup>
                      </m:den>
                    </m:f>
                  </m:oMath>
                </a14:m>
                <a:r>
                  <a:rPr lang="sr-Latn-RS" sz="2000" noProof="0" dirty="0"/>
                  <a:t>, Na ovaj način Grad-CAM omogućava vizuelno objašnjavanje šireg skupa CNN arhitektura bez njihove izmene ili ponovnog treniranja.</a:t>
                </a:r>
              </a:p>
              <a:p>
                <a:pPr algn="just"/>
                <a:endParaRPr lang="sr-Latn-RS" sz="2000" noProof="0" dirty="0"/>
              </a:p>
            </p:txBody>
          </p:sp>
        </mc:Choice>
        <mc:Fallback xmlns="">
          <p:sp>
            <p:nvSpPr>
              <p:cNvPr id="3" name="Content Placeholder 2">
                <a:extLst>
                  <a:ext uri="{FF2B5EF4-FFF2-40B4-BE49-F238E27FC236}">
                    <a16:creationId xmlns:a16="http://schemas.microsoft.com/office/drawing/2014/main" id="{71267FC1-DC09-9E71-2EAA-74FA5ADD5BB5}"/>
                  </a:ext>
                </a:extLst>
              </p:cNvPr>
              <p:cNvSpPr>
                <a:spLocks noGrp="1" noRot="1" noChangeAspect="1" noMove="1" noResize="1" noEditPoints="1" noAdjustHandles="1" noChangeArrowheads="1" noChangeShapeType="1" noTextEdit="1"/>
              </p:cNvSpPr>
              <p:nvPr>
                <p:ph idx="1"/>
              </p:nvPr>
            </p:nvSpPr>
            <p:spPr>
              <a:xfrm>
                <a:off x="1371599" y="2318197"/>
                <a:ext cx="9724031" cy="3683358"/>
              </a:xfrm>
              <a:blipFill>
                <a:blip r:embed="rId2"/>
                <a:stretch>
                  <a:fillRect l="-522" r="-653"/>
                </a:stretch>
              </a:blipFill>
            </p:spPr>
            <p:txBody>
              <a:bodyPr/>
              <a:lstStyle/>
              <a:p>
                <a:r>
                  <a:rPr lang="en-US">
                    <a:noFill/>
                  </a:rPr>
                  <a:t> </a:t>
                </a:r>
              </a:p>
            </p:txBody>
          </p:sp>
        </mc:Fallback>
      </mc:AlternateContent>
    </p:spTree>
    <p:extLst>
      <p:ext uri="{BB962C8B-B14F-4D97-AF65-F5344CB8AC3E}">
        <p14:creationId xmlns:p14="http://schemas.microsoft.com/office/powerpoint/2010/main" val="109617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7AF54D-6509-99F3-19C6-3EFF66E6888B}"/>
              </a:ext>
            </a:extLst>
          </p:cNvPr>
          <p:cNvSpPr>
            <a:spLocks noGrp="1"/>
          </p:cNvSpPr>
          <p:nvPr>
            <p:ph type="title"/>
          </p:nvPr>
        </p:nvSpPr>
        <p:spPr>
          <a:xfrm>
            <a:off x="1136397" y="502020"/>
            <a:ext cx="5323715" cy="1642970"/>
          </a:xfrm>
        </p:spPr>
        <p:txBody>
          <a:bodyPr anchor="b">
            <a:normAutofit/>
          </a:bodyPr>
          <a:lstStyle/>
          <a:p>
            <a:r>
              <a:rPr lang="en-US" sz="4000"/>
              <a:t>Grad-CAM-osnovna ideja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9E42E8-8238-D6B1-12E8-CF4D1A8A3C68}"/>
                  </a:ext>
                </a:extLst>
              </p:cNvPr>
              <p:cNvSpPr>
                <a:spLocks noGrp="1"/>
              </p:cNvSpPr>
              <p:nvPr>
                <p:ph idx="1"/>
              </p:nvPr>
            </p:nvSpPr>
            <p:spPr>
              <a:xfrm>
                <a:off x="1144923" y="2405894"/>
                <a:ext cx="5315189" cy="3535083"/>
              </a:xfrm>
            </p:spPr>
            <p:txBody>
              <a:bodyPr>
                <a:normAutofit lnSpcReduction="10000"/>
              </a:bodyPr>
              <a:lstStyle/>
              <a:p>
                <a:pPr algn="just"/>
                <a:r>
                  <a:rPr lang="en-US" sz="2000" dirty="0"/>
                  <a:t>Gradient-weighted Class Activation Mapping (Grad-CAM) </a:t>
                </a:r>
                <a:r>
                  <a:rPr lang="en-US" sz="2000" dirty="0" err="1"/>
                  <a:t>predstavlja</a:t>
                </a:r>
                <a:r>
                  <a:rPr lang="en-US" sz="2000" dirty="0"/>
                  <a:t> </a:t>
                </a:r>
                <a:r>
                  <a:rPr lang="en-US" sz="2000" dirty="0" err="1"/>
                  <a:t>generalizaciju</a:t>
                </a:r>
                <a:r>
                  <a:rPr lang="en-US" sz="2000" dirty="0"/>
                  <a:t> CAM </a:t>
                </a:r>
                <a:r>
                  <a:rPr lang="en-US" sz="2000" dirty="0" err="1"/>
                  <a:t>pristupa</a:t>
                </a:r>
                <a:r>
                  <a:rPr lang="en-US" sz="2000" dirty="0"/>
                  <a:t> </a:t>
                </a:r>
                <a:r>
                  <a:rPr lang="en-US" sz="2000" dirty="0" err="1"/>
                  <a:t>koja</a:t>
                </a:r>
                <a:r>
                  <a:rPr lang="en-US" sz="2000" dirty="0"/>
                  <a:t> za </a:t>
                </a:r>
                <a:r>
                  <a:rPr lang="en-US" sz="2000" dirty="0" err="1"/>
                  <a:t>određivanje</a:t>
                </a:r>
                <a:r>
                  <a:rPr lang="en-US" sz="2000" dirty="0"/>
                  <a:t> </a:t>
                </a:r>
                <a:r>
                  <a:rPr lang="en-US" sz="2000" dirty="0" err="1"/>
                  <a:t>značaja</a:t>
                </a:r>
                <a:r>
                  <a:rPr lang="en-US" sz="2000" dirty="0"/>
                  <a:t> feature </a:t>
                </a:r>
                <a:r>
                  <a:rPr lang="en-US" sz="2000" dirty="0" err="1"/>
                  <a:t>mapa</a:t>
                </a:r>
                <a:r>
                  <a:rPr lang="en-US" sz="2000" dirty="0"/>
                  <a:t> </a:t>
                </a:r>
                <a:r>
                  <a:rPr lang="en-US" sz="2000" dirty="0" err="1"/>
                  <a:t>koristi</a:t>
                </a:r>
                <a:r>
                  <a:rPr lang="en-US" sz="2000" dirty="0"/>
                  <a:t> </a:t>
                </a:r>
                <a:r>
                  <a:rPr lang="en-US" sz="2000" dirty="0" err="1"/>
                  <a:t>gradijente</a:t>
                </a:r>
                <a:r>
                  <a:rPr lang="en-US" sz="2000" dirty="0"/>
                  <a:t> </a:t>
                </a:r>
                <a:r>
                  <a:rPr lang="en-US" sz="2000" dirty="0" err="1"/>
                  <a:t>ciljne</a:t>
                </a:r>
                <a:r>
                  <a:rPr lang="en-US" sz="2000" dirty="0"/>
                  <a:t> </a:t>
                </a:r>
                <a:r>
                  <a:rPr lang="en-US" sz="2000" dirty="0" err="1"/>
                  <a:t>klase</a:t>
                </a:r>
                <a:r>
                  <a:rPr lang="en-US" sz="2000" dirty="0"/>
                  <a:t>.</a:t>
                </a:r>
              </a:p>
              <a:p>
                <a:pPr algn="just"/>
                <a:r>
                  <a:rPr lang="en-US" sz="2000" dirty="0"/>
                  <a:t>Za </a:t>
                </a:r>
                <a:r>
                  <a:rPr lang="en-US" sz="2000" dirty="0" err="1"/>
                  <a:t>izabranu</a:t>
                </a:r>
                <a:r>
                  <a:rPr lang="en-US" sz="2000" dirty="0"/>
                  <a:t> </a:t>
                </a:r>
                <a:r>
                  <a:rPr lang="en-US" sz="2000" dirty="0" err="1"/>
                  <a:t>klasu</a:t>
                </a:r>
                <a:r>
                  <a:rPr lang="en-US" sz="2000" dirty="0"/>
                  <a:t> </a:t>
                </a:r>
                <a14:m>
                  <m:oMath xmlns:m="http://schemas.openxmlformats.org/officeDocument/2006/math">
                    <m:r>
                      <a:rPr lang="en-US" sz="2000" i="1">
                        <a:latin typeface="Cambria Math" panose="02040503050406030204" pitchFamily="18" charset="0"/>
                      </a:rPr>
                      <m:t>𝑐</m:t>
                    </m:r>
                  </m:oMath>
                </a14:m>
                <a:r>
                  <a:rPr lang="en-US" sz="2000" dirty="0"/>
                  <a:t>, Grad-CAM </a:t>
                </a:r>
                <a:r>
                  <a:rPr lang="en-US" sz="2000" dirty="0" err="1"/>
                  <a:t>koristi</a:t>
                </a:r>
                <a:r>
                  <a:rPr lang="en-US" sz="2000" dirty="0"/>
                  <a:t>:</a:t>
                </a:r>
              </a:p>
              <a:p>
                <a:pPr lvl="1" algn="just"/>
                <a:r>
                  <a:rPr lang="en-US" sz="1800" dirty="0"/>
                  <a:t>feature </a:t>
                </a:r>
                <a:r>
                  <a:rPr lang="en-US" sz="1800" dirty="0" err="1"/>
                  <a:t>mape</a:t>
                </a:r>
                <a:r>
                  <a:rPr lang="en-US" sz="1800" dirty="0"/>
                  <a:t> </a:t>
                </a:r>
                <a14:m>
                  <m:oMath xmlns:m="http://schemas.openxmlformats.org/officeDocument/2006/math">
                    <m:sSup>
                      <m:sSupPr>
                        <m:ctrlPr>
                          <a:rPr lang="en-US" sz="1800" b="0" i="1">
                            <a:latin typeface="Cambria Math" panose="02040503050406030204" pitchFamily="18" charset="0"/>
                          </a:rPr>
                        </m:ctrlPr>
                      </m:sSupPr>
                      <m:e>
                        <m:r>
                          <a:rPr lang="en-US" sz="1800" b="0" i="1">
                            <a:latin typeface="Cambria Math" panose="02040503050406030204" pitchFamily="18" charset="0"/>
                          </a:rPr>
                          <m:t>𝐴</m:t>
                        </m:r>
                      </m:e>
                      <m:sup>
                        <m:r>
                          <a:rPr lang="en-US" sz="1800" b="0" i="1">
                            <a:latin typeface="Cambria Math" panose="02040503050406030204" pitchFamily="18" charset="0"/>
                          </a:rPr>
                          <m:t>𝑘</m:t>
                        </m:r>
                      </m:sup>
                    </m:sSup>
                  </m:oMath>
                </a14:m>
                <a:r>
                  <a:rPr lang="en-US" sz="1800" dirty="0"/>
                  <a:t> </a:t>
                </a:r>
                <a:r>
                  <a:rPr lang="en-US" sz="1800" dirty="0" err="1"/>
                  <a:t>iz</a:t>
                </a:r>
                <a:r>
                  <a:rPr lang="en-US" sz="1800" dirty="0"/>
                  <a:t> </a:t>
                </a:r>
                <a:r>
                  <a:rPr lang="en-US" sz="1800" dirty="0" err="1"/>
                  <a:t>konvolucionog</a:t>
                </a:r>
                <a:r>
                  <a:rPr lang="en-US" sz="1800" dirty="0"/>
                  <a:t> </a:t>
                </a:r>
                <a:r>
                  <a:rPr lang="en-US" sz="1800" dirty="0" err="1"/>
                  <a:t>sloja</a:t>
                </a:r>
                <a:endParaRPr lang="en-US" sz="1800" dirty="0"/>
              </a:p>
              <a:p>
                <a:pPr lvl="1" algn="just"/>
                <a:r>
                  <a:rPr lang="en-US" sz="1800" dirty="0" err="1"/>
                  <a:t>gradijente</a:t>
                </a:r>
                <a:r>
                  <a:rPr lang="en-US" sz="1800" dirty="0"/>
                  <a:t> class score-a </a:t>
                </a:r>
                <a14:m>
                  <m:oMath xmlns:m="http://schemas.openxmlformats.org/officeDocument/2006/math">
                    <m:sSup>
                      <m:sSupPr>
                        <m:ctrlPr>
                          <a:rPr lang="en-US" sz="1800" b="0" i="1">
                            <a:latin typeface="Cambria Math" panose="02040503050406030204" pitchFamily="18" charset="0"/>
                          </a:rPr>
                        </m:ctrlPr>
                      </m:sSupPr>
                      <m:e>
                        <m:r>
                          <a:rPr lang="en-US" sz="1800" b="0" i="1">
                            <a:latin typeface="Cambria Math" panose="02040503050406030204" pitchFamily="18" charset="0"/>
                          </a:rPr>
                          <m:t>𝑦</m:t>
                        </m:r>
                      </m:e>
                      <m:sup>
                        <m:r>
                          <a:rPr lang="en-US" sz="1800" b="0" i="1">
                            <a:latin typeface="Cambria Math" panose="02040503050406030204" pitchFamily="18" charset="0"/>
                          </a:rPr>
                          <m:t>𝑐</m:t>
                        </m:r>
                      </m:sup>
                    </m:sSup>
                  </m:oMath>
                </a14:m>
                <a:r>
                  <a:rPr lang="en-US" sz="1800" dirty="0"/>
                  <a:t> u </a:t>
                </a:r>
                <a:r>
                  <a:rPr lang="en-US" sz="1800" dirty="0" err="1"/>
                  <a:t>odnosu</a:t>
                </a:r>
                <a:r>
                  <a:rPr lang="en-US" sz="1800" dirty="0"/>
                  <a:t> </a:t>
                </a:r>
                <a:r>
                  <a:rPr lang="en-US" sz="1800" dirty="0" err="1"/>
                  <a:t>na</a:t>
                </a:r>
                <a:r>
                  <a:rPr lang="en-US" sz="1800" dirty="0"/>
                  <a:t> </a:t>
                </a:r>
                <a:r>
                  <a:rPr lang="en-US" sz="1800" dirty="0" err="1"/>
                  <a:t>njihove</a:t>
                </a:r>
                <a:r>
                  <a:rPr lang="en-US" sz="1800" dirty="0"/>
                  <a:t> </a:t>
                </a:r>
                <a:r>
                  <a:rPr lang="en-US" sz="1800" dirty="0" err="1"/>
                  <a:t>aktivacije</a:t>
                </a:r>
                <a:endParaRPr lang="en-US" sz="1800" dirty="0"/>
              </a:p>
              <a:p>
                <a:pPr algn="just"/>
                <a:r>
                  <a:rPr lang="en-US" sz="2000" dirty="0"/>
                  <a:t>Na </a:t>
                </a:r>
                <a:r>
                  <a:rPr lang="en-US" sz="2000" dirty="0" err="1"/>
                  <a:t>osnovu</a:t>
                </a:r>
                <a:r>
                  <a:rPr lang="en-US" sz="2000" dirty="0"/>
                  <a:t> </a:t>
                </a:r>
                <a:r>
                  <a:rPr lang="en-US" sz="2000" dirty="0" err="1"/>
                  <a:t>gradijenata</a:t>
                </a:r>
                <a:r>
                  <a:rPr lang="en-US" sz="2000" dirty="0"/>
                  <a:t> </a:t>
                </a:r>
                <a:r>
                  <a:rPr lang="en-US" sz="2000" dirty="0" err="1"/>
                  <a:t>određuje</a:t>
                </a:r>
                <a:r>
                  <a:rPr lang="en-US" sz="2000" dirty="0"/>
                  <a:t> se </a:t>
                </a:r>
                <a:r>
                  <a:rPr lang="en-US" sz="2000" dirty="0" err="1"/>
                  <a:t>značaj</a:t>
                </a:r>
                <a:r>
                  <a:rPr lang="en-US" sz="2000" dirty="0"/>
                  <a:t> </a:t>
                </a:r>
                <a:r>
                  <a:rPr lang="en-US" sz="2000" dirty="0" err="1"/>
                  <a:t>svake</a:t>
                </a:r>
                <a:r>
                  <a:rPr lang="en-US" sz="2000" dirty="0"/>
                  <a:t> feature </a:t>
                </a:r>
                <a:r>
                  <a:rPr lang="en-US" sz="2000" dirty="0" err="1"/>
                  <a:t>mape</a:t>
                </a:r>
                <a:r>
                  <a:rPr lang="en-US" sz="2000" dirty="0"/>
                  <a:t> za </a:t>
                </a:r>
                <a:r>
                  <a:rPr lang="en-US" sz="2000" dirty="0" err="1"/>
                  <a:t>posmatranu</a:t>
                </a:r>
                <a:r>
                  <a:rPr lang="en-US" sz="2000" dirty="0"/>
                  <a:t> </a:t>
                </a:r>
                <a:r>
                  <a:rPr lang="en-US" sz="2000" dirty="0" err="1"/>
                  <a:t>klasu</a:t>
                </a:r>
                <a:r>
                  <a:rPr lang="en-US" sz="2000" dirty="0"/>
                  <a:t>, a </a:t>
                </a:r>
                <a:r>
                  <a:rPr lang="en-US" sz="2000" dirty="0" err="1"/>
                  <a:t>njihovim</a:t>
                </a:r>
                <a:r>
                  <a:rPr lang="en-US" sz="2000" dirty="0"/>
                  <a:t> </a:t>
                </a:r>
                <a:r>
                  <a:rPr lang="en-US" sz="2000" dirty="0" err="1"/>
                  <a:t>ponderisanim</a:t>
                </a:r>
                <a:r>
                  <a:rPr lang="en-US" sz="2000" dirty="0"/>
                  <a:t> </a:t>
                </a:r>
                <a:r>
                  <a:rPr lang="en-US" sz="2000" dirty="0" err="1"/>
                  <a:t>kombinovanjem</a:t>
                </a:r>
                <a:r>
                  <a:rPr lang="en-US" sz="2000" dirty="0"/>
                  <a:t> </a:t>
                </a:r>
                <a:r>
                  <a:rPr lang="en-US" sz="2000" dirty="0" err="1"/>
                  <a:t>formira</a:t>
                </a:r>
                <a:r>
                  <a:rPr lang="en-US" sz="2000" dirty="0"/>
                  <a:t> se </a:t>
                </a:r>
                <a:r>
                  <a:rPr lang="en-US" sz="2000" dirty="0" err="1"/>
                  <a:t>mapa</a:t>
                </a:r>
                <a:r>
                  <a:rPr lang="en-US" sz="2000" dirty="0"/>
                  <a:t> </a:t>
                </a:r>
                <a:r>
                  <a:rPr lang="en-US" sz="2000" dirty="0" err="1"/>
                  <a:t>lokalizacije</a:t>
                </a:r>
                <a:r>
                  <a:rPr lang="en-US" sz="2000" dirty="0"/>
                  <a:t>.</a:t>
                </a:r>
              </a:p>
              <a:p>
                <a:endParaRPr lang="en-US" sz="1700" dirty="0"/>
              </a:p>
            </p:txBody>
          </p:sp>
        </mc:Choice>
        <mc:Fallback xmlns="">
          <p:sp>
            <p:nvSpPr>
              <p:cNvPr id="3" name="Content Placeholder 2">
                <a:extLst>
                  <a:ext uri="{FF2B5EF4-FFF2-40B4-BE49-F238E27FC236}">
                    <a16:creationId xmlns:a16="http://schemas.microsoft.com/office/drawing/2014/main" id="{279E42E8-8238-D6B1-12E8-CF4D1A8A3C68}"/>
                  </a:ext>
                </a:extLst>
              </p:cNvPr>
              <p:cNvSpPr>
                <a:spLocks noGrp="1" noRot="1" noChangeAspect="1" noMove="1" noResize="1" noEditPoints="1" noAdjustHandles="1" noChangeArrowheads="1" noChangeShapeType="1" noTextEdit="1"/>
              </p:cNvSpPr>
              <p:nvPr>
                <p:ph idx="1"/>
              </p:nvPr>
            </p:nvSpPr>
            <p:spPr>
              <a:xfrm>
                <a:off x="1144923" y="2405894"/>
                <a:ext cx="5315189" cy="3535083"/>
              </a:xfrm>
              <a:blipFill>
                <a:blip r:embed="rId2"/>
                <a:stretch>
                  <a:fillRect l="-1193" t="-2500" r="-1193"/>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35E59D2C-9BC7-D432-F678-B3AD1E7DF5EB}"/>
              </a:ext>
            </a:extLst>
          </p:cNvPr>
          <p:cNvPicPr>
            <a:picLocks noChangeAspect="1"/>
          </p:cNvPicPr>
          <p:nvPr/>
        </p:nvPicPr>
        <p:blipFill>
          <a:blip r:embed="rId3"/>
          <a:stretch>
            <a:fillRect/>
          </a:stretch>
        </p:blipFill>
        <p:spPr>
          <a:xfrm>
            <a:off x="8130382" y="909081"/>
            <a:ext cx="2155484" cy="5071731"/>
          </a:xfrm>
          <a:prstGeom prst="rect">
            <a:avLst/>
          </a:prstGeom>
        </p:spPr>
      </p:pic>
    </p:spTree>
    <p:extLst>
      <p:ext uri="{BB962C8B-B14F-4D97-AF65-F5344CB8AC3E}">
        <p14:creationId xmlns:p14="http://schemas.microsoft.com/office/powerpoint/2010/main" val="286038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Rectangle 3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B7F66C-A276-6971-BE57-C8B39F49A5F4}"/>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Grad-CAM-značaj feature mapa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3DE6B96-CDEA-86ED-56DD-6325504F3DD4}"/>
                  </a:ext>
                </a:extLst>
              </p:cNvPr>
              <p:cNvSpPr>
                <a:spLocks noGrp="1"/>
              </p:cNvSpPr>
              <p:nvPr>
                <p:ph idx="1"/>
              </p:nvPr>
            </p:nvSpPr>
            <p:spPr>
              <a:xfrm>
                <a:off x="4810259" y="649480"/>
                <a:ext cx="6555347" cy="5546047"/>
              </a:xfrm>
            </p:spPr>
            <p:txBody>
              <a:bodyPr anchor="ctr">
                <a:normAutofit/>
              </a:bodyPr>
              <a:lstStyle/>
              <a:p>
                <a:pPr algn="just"/>
                <a:r>
                  <a:rPr lang="en-US" sz="1900" dirty="0"/>
                  <a:t>Za </a:t>
                </a:r>
                <a:r>
                  <a:rPr lang="en-US" sz="1900" dirty="0" err="1"/>
                  <a:t>izabranu</a:t>
                </a:r>
                <a:r>
                  <a:rPr lang="en-US" sz="1900" dirty="0"/>
                  <a:t> </a:t>
                </a:r>
                <a:r>
                  <a:rPr lang="en-US" sz="1900" dirty="0" err="1"/>
                  <a:t>klasu</a:t>
                </a:r>
                <a:r>
                  <a:rPr lang="en-US" sz="1900" dirty="0"/>
                  <a:t> </a:t>
                </a:r>
                <a14:m>
                  <m:oMath xmlns:m="http://schemas.openxmlformats.org/officeDocument/2006/math">
                    <m:r>
                      <a:rPr lang="en-US" sz="1900" b="0" i="1">
                        <a:latin typeface="Cambria Math" panose="02040503050406030204" pitchFamily="18" charset="0"/>
                      </a:rPr>
                      <m:t>𝑐</m:t>
                    </m:r>
                  </m:oMath>
                </a14:m>
                <a:r>
                  <a:rPr lang="en-US" sz="1900" dirty="0"/>
                  <a:t>, </a:t>
                </a:r>
                <a:r>
                  <a:rPr lang="en-US" sz="1900" dirty="0" err="1"/>
                  <a:t>prvo</a:t>
                </a:r>
                <a:r>
                  <a:rPr lang="en-US" sz="1900" dirty="0"/>
                  <a:t> se </a:t>
                </a:r>
                <a:r>
                  <a:rPr lang="en-US" sz="1900" dirty="0" err="1"/>
                  <a:t>računa</a:t>
                </a:r>
                <a:r>
                  <a:rPr lang="en-US" sz="1900" dirty="0"/>
                  <a:t> </a:t>
                </a:r>
                <a:r>
                  <a:rPr lang="en-US" sz="1900" dirty="0" err="1"/>
                  <a:t>gradijent</a:t>
                </a:r>
                <a:r>
                  <a:rPr lang="en-US" sz="1900" dirty="0"/>
                  <a:t> </a:t>
                </a:r>
                <a:r>
                  <a:rPr lang="en-US" sz="1900" dirty="0" err="1"/>
                  <a:t>njenog</a:t>
                </a:r>
                <a:r>
                  <a:rPr lang="en-US" sz="1900" dirty="0"/>
                  <a:t> score-a </a:t>
                </a:r>
                <a14:m>
                  <m:oMath xmlns:m="http://schemas.openxmlformats.org/officeDocument/2006/math">
                    <m:sSup>
                      <m:sSupPr>
                        <m:ctrlPr>
                          <a:rPr lang="en-US" sz="1900" b="0" i="1">
                            <a:latin typeface="Cambria Math" panose="02040503050406030204" pitchFamily="18" charset="0"/>
                          </a:rPr>
                        </m:ctrlPr>
                      </m:sSupPr>
                      <m:e>
                        <m:r>
                          <a:rPr lang="en-US" sz="1900" b="0" i="1">
                            <a:latin typeface="Cambria Math" panose="02040503050406030204" pitchFamily="18" charset="0"/>
                          </a:rPr>
                          <m:t>𝑦</m:t>
                        </m:r>
                      </m:e>
                      <m:sup>
                        <m:r>
                          <a:rPr lang="en-US" sz="1900" b="0" i="1">
                            <a:latin typeface="Cambria Math" panose="02040503050406030204" pitchFamily="18" charset="0"/>
                          </a:rPr>
                          <m:t>𝑐</m:t>
                        </m:r>
                      </m:sup>
                    </m:sSup>
                  </m:oMath>
                </a14:m>
                <a:r>
                  <a:rPr lang="en-US" sz="1900" dirty="0"/>
                  <a:t> u </a:t>
                </a:r>
                <a:r>
                  <a:rPr lang="en-US" sz="1900" dirty="0" err="1"/>
                  <a:t>odnosu</a:t>
                </a:r>
                <a:r>
                  <a:rPr lang="en-US" sz="1900" dirty="0"/>
                  <a:t> </a:t>
                </a:r>
                <a:r>
                  <a:rPr lang="en-US" sz="1900" dirty="0" err="1"/>
                  <a:t>na</a:t>
                </a:r>
                <a:r>
                  <a:rPr lang="en-US" sz="1900" dirty="0"/>
                  <a:t> </a:t>
                </a:r>
                <a:r>
                  <a:rPr lang="en-US" sz="1900" dirty="0" err="1"/>
                  <a:t>aktivacije</a:t>
                </a:r>
                <a:r>
                  <a:rPr lang="en-US" sz="1900" dirty="0"/>
                  <a:t> </a:t>
                </a:r>
                <a14:m>
                  <m:oMath xmlns:m="http://schemas.openxmlformats.org/officeDocument/2006/math">
                    <m:sSubSup>
                      <m:sSubSupPr>
                        <m:ctrlPr>
                          <a:rPr lang="en-US" sz="1900" b="0" i="1">
                            <a:latin typeface="Cambria Math" panose="02040503050406030204" pitchFamily="18" charset="0"/>
                          </a:rPr>
                        </m:ctrlPr>
                      </m:sSubSupPr>
                      <m:e>
                        <m:r>
                          <a:rPr lang="en-US" sz="1900" b="0" i="1">
                            <a:latin typeface="Cambria Math" panose="02040503050406030204" pitchFamily="18" charset="0"/>
                          </a:rPr>
                          <m:t>𝐴</m:t>
                        </m:r>
                      </m:e>
                      <m:sub>
                        <m:r>
                          <a:rPr lang="en-US" sz="1900" b="0" i="1">
                            <a:latin typeface="Cambria Math" panose="02040503050406030204" pitchFamily="18" charset="0"/>
                          </a:rPr>
                          <m:t>𝑖𝑗</m:t>
                        </m:r>
                      </m:sub>
                      <m:sup>
                        <m:r>
                          <a:rPr lang="en-US" sz="1900" b="0" i="1">
                            <a:latin typeface="Cambria Math" panose="02040503050406030204" pitchFamily="18" charset="0"/>
                          </a:rPr>
                          <m:t>𝑘</m:t>
                        </m:r>
                      </m:sup>
                    </m:sSubSup>
                  </m:oMath>
                </a14:m>
                <a:r>
                  <a:rPr lang="en-US" sz="1900" dirty="0"/>
                  <a:t> </a:t>
                </a:r>
                <a:r>
                  <a:rPr lang="en-US" sz="1900" dirty="0" err="1"/>
                  <a:t>konvolucionog</a:t>
                </a:r>
                <a:r>
                  <a:rPr lang="en-US" sz="1900" dirty="0"/>
                  <a:t> </a:t>
                </a:r>
                <a:r>
                  <a:rPr lang="en-US" sz="1900" dirty="0" err="1"/>
                  <a:t>sloja</a:t>
                </a:r>
                <a:r>
                  <a:rPr lang="en-US" sz="1900" dirty="0"/>
                  <a:t>:</a:t>
                </a:r>
              </a:p>
              <a:p>
                <a:pPr marL="0" indent="0" algn="just">
                  <a:buNone/>
                </a:pPr>
                <a14:m>
                  <m:oMathPara xmlns:m="http://schemas.openxmlformats.org/officeDocument/2006/math">
                    <m:oMath>
                      <m:f>
                        <m:fPr>
                          <m:ctrlPr>
                            <a:rPr lang="en-US" sz="1900" i="1">
                              <a:latin typeface="Cambria Math" panose="02040503050406030204" pitchFamily="18" charset="0"/>
                              <a:ea typeface="Cambria Math" panose="02040503050406030204" pitchFamily="18" charset="0"/>
                            </a:rPr>
                          </m:ctrlPr>
                        </m:fPr>
                        <m:num>
                          <m:r>
                            <a:rPr lang="en-US" sz="1900" i="1">
                              <a:latin typeface="Cambria Math" panose="02040503050406030204" pitchFamily="18" charset="0"/>
                              <a:ea typeface="Cambria Math" panose="02040503050406030204" pitchFamily="18" charset="0"/>
                            </a:rPr>
                            <m:t>𝜕</m:t>
                          </m:r>
                          <m:sSup>
                            <m:sSupPr>
                              <m:ctrlPr>
                                <a:rPr lang="en-US" sz="1900" b="0" i="1">
                                  <a:latin typeface="Cambria Math" panose="02040503050406030204" pitchFamily="18" charset="0"/>
                                  <a:ea typeface="Cambria Math" panose="02040503050406030204" pitchFamily="18" charset="0"/>
                                </a:rPr>
                              </m:ctrlPr>
                            </m:sSupPr>
                            <m:e>
                              <m:r>
                                <a:rPr lang="en-US" sz="1900" b="0" i="1">
                                  <a:latin typeface="Cambria Math" panose="02040503050406030204" pitchFamily="18" charset="0"/>
                                  <a:ea typeface="Cambria Math" panose="02040503050406030204" pitchFamily="18" charset="0"/>
                                </a:rPr>
                                <m:t>𝑦</m:t>
                              </m:r>
                            </m:e>
                            <m:sup>
                              <m:r>
                                <a:rPr lang="en-US" sz="1900" b="0" i="1">
                                  <a:latin typeface="Cambria Math" panose="02040503050406030204" pitchFamily="18" charset="0"/>
                                  <a:ea typeface="Cambria Math" panose="02040503050406030204" pitchFamily="18" charset="0"/>
                                </a:rPr>
                                <m:t>𝑐</m:t>
                              </m:r>
                            </m:sup>
                          </m:sSup>
                        </m:num>
                        <m:den>
                          <m:r>
                            <a:rPr lang="en-US" sz="1900" i="1">
                              <a:latin typeface="Cambria Math" panose="02040503050406030204" pitchFamily="18" charset="0"/>
                              <a:ea typeface="Cambria Math" panose="02040503050406030204" pitchFamily="18" charset="0"/>
                            </a:rPr>
                            <m:t>𝜕</m:t>
                          </m:r>
                          <m:sSubSup>
                            <m:sSubSupPr>
                              <m:ctrlPr>
                                <a:rPr lang="en-US" sz="1900" b="0" i="1">
                                  <a:latin typeface="Cambria Math" panose="02040503050406030204" pitchFamily="18" charset="0"/>
                                  <a:ea typeface="Cambria Math" panose="02040503050406030204" pitchFamily="18" charset="0"/>
                                </a:rPr>
                              </m:ctrlPr>
                            </m:sSubSupPr>
                            <m:e>
                              <m:r>
                                <a:rPr lang="en-US" sz="1900" b="0" i="1">
                                  <a:latin typeface="Cambria Math" panose="02040503050406030204" pitchFamily="18" charset="0"/>
                                  <a:ea typeface="Cambria Math" panose="02040503050406030204" pitchFamily="18" charset="0"/>
                                </a:rPr>
                                <m:t>𝐴</m:t>
                              </m:r>
                            </m:e>
                            <m:sub>
                              <m:r>
                                <a:rPr lang="en-US" sz="1900" b="0" i="1">
                                  <a:latin typeface="Cambria Math" panose="02040503050406030204" pitchFamily="18" charset="0"/>
                                  <a:ea typeface="Cambria Math" panose="02040503050406030204" pitchFamily="18" charset="0"/>
                                </a:rPr>
                                <m:t>𝑖𝑗</m:t>
                              </m:r>
                            </m:sub>
                            <m:sup>
                              <m:r>
                                <a:rPr lang="en-US" sz="1900" b="0" i="1">
                                  <a:latin typeface="Cambria Math" panose="02040503050406030204" pitchFamily="18" charset="0"/>
                                  <a:ea typeface="Cambria Math" panose="02040503050406030204" pitchFamily="18" charset="0"/>
                                </a:rPr>
                                <m:t>𝑘</m:t>
                              </m:r>
                            </m:sup>
                          </m:sSubSup>
                        </m:den>
                      </m:f>
                    </m:oMath>
                  </m:oMathPara>
                </a14:m>
                <a:endParaRPr lang="en-US" sz="1900" dirty="0"/>
              </a:p>
              <a:p>
                <a:pPr algn="just"/>
                <a:r>
                  <a:rPr lang="en-US" sz="1900" dirty="0" err="1"/>
                  <a:t>Gradijenti</a:t>
                </a:r>
                <a:r>
                  <a:rPr lang="en-US" sz="1900" dirty="0"/>
                  <a:t> se </a:t>
                </a:r>
                <a:r>
                  <a:rPr lang="en-US" sz="1900" dirty="0" err="1"/>
                  <a:t>zatim</a:t>
                </a:r>
                <a:r>
                  <a:rPr lang="en-US" sz="1900" dirty="0"/>
                  <a:t> </a:t>
                </a:r>
                <a:r>
                  <a:rPr lang="en-US" sz="1900" dirty="0" err="1"/>
                  <a:t>globalno</a:t>
                </a:r>
                <a:r>
                  <a:rPr lang="en-US" sz="1900" dirty="0"/>
                  <a:t> </a:t>
                </a:r>
                <a:r>
                  <a:rPr lang="en-US" sz="1900" dirty="0" err="1"/>
                  <a:t>usrednjavaju</a:t>
                </a:r>
                <a:r>
                  <a:rPr lang="en-US" sz="1900" dirty="0"/>
                  <a:t> po </a:t>
                </a:r>
                <a:r>
                  <a:rPr lang="en-US" sz="1900" dirty="0" err="1"/>
                  <a:t>prostornim</a:t>
                </a:r>
                <a:r>
                  <a:rPr lang="en-US" sz="1900" dirty="0"/>
                  <a:t> </a:t>
                </a:r>
                <a:r>
                  <a:rPr lang="en-US" sz="1900" dirty="0" err="1"/>
                  <a:t>dimenzijama</a:t>
                </a:r>
                <a:r>
                  <a:rPr lang="en-US" sz="1900" dirty="0"/>
                  <a:t> feature </a:t>
                </a:r>
                <a:r>
                  <a:rPr lang="en-US" sz="1900" dirty="0" err="1"/>
                  <a:t>mape</a:t>
                </a:r>
                <a:r>
                  <a:rPr lang="en-US" sz="1900" dirty="0"/>
                  <a:t>:</a:t>
                </a:r>
              </a:p>
              <a:p>
                <a:pPr marL="0" indent="0" algn="just">
                  <a:buNone/>
                </a:pPr>
                <a14:m>
                  <m:oMathPara xmlns:m="http://schemas.openxmlformats.org/officeDocument/2006/math">
                    <m:oMath>
                      <m:sSubSup>
                        <m:sSubSupPr>
                          <m:ctrlPr>
                            <a:rPr lang="en-US" sz="1900" i="1">
                              <a:latin typeface="Cambria Math" panose="02040503050406030204" pitchFamily="18" charset="0"/>
                              <a:ea typeface="Cambria Math" panose="02040503050406030204" pitchFamily="18" charset="0"/>
                            </a:rPr>
                          </m:ctrlPr>
                        </m:sSubSupPr>
                        <m:e>
                          <m:r>
                            <a:rPr lang="en-US" sz="1900" i="1">
                              <a:latin typeface="Cambria Math" panose="02040503050406030204" pitchFamily="18" charset="0"/>
                              <a:ea typeface="Cambria Math" panose="02040503050406030204" pitchFamily="18" charset="0"/>
                            </a:rPr>
                            <m:t>𝛼</m:t>
                          </m:r>
                        </m:e>
                        <m:sub>
                          <m:r>
                            <a:rPr lang="en-US" sz="1900" b="0" i="1">
                              <a:latin typeface="Cambria Math" panose="02040503050406030204" pitchFamily="18" charset="0"/>
                            </a:rPr>
                            <m:t>𝑘</m:t>
                          </m:r>
                        </m:sub>
                        <m:sup>
                          <m:r>
                            <a:rPr lang="en-US" sz="1900" b="0" i="1">
                              <a:latin typeface="Cambria Math" panose="02040503050406030204" pitchFamily="18" charset="0"/>
                            </a:rPr>
                            <m:t>𝑐</m:t>
                          </m:r>
                        </m:sup>
                      </m:sSubSup>
                      <m:r>
                        <a:rPr lang="en-US" sz="1900" b="0" i="1">
                          <a:latin typeface="Cambria Math" panose="02040503050406030204" pitchFamily="18" charset="0"/>
                        </a:rPr>
                        <m:t>=</m:t>
                      </m:r>
                      <m:f>
                        <m:fPr>
                          <m:ctrlPr>
                            <a:rPr lang="en-US" sz="1900" b="0" i="1">
                              <a:latin typeface="Cambria Math" panose="02040503050406030204" pitchFamily="18" charset="0"/>
                            </a:rPr>
                          </m:ctrlPr>
                        </m:fPr>
                        <m:num>
                          <m:r>
                            <a:rPr lang="en-US" sz="1900" b="0" i="1">
                              <a:latin typeface="Cambria Math" panose="02040503050406030204" pitchFamily="18" charset="0"/>
                            </a:rPr>
                            <m:t>1</m:t>
                          </m:r>
                        </m:num>
                        <m:den>
                          <m:r>
                            <a:rPr lang="en-US" sz="1900" b="0" i="1">
                              <a:latin typeface="Cambria Math" panose="02040503050406030204" pitchFamily="18" charset="0"/>
                            </a:rPr>
                            <m:t>𝑍</m:t>
                          </m:r>
                        </m:den>
                      </m:f>
                      <m:nary>
                        <m:naryPr>
                          <m:chr m:val="∑"/>
                          <m:supHide m:val="on"/>
                          <m:ctrlPr>
                            <a:rPr lang="en-US" sz="1900" b="0" i="1">
                              <a:latin typeface="Cambria Math" panose="02040503050406030204" pitchFamily="18" charset="0"/>
                            </a:rPr>
                          </m:ctrlPr>
                        </m:naryPr>
                        <m:sub>
                          <m:r>
                            <m:rPr>
                              <m:brk m:alnAt="7"/>
                            </m:rPr>
                            <a:rPr lang="en-US" sz="1900" b="0" i="1">
                              <a:latin typeface="Cambria Math" panose="02040503050406030204" pitchFamily="18" charset="0"/>
                            </a:rPr>
                            <m:t>𝑖</m:t>
                          </m:r>
                        </m:sub>
                        <m:sup/>
                        <m:e>
                          <m:nary>
                            <m:naryPr>
                              <m:chr m:val="∑"/>
                              <m:supHide m:val="on"/>
                              <m:ctrlPr>
                                <a:rPr lang="en-US" sz="1900" b="0" i="1">
                                  <a:latin typeface="Cambria Math" panose="02040503050406030204" pitchFamily="18" charset="0"/>
                                </a:rPr>
                              </m:ctrlPr>
                            </m:naryPr>
                            <m:sub>
                              <m:r>
                                <m:rPr>
                                  <m:brk m:alnAt="7"/>
                                </m:rPr>
                                <a:rPr lang="en-US" sz="1900" b="0" i="1">
                                  <a:latin typeface="Cambria Math" panose="02040503050406030204" pitchFamily="18" charset="0"/>
                                </a:rPr>
                                <m:t>𝑗</m:t>
                              </m:r>
                            </m:sub>
                            <m:sup/>
                            <m:e>
                              <m:f>
                                <m:fPr>
                                  <m:ctrlPr>
                                    <a:rPr lang="en-US" sz="1900" i="1">
                                      <a:latin typeface="Cambria Math" panose="02040503050406030204" pitchFamily="18" charset="0"/>
                                      <a:ea typeface="Cambria Math" panose="02040503050406030204" pitchFamily="18" charset="0"/>
                                    </a:rPr>
                                  </m:ctrlPr>
                                </m:fPr>
                                <m:num>
                                  <m:r>
                                    <a:rPr lang="en-US" sz="1900" i="1">
                                      <a:latin typeface="Cambria Math" panose="02040503050406030204" pitchFamily="18" charset="0"/>
                                      <a:ea typeface="Cambria Math" panose="02040503050406030204" pitchFamily="18" charset="0"/>
                                    </a:rPr>
                                    <m:t>𝜕</m:t>
                                  </m:r>
                                  <m:sSup>
                                    <m:sSupPr>
                                      <m:ctrlPr>
                                        <a:rPr lang="en-US" sz="1900" i="1">
                                          <a:latin typeface="Cambria Math" panose="02040503050406030204" pitchFamily="18" charset="0"/>
                                          <a:ea typeface="Cambria Math" panose="02040503050406030204" pitchFamily="18" charset="0"/>
                                        </a:rPr>
                                      </m:ctrlPr>
                                    </m:sSupPr>
                                    <m:e>
                                      <m:r>
                                        <a:rPr lang="en-US" sz="1900" i="1">
                                          <a:latin typeface="Cambria Math" panose="02040503050406030204" pitchFamily="18" charset="0"/>
                                          <a:ea typeface="Cambria Math" panose="02040503050406030204" pitchFamily="18" charset="0"/>
                                        </a:rPr>
                                        <m:t>𝑦</m:t>
                                      </m:r>
                                    </m:e>
                                    <m:sup>
                                      <m:r>
                                        <a:rPr lang="en-US" sz="1900" i="1">
                                          <a:latin typeface="Cambria Math" panose="02040503050406030204" pitchFamily="18" charset="0"/>
                                          <a:ea typeface="Cambria Math" panose="02040503050406030204" pitchFamily="18" charset="0"/>
                                        </a:rPr>
                                        <m:t>𝑐</m:t>
                                      </m:r>
                                    </m:sup>
                                  </m:sSup>
                                </m:num>
                                <m:den>
                                  <m:r>
                                    <a:rPr lang="en-US" sz="1900" i="1">
                                      <a:latin typeface="Cambria Math" panose="02040503050406030204" pitchFamily="18" charset="0"/>
                                      <a:ea typeface="Cambria Math" panose="02040503050406030204" pitchFamily="18" charset="0"/>
                                    </a:rPr>
                                    <m:t>𝜕</m:t>
                                  </m:r>
                                  <m:sSubSup>
                                    <m:sSubSupPr>
                                      <m:ctrlPr>
                                        <a:rPr lang="en-US" sz="1900" i="1">
                                          <a:latin typeface="Cambria Math" panose="02040503050406030204" pitchFamily="18" charset="0"/>
                                          <a:ea typeface="Cambria Math" panose="02040503050406030204" pitchFamily="18" charset="0"/>
                                        </a:rPr>
                                      </m:ctrlPr>
                                    </m:sSubSupPr>
                                    <m:e>
                                      <m:r>
                                        <a:rPr lang="en-US" sz="1900" i="1">
                                          <a:latin typeface="Cambria Math" panose="02040503050406030204" pitchFamily="18" charset="0"/>
                                          <a:ea typeface="Cambria Math" panose="02040503050406030204" pitchFamily="18" charset="0"/>
                                        </a:rPr>
                                        <m:t>𝐴</m:t>
                                      </m:r>
                                    </m:e>
                                    <m:sub>
                                      <m:r>
                                        <a:rPr lang="en-US" sz="1900" i="1">
                                          <a:latin typeface="Cambria Math" panose="02040503050406030204" pitchFamily="18" charset="0"/>
                                          <a:ea typeface="Cambria Math" panose="02040503050406030204" pitchFamily="18" charset="0"/>
                                        </a:rPr>
                                        <m:t>𝑖𝑗</m:t>
                                      </m:r>
                                    </m:sub>
                                    <m:sup>
                                      <m:r>
                                        <a:rPr lang="en-US" sz="1900" i="1">
                                          <a:latin typeface="Cambria Math" panose="02040503050406030204" pitchFamily="18" charset="0"/>
                                          <a:ea typeface="Cambria Math" panose="02040503050406030204" pitchFamily="18" charset="0"/>
                                        </a:rPr>
                                        <m:t>𝑘</m:t>
                                      </m:r>
                                    </m:sup>
                                  </m:sSubSup>
                                </m:den>
                              </m:f>
                            </m:e>
                          </m:nary>
                        </m:e>
                      </m:nary>
                    </m:oMath>
                  </m:oMathPara>
                </a14:m>
                <a:endParaRPr lang="en-US" sz="1900" dirty="0"/>
              </a:p>
              <a:p>
                <a:pPr algn="just"/>
                <a:r>
                  <a:rPr lang="en-US" sz="1900" dirty="0" err="1"/>
                  <a:t>Dobijena</a:t>
                </a:r>
                <a:r>
                  <a:rPr lang="en-US" sz="1900" dirty="0"/>
                  <a:t> </a:t>
                </a:r>
                <a:r>
                  <a:rPr lang="en-US" sz="1900" dirty="0" err="1"/>
                  <a:t>vrednost</a:t>
                </a:r>
                <a:r>
                  <a:rPr lang="en-US" sz="1900" dirty="0"/>
                  <a:t> </a:t>
                </a:r>
                <a14:m>
                  <m:oMath xmlns:m="http://schemas.openxmlformats.org/officeDocument/2006/math">
                    <m:sSubSup>
                      <m:sSubSupPr>
                        <m:ctrlPr>
                          <a:rPr lang="en-US" sz="1900" i="1">
                            <a:latin typeface="Cambria Math" panose="02040503050406030204" pitchFamily="18" charset="0"/>
                            <a:ea typeface="Cambria Math" panose="02040503050406030204" pitchFamily="18" charset="0"/>
                          </a:rPr>
                        </m:ctrlPr>
                      </m:sSubSupPr>
                      <m:e>
                        <m:r>
                          <a:rPr lang="en-US" sz="1900" i="1">
                            <a:latin typeface="Cambria Math" panose="02040503050406030204" pitchFamily="18" charset="0"/>
                            <a:ea typeface="Cambria Math" panose="02040503050406030204" pitchFamily="18" charset="0"/>
                          </a:rPr>
                          <m:t>𝛼</m:t>
                        </m:r>
                      </m:e>
                      <m:sub>
                        <m:r>
                          <a:rPr lang="en-US" sz="1900" i="1">
                            <a:latin typeface="Cambria Math" panose="02040503050406030204" pitchFamily="18" charset="0"/>
                          </a:rPr>
                          <m:t>𝑘</m:t>
                        </m:r>
                      </m:sub>
                      <m:sup>
                        <m:r>
                          <a:rPr lang="en-US" sz="1900" i="1">
                            <a:latin typeface="Cambria Math" panose="02040503050406030204" pitchFamily="18" charset="0"/>
                          </a:rPr>
                          <m:t>𝑐</m:t>
                        </m:r>
                      </m:sup>
                    </m:sSubSup>
                    <m:r>
                      <a:rPr lang="en-US" sz="1900" i="1">
                        <a:latin typeface="Cambria Math" panose="02040503050406030204" pitchFamily="18" charset="0"/>
                      </a:rPr>
                      <m:t> </m:t>
                    </m:r>
                  </m:oMath>
                </a14:m>
                <a:r>
                  <a:rPr lang="en-US" sz="1900" dirty="0" err="1"/>
                  <a:t>predstavlja</a:t>
                </a:r>
                <a:r>
                  <a:rPr lang="en-US" sz="1900" dirty="0"/>
                  <a:t> </a:t>
                </a:r>
                <a:r>
                  <a:rPr lang="en-US" sz="1900" dirty="0" err="1"/>
                  <a:t>značaj</a:t>
                </a:r>
                <a:r>
                  <a:rPr lang="en-US" sz="1900" dirty="0"/>
                  <a:t> feature </a:t>
                </a:r>
                <a:r>
                  <a:rPr lang="en-US" sz="1900" dirty="0" err="1"/>
                  <a:t>mape</a:t>
                </a:r>
                <a:r>
                  <a:rPr lang="en-US" sz="1900" dirty="0"/>
                  <a:t> </a:t>
                </a:r>
                <a14:m>
                  <m:oMath xmlns:m="http://schemas.openxmlformats.org/officeDocument/2006/math">
                    <m:sSup>
                      <m:sSupPr>
                        <m:ctrlPr>
                          <a:rPr lang="en-US" sz="1900" i="1">
                            <a:latin typeface="Cambria Math" panose="02040503050406030204" pitchFamily="18" charset="0"/>
                          </a:rPr>
                        </m:ctrlPr>
                      </m:sSupPr>
                      <m:e>
                        <m:r>
                          <a:rPr lang="en-US" sz="1900" i="1">
                            <a:latin typeface="Cambria Math" panose="02040503050406030204" pitchFamily="18" charset="0"/>
                          </a:rPr>
                          <m:t>𝐴</m:t>
                        </m:r>
                      </m:e>
                      <m:sup>
                        <m:r>
                          <a:rPr lang="en-US" sz="1900" i="1">
                            <a:latin typeface="Cambria Math" panose="02040503050406030204" pitchFamily="18" charset="0"/>
                          </a:rPr>
                          <m:t>𝑘</m:t>
                        </m:r>
                      </m:sup>
                    </m:sSup>
                    <m:r>
                      <a:rPr lang="en-US" sz="1900" b="0" i="0">
                        <a:latin typeface="Cambria Math" panose="02040503050406030204" pitchFamily="18" charset="0"/>
                      </a:rPr>
                      <m:t> </m:t>
                    </m:r>
                  </m:oMath>
                </a14:m>
                <a:r>
                  <a:rPr lang="en-US" sz="1900" dirty="0"/>
                  <a:t>za </a:t>
                </a:r>
                <a:r>
                  <a:rPr lang="en-US" sz="1900" dirty="0" err="1"/>
                  <a:t>ciljnu</a:t>
                </a:r>
                <a:r>
                  <a:rPr lang="en-US" sz="1900" dirty="0"/>
                  <a:t> </a:t>
                </a:r>
                <a:r>
                  <a:rPr lang="en-US" sz="1900" dirty="0" err="1"/>
                  <a:t>klasu</a:t>
                </a:r>
                <a:r>
                  <a:rPr lang="en-US" sz="1900" dirty="0"/>
                  <a:t> </a:t>
                </a:r>
                <a14:m>
                  <m:oMath xmlns:m="http://schemas.openxmlformats.org/officeDocument/2006/math">
                    <m:r>
                      <a:rPr lang="en-US" sz="1900" i="1">
                        <a:latin typeface="Cambria Math" panose="02040503050406030204" pitchFamily="18" charset="0"/>
                      </a:rPr>
                      <m:t>𝑐</m:t>
                    </m:r>
                  </m:oMath>
                </a14:m>
                <a:r>
                  <a:rPr lang="en-US" sz="1900" dirty="0"/>
                  <a:t>.</a:t>
                </a:r>
              </a:p>
              <a:p>
                <a:pPr algn="just"/>
                <a14:m>
                  <m:oMath xmlns:m="http://schemas.openxmlformats.org/officeDocument/2006/math">
                    <m:sSup>
                      <m:sSupPr>
                        <m:ctrlPr>
                          <a:rPr lang="en-US" sz="1900" i="1">
                            <a:latin typeface="Cambria Math" panose="02040503050406030204" pitchFamily="18" charset="0"/>
                          </a:rPr>
                        </m:ctrlPr>
                      </m:sSupPr>
                      <m:e>
                        <m:r>
                          <a:rPr lang="en-US" sz="1900" i="1">
                            <a:latin typeface="Cambria Math" panose="02040503050406030204" pitchFamily="18" charset="0"/>
                          </a:rPr>
                          <m:t>𝑦</m:t>
                        </m:r>
                      </m:e>
                      <m:sup>
                        <m:r>
                          <a:rPr lang="en-US" sz="1900" i="1">
                            <a:latin typeface="Cambria Math" panose="02040503050406030204" pitchFamily="18" charset="0"/>
                          </a:rPr>
                          <m:t>𝑐</m:t>
                        </m:r>
                      </m:sup>
                    </m:sSup>
                  </m:oMath>
                </a14:m>
                <a:r>
                  <a:rPr lang="en-US" sz="1900" dirty="0"/>
                  <a:t>- score </a:t>
                </a:r>
                <a:r>
                  <a:rPr lang="en-US" sz="1900" dirty="0" err="1"/>
                  <a:t>ciljne</a:t>
                </a:r>
                <a:r>
                  <a:rPr lang="en-US" sz="1900" dirty="0"/>
                  <a:t> </a:t>
                </a:r>
                <a:r>
                  <a:rPr lang="en-US" sz="1900" dirty="0" err="1"/>
                  <a:t>klase</a:t>
                </a:r>
                <a:endParaRPr lang="en-US" sz="1900" dirty="0"/>
              </a:p>
              <a:p>
                <a:pPr algn="just"/>
                <a14:m>
                  <m:oMath xmlns:m="http://schemas.openxmlformats.org/officeDocument/2006/math">
                    <m:sSup>
                      <m:sSupPr>
                        <m:ctrlPr>
                          <a:rPr lang="en-US" sz="1900" i="1">
                            <a:latin typeface="Cambria Math" panose="02040503050406030204" pitchFamily="18" charset="0"/>
                          </a:rPr>
                        </m:ctrlPr>
                      </m:sSupPr>
                      <m:e>
                        <m:r>
                          <a:rPr lang="en-US" sz="1900" i="1">
                            <a:latin typeface="Cambria Math" panose="02040503050406030204" pitchFamily="18" charset="0"/>
                          </a:rPr>
                          <m:t>𝐴</m:t>
                        </m:r>
                      </m:e>
                      <m:sup>
                        <m:r>
                          <a:rPr lang="en-US" sz="1900" i="1">
                            <a:latin typeface="Cambria Math" panose="02040503050406030204" pitchFamily="18" charset="0"/>
                          </a:rPr>
                          <m:t>𝑘</m:t>
                        </m:r>
                      </m:sup>
                    </m:sSup>
                  </m:oMath>
                </a14:m>
                <a:r>
                  <a:rPr lang="en-US" sz="1900" dirty="0"/>
                  <a:t>- </a:t>
                </a:r>
                <a14:m>
                  <m:oMath xmlns:m="http://schemas.openxmlformats.org/officeDocument/2006/math">
                    <m:r>
                      <a:rPr lang="en-US" sz="1900" i="1">
                        <a:latin typeface="Cambria Math" panose="02040503050406030204" pitchFamily="18" charset="0"/>
                      </a:rPr>
                      <m:t>𝑘</m:t>
                    </m:r>
                  </m:oMath>
                </a14:m>
                <a:r>
                  <a:rPr lang="en-US" sz="1900" dirty="0"/>
                  <a:t>-ta feature </a:t>
                </a:r>
                <a:r>
                  <a:rPr lang="en-US" sz="1900" dirty="0" err="1"/>
                  <a:t>mapa</a:t>
                </a:r>
                <a:endParaRPr lang="en-US" sz="1900" dirty="0"/>
              </a:p>
              <a:p>
                <a:pPr algn="just"/>
                <a14:m>
                  <m:oMath xmlns:m="http://schemas.openxmlformats.org/officeDocument/2006/math">
                    <m:r>
                      <a:rPr lang="en-US" sz="1900" i="1">
                        <a:latin typeface="Cambria Math" panose="02040503050406030204" pitchFamily="18" charset="0"/>
                      </a:rPr>
                      <m:t>𝑖</m:t>
                    </m:r>
                    <m:r>
                      <a:rPr lang="en-US" sz="1900" i="1">
                        <a:latin typeface="Cambria Math" panose="02040503050406030204" pitchFamily="18" charset="0"/>
                      </a:rPr>
                      <m:t>,</m:t>
                    </m:r>
                    <m:r>
                      <a:rPr lang="en-US" sz="1900" i="1">
                        <a:latin typeface="Cambria Math" panose="02040503050406030204" pitchFamily="18" charset="0"/>
                      </a:rPr>
                      <m:t>𝑗</m:t>
                    </m:r>
                  </m:oMath>
                </a14:m>
                <a:r>
                  <a:rPr lang="en-US" sz="1900" dirty="0"/>
                  <a:t> - </a:t>
                </a:r>
                <a:r>
                  <a:rPr lang="en-US" sz="1900" dirty="0" err="1"/>
                  <a:t>prostorna</a:t>
                </a:r>
                <a:r>
                  <a:rPr lang="en-US" sz="1900" dirty="0"/>
                  <a:t> </a:t>
                </a:r>
                <a:r>
                  <a:rPr lang="en-US" sz="1900" dirty="0" err="1"/>
                  <a:t>pozicija</a:t>
                </a:r>
                <a:r>
                  <a:rPr lang="en-US" sz="1900" dirty="0"/>
                  <a:t> u feature </a:t>
                </a:r>
                <a:r>
                  <a:rPr lang="en-US" sz="1900" dirty="0" err="1"/>
                  <a:t>mapi</a:t>
                </a:r>
                <a:endParaRPr lang="en-US" sz="1900" dirty="0"/>
              </a:p>
              <a:p>
                <a:pPr algn="just"/>
                <a14:m>
                  <m:oMath xmlns:m="http://schemas.openxmlformats.org/officeDocument/2006/math">
                    <m:r>
                      <a:rPr lang="en-US" sz="1900" i="1">
                        <a:latin typeface="Cambria Math" panose="02040503050406030204" pitchFamily="18" charset="0"/>
                      </a:rPr>
                      <m:t>𝑍</m:t>
                    </m:r>
                  </m:oMath>
                </a14:m>
                <a:r>
                  <a:rPr lang="en-US" sz="1900" dirty="0"/>
                  <a:t> - </a:t>
                </a:r>
                <a:r>
                  <a:rPr lang="en-US" sz="1900" dirty="0" err="1"/>
                  <a:t>broj</a:t>
                </a:r>
                <a:r>
                  <a:rPr lang="en-US" sz="1900" dirty="0"/>
                  <a:t> </a:t>
                </a:r>
                <a:r>
                  <a:rPr lang="en-US" sz="1900" dirty="0" err="1"/>
                  <a:t>prostornih</a:t>
                </a:r>
                <a:r>
                  <a:rPr lang="en-US" sz="1900" dirty="0"/>
                  <a:t> </a:t>
                </a:r>
                <a:r>
                  <a:rPr lang="en-US" sz="1900" dirty="0" err="1"/>
                  <a:t>elemenata</a:t>
                </a:r>
                <a:r>
                  <a:rPr lang="en-US" sz="1900" dirty="0"/>
                  <a:t> feature </a:t>
                </a:r>
                <a:r>
                  <a:rPr lang="en-US" sz="1900" dirty="0" err="1"/>
                  <a:t>mape</a:t>
                </a:r>
                <a:endParaRPr lang="en-US" sz="1900" dirty="0"/>
              </a:p>
              <a:p>
                <a:pPr algn="just"/>
                <a14:m>
                  <m:oMath xmlns:m="http://schemas.openxmlformats.org/officeDocument/2006/math">
                    <m:sSubSup>
                      <m:sSubSupPr>
                        <m:ctrlPr>
                          <a:rPr lang="en-US" sz="1900" i="1">
                            <a:latin typeface="Cambria Math" panose="02040503050406030204" pitchFamily="18" charset="0"/>
                            <a:ea typeface="Cambria Math" panose="02040503050406030204" pitchFamily="18" charset="0"/>
                          </a:rPr>
                        </m:ctrlPr>
                      </m:sSubSupPr>
                      <m:e>
                        <m:r>
                          <a:rPr lang="en-US" sz="1900" i="1">
                            <a:latin typeface="Cambria Math" panose="02040503050406030204" pitchFamily="18" charset="0"/>
                            <a:ea typeface="Cambria Math" panose="02040503050406030204" pitchFamily="18" charset="0"/>
                          </a:rPr>
                          <m:t>𝛼</m:t>
                        </m:r>
                      </m:e>
                      <m:sub>
                        <m:r>
                          <a:rPr lang="en-US" sz="1900" i="1">
                            <a:latin typeface="Cambria Math" panose="02040503050406030204" pitchFamily="18" charset="0"/>
                          </a:rPr>
                          <m:t>𝑘</m:t>
                        </m:r>
                      </m:sub>
                      <m:sup>
                        <m:r>
                          <a:rPr lang="en-US" sz="1900" i="1">
                            <a:latin typeface="Cambria Math" panose="02040503050406030204" pitchFamily="18" charset="0"/>
                          </a:rPr>
                          <m:t>𝑐</m:t>
                        </m:r>
                      </m:sup>
                    </m:sSubSup>
                  </m:oMath>
                </a14:m>
                <a:r>
                  <a:rPr lang="en-US" sz="1900" dirty="0"/>
                  <a:t> - </a:t>
                </a:r>
                <a:r>
                  <a:rPr lang="en-US" sz="1900" dirty="0" err="1"/>
                  <a:t>težina</a:t>
                </a:r>
                <a:r>
                  <a:rPr lang="en-US" sz="1900" dirty="0"/>
                  <a:t> </a:t>
                </a:r>
                <a:r>
                  <a:rPr lang="en-US" sz="1900" dirty="0" err="1"/>
                  <a:t>značaja</a:t>
                </a:r>
                <a:r>
                  <a:rPr lang="en-US" sz="1900" dirty="0"/>
                  <a:t> feature </a:t>
                </a:r>
                <a:r>
                  <a:rPr lang="en-US" sz="1900" dirty="0" err="1"/>
                  <a:t>mape</a:t>
                </a:r>
                <a:endParaRPr lang="en-US" sz="1900" dirty="0"/>
              </a:p>
            </p:txBody>
          </p:sp>
        </mc:Choice>
        <mc:Fallback>
          <p:sp>
            <p:nvSpPr>
              <p:cNvPr id="3" name="Content Placeholder 2">
                <a:extLst>
                  <a:ext uri="{FF2B5EF4-FFF2-40B4-BE49-F238E27FC236}">
                    <a16:creationId xmlns:a16="http://schemas.microsoft.com/office/drawing/2014/main" id="{93DE6B96-CDEA-86ED-56DD-6325504F3DD4}"/>
                  </a:ext>
                </a:extLst>
              </p:cNvPr>
              <p:cNvSpPr>
                <a:spLocks noGrp="1" noRot="1" noChangeAspect="1" noMove="1" noResize="1" noEditPoints="1" noAdjustHandles="1" noChangeArrowheads="1" noChangeShapeType="1" noTextEdit="1"/>
              </p:cNvSpPr>
              <p:nvPr>
                <p:ph idx="1"/>
              </p:nvPr>
            </p:nvSpPr>
            <p:spPr>
              <a:xfrm>
                <a:off x="4810259" y="649480"/>
                <a:ext cx="6555347" cy="5546047"/>
              </a:xfrm>
              <a:blipFill>
                <a:blip r:embed="rId2"/>
                <a:stretch>
                  <a:fillRect l="-580" r="-967"/>
                </a:stretch>
              </a:blipFill>
            </p:spPr>
            <p:txBody>
              <a:bodyPr/>
              <a:lstStyle/>
              <a:p>
                <a:r>
                  <a:rPr lang="en-US">
                    <a:noFill/>
                  </a:rPr>
                  <a:t> </a:t>
                </a:r>
              </a:p>
            </p:txBody>
          </p:sp>
        </mc:Fallback>
      </mc:AlternateContent>
    </p:spTree>
    <p:extLst>
      <p:ext uri="{BB962C8B-B14F-4D97-AF65-F5344CB8AC3E}">
        <p14:creationId xmlns:p14="http://schemas.microsoft.com/office/powerpoint/2010/main" val="1565595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E4C3A0-5316-D45F-89FD-8184B869DD1C}"/>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Grad-CAM – mapa lokalizacije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9919F2D-FE3C-D158-4F3A-C140DA719CC6}"/>
                  </a:ext>
                </a:extLst>
              </p:cNvPr>
              <p:cNvSpPr>
                <a:spLocks noGrp="1"/>
              </p:cNvSpPr>
              <p:nvPr>
                <p:ph idx="1"/>
              </p:nvPr>
            </p:nvSpPr>
            <p:spPr>
              <a:xfrm>
                <a:off x="1371599" y="2318197"/>
                <a:ext cx="9724031" cy="3683358"/>
              </a:xfrm>
            </p:spPr>
            <p:txBody>
              <a:bodyPr anchor="ctr">
                <a:normAutofit/>
              </a:bodyPr>
              <a:lstStyle/>
              <a:p>
                <a:r>
                  <a:rPr lang="en-US" sz="2000" dirty="0" err="1"/>
                  <a:t>Nakon</a:t>
                </a:r>
                <a:r>
                  <a:rPr lang="en-US" sz="2000" dirty="0"/>
                  <a:t> </a:t>
                </a:r>
                <a:r>
                  <a:rPr lang="en-US" sz="2000" dirty="0" err="1"/>
                  <a:t>određivanja</a:t>
                </a:r>
                <a:r>
                  <a:rPr lang="en-US" sz="2000" dirty="0"/>
                  <a:t> </a:t>
                </a:r>
                <a:r>
                  <a:rPr lang="en-US" sz="2000" dirty="0" err="1"/>
                  <a:t>značaja</a:t>
                </a:r>
                <a:r>
                  <a:rPr lang="en-US" sz="2000" dirty="0"/>
                  <a:t> </a:t>
                </a:r>
                <a14:m>
                  <m:oMath xmlns:m="http://schemas.openxmlformats.org/officeDocument/2006/math">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𝑘</m:t>
                        </m:r>
                      </m:sub>
                      <m:sup>
                        <m:r>
                          <a:rPr lang="en-US" sz="2000" i="1">
                            <a:latin typeface="Cambria Math" panose="02040503050406030204" pitchFamily="18" charset="0"/>
                          </a:rPr>
                          <m:t>𝑐</m:t>
                        </m:r>
                      </m:sup>
                    </m:sSubSup>
                  </m:oMath>
                </a14:m>
                <a:r>
                  <a:rPr lang="en-US" sz="2000" dirty="0"/>
                  <a:t>,  feature </a:t>
                </a:r>
                <a:r>
                  <a:rPr lang="en-US" sz="2000" dirty="0" err="1"/>
                  <a:t>mape</a:t>
                </a:r>
                <a:r>
                  <a:rPr lang="en-US" sz="2000" dirty="0"/>
                  <a:t> se </a:t>
                </a:r>
                <a:r>
                  <a:rPr lang="en-US" sz="2000" dirty="0" err="1"/>
                  <a:t>ponderišu</a:t>
                </a:r>
                <a:r>
                  <a:rPr lang="en-US" sz="2000" dirty="0"/>
                  <a:t> </a:t>
                </a:r>
                <a:r>
                  <a:rPr lang="en-US" sz="2000" dirty="0" err="1"/>
                  <a:t>odgovarajućim</a:t>
                </a:r>
                <a:r>
                  <a:rPr lang="en-US" sz="2000" dirty="0"/>
                  <a:t> </a:t>
                </a:r>
                <a:r>
                  <a:rPr lang="en-US" sz="2000" dirty="0" err="1"/>
                  <a:t>težinama</a:t>
                </a:r>
                <a:r>
                  <a:rPr lang="en-US" sz="2000" dirty="0"/>
                  <a:t> </a:t>
                </a:r>
                <a:r>
                  <a:rPr lang="en-US" sz="2000" dirty="0" err="1"/>
                  <a:t>i</a:t>
                </a:r>
                <a:r>
                  <a:rPr lang="en-US" sz="2000" dirty="0"/>
                  <a:t> </a:t>
                </a:r>
                <a:r>
                  <a:rPr lang="en-US" sz="2000" dirty="0" err="1"/>
                  <a:t>sabiraju</a:t>
                </a:r>
                <a:r>
                  <a:rPr lang="en-US" sz="2000" dirty="0"/>
                  <a:t>:</a:t>
                </a:r>
              </a:p>
              <a:p>
                <a:pPr marL="0" indent="0">
                  <a:buNone/>
                </a:pPr>
                <a14:m>
                  <m:oMathPara xmlns:m="http://schemas.openxmlformats.org/officeDocument/2006/math">
                    <m:oMath>
                      <m:nary>
                        <m:naryPr>
                          <m:chr m:val="∑"/>
                          <m:supHide m:val="on"/>
                          <m:ctrlPr>
                            <a:rPr lang="en-US" sz="2000" b="0" i="1">
                              <a:latin typeface="Cambria Math" panose="02040503050406030204" pitchFamily="18" charset="0"/>
                            </a:rPr>
                          </m:ctrlPr>
                        </m:naryPr>
                        <m:sub>
                          <m:r>
                            <m:rPr>
                              <m:brk m:alnAt="7"/>
                            </m:rPr>
                            <a:rPr lang="en-US" sz="2000" b="0" i="1">
                              <a:latin typeface="Cambria Math" panose="02040503050406030204" pitchFamily="18" charset="0"/>
                            </a:rPr>
                            <m:t>𝑘</m:t>
                          </m:r>
                        </m:sub>
                        <m:sup/>
                        <m:e>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𝑘</m:t>
                              </m:r>
                            </m:sub>
                            <m:sup>
                              <m:r>
                                <a:rPr lang="en-US" sz="2000" i="1">
                                  <a:latin typeface="Cambria Math" panose="02040503050406030204" pitchFamily="18" charset="0"/>
                                </a:rPr>
                                <m:t>𝑐</m:t>
                              </m:r>
                            </m:sup>
                          </m:sSubSup>
                          <m:sSup>
                            <m:sSupPr>
                              <m:ctrlPr>
                                <a:rPr lang="en-US" sz="2000" b="0" i="1">
                                  <a:latin typeface="Cambria Math" panose="02040503050406030204" pitchFamily="18" charset="0"/>
                                </a:rPr>
                              </m:ctrlPr>
                            </m:sSupPr>
                            <m:e>
                              <m:r>
                                <a:rPr lang="en-US" sz="2000" b="0" i="1">
                                  <a:latin typeface="Cambria Math" panose="02040503050406030204" pitchFamily="18" charset="0"/>
                                </a:rPr>
                                <m:t>𝐴</m:t>
                              </m:r>
                            </m:e>
                            <m:sup>
                              <m:r>
                                <a:rPr lang="en-US" sz="2000" b="0" i="1">
                                  <a:latin typeface="Cambria Math" panose="02040503050406030204" pitchFamily="18" charset="0"/>
                                </a:rPr>
                                <m:t>𝑘</m:t>
                              </m:r>
                            </m:sup>
                          </m:sSup>
                        </m:e>
                      </m:nary>
                    </m:oMath>
                  </m:oMathPara>
                </a14:m>
                <a:endParaRPr lang="en-US" sz="2000" dirty="0"/>
              </a:p>
              <a:p>
                <a:r>
                  <a:rPr lang="en-US" sz="2000" dirty="0"/>
                  <a:t>Na </a:t>
                </a:r>
                <a:r>
                  <a:rPr lang="en-US" sz="2000" dirty="0" err="1"/>
                  <a:t>dobijenu</a:t>
                </a:r>
                <a:r>
                  <a:rPr lang="en-US" sz="2000" dirty="0"/>
                  <a:t> </a:t>
                </a:r>
                <a:r>
                  <a:rPr lang="en-US" sz="2000" dirty="0" err="1"/>
                  <a:t>kombinaciju</a:t>
                </a:r>
                <a:r>
                  <a:rPr lang="en-US" sz="2000" dirty="0"/>
                  <a:t> </a:t>
                </a:r>
                <a:r>
                  <a:rPr lang="en-US" sz="2000" dirty="0" err="1"/>
                  <a:t>primenjuje</a:t>
                </a:r>
                <a:r>
                  <a:rPr lang="en-US" sz="2000" dirty="0"/>
                  <a:t> se </a:t>
                </a:r>
                <a:r>
                  <a:rPr lang="en-US" sz="2000" dirty="0" err="1"/>
                  <a:t>ReLU</a:t>
                </a:r>
                <a:r>
                  <a:rPr lang="en-US" sz="2000" dirty="0"/>
                  <a:t> </a:t>
                </a:r>
                <a:r>
                  <a:rPr lang="en-US" sz="2000" dirty="0" err="1"/>
                  <a:t>funkcija</a:t>
                </a:r>
                <a:r>
                  <a:rPr lang="en-US" sz="2000" dirty="0"/>
                  <a:t>:</a:t>
                </a:r>
              </a:p>
              <a:p>
                <a:pPr marL="0" indent="0">
                  <a:buNone/>
                </a:pPr>
                <a14:m>
                  <m:oMathPara xmlns:m="http://schemas.openxmlformats.org/officeDocument/2006/math">
                    <m:oMath>
                      <m:sSubSup>
                        <m:sSubSupPr>
                          <m:ctrlPr>
                            <a:rPr lang="en-US" sz="2000" b="0" i="1">
                              <a:latin typeface="Cambria Math" panose="02040503050406030204" pitchFamily="18" charset="0"/>
                            </a:rPr>
                          </m:ctrlPr>
                        </m:sSubSupPr>
                        <m:e>
                          <m:r>
                            <a:rPr lang="en-US" sz="2000" b="0" i="1">
                              <a:latin typeface="Cambria Math" panose="02040503050406030204" pitchFamily="18" charset="0"/>
                            </a:rPr>
                            <m:t>𝐿</m:t>
                          </m:r>
                        </m:e>
                        <m:sub>
                          <m:r>
                            <a:rPr lang="en-US" sz="2000" b="0" i="1">
                              <a:latin typeface="Cambria Math" panose="02040503050406030204" pitchFamily="18" charset="0"/>
                            </a:rPr>
                            <m:t>𝐺𝑟𝑎𝑑</m:t>
                          </m:r>
                          <m:r>
                            <a:rPr lang="en-US" sz="2000" b="0" i="1">
                              <a:latin typeface="Cambria Math" panose="02040503050406030204" pitchFamily="18" charset="0"/>
                            </a:rPr>
                            <m:t>−</m:t>
                          </m:r>
                          <m:r>
                            <a:rPr lang="en-US" sz="2000" b="0" i="1">
                              <a:latin typeface="Cambria Math" panose="02040503050406030204" pitchFamily="18" charset="0"/>
                            </a:rPr>
                            <m:t>𝐶𝐴𝑀</m:t>
                          </m:r>
                        </m:sub>
                        <m:sup>
                          <m:r>
                            <a:rPr lang="en-US" sz="2000" b="0" i="1">
                              <a:latin typeface="Cambria Math" panose="02040503050406030204" pitchFamily="18" charset="0"/>
                            </a:rPr>
                            <m:t>𝑐</m:t>
                          </m:r>
                        </m:sup>
                      </m:sSubSup>
                      <m:r>
                        <a:rPr lang="en-US" sz="2000" b="0" i="1">
                          <a:latin typeface="Cambria Math" panose="02040503050406030204" pitchFamily="18" charset="0"/>
                        </a:rPr>
                        <m:t>=</m:t>
                      </m:r>
                      <m:r>
                        <a:rPr lang="en-US" sz="2000" b="0" i="1">
                          <a:latin typeface="Cambria Math" panose="02040503050406030204" pitchFamily="18" charset="0"/>
                        </a:rPr>
                        <m:t>𝑅𝑒𝐿𝑈</m:t>
                      </m:r>
                      <m:r>
                        <a:rPr lang="en-US" sz="2000" b="0" i="1">
                          <a:latin typeface="Cambria Math" panose="02040503050406030204" pitchFamily="18" charset="0"/>
                        </a:rPr>
                        <m:t>(</m:t>
                      </m:r>
                      <m:nary>
                        <m:naryPr>
                          <m:chr m:val="∑"/>
                          <m:supHide m:val="on"/>
                          <m:ctrlPr>
                            <a:rPr lang="en-US" sz="2000" b="0" i="1">
                              <a:latin typeface="Cambria Math" panose="02040503050406030204" pitchFamily="18" charset="0"/>
                            </a:rPr>
                          </m:ctrlPr>
                        </m:naryPr>
                        <m:sub>
                          <m:r>
                            <m:rPr>
                              <m:brk m:alnAt="7"/>
                            </m:rPr>
                            <a:rPr lang="en-US" sz="2000" b="0" i="1">
                              <a:latin typeface="Cambria Math" panose="02040503050406030204" pitchFamily="18" charset="0"/>
                            </a:rPr>
                            <m:t>𝑘</m:t>
                          </m:r>
                        </m:sub>
                        <m:sup/>
                        <m:e>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𝑘</m:t>
                              </m:r>
                            </m:sub>
                            <m:sup>
                              <m:r>
                                <a:rPr lang="en-US" sz="2000" i="1">
                                  <a:latin typeface="Cambria Math" panose="02040503050406030204" pitchFamily="18" charset="0"/>
                                </a:rPr>
                                <m:t>𝑐</m:t>
                              </m:r>
                            </m:sup>
                          </m:sSubSup>
                          <m:sSup>
                            <m:sSupPr>
                              <m:ctrlPr>
                                <a:rPr lang="en-US" sz="2000" i="1">
                                  <a:latin typeface="Cambria Math" panose="02040503050406030204" pitchFamily="18" charset="0"/>
                                </a:rPr>
                              </m:ctrlPr>
                            </m:sSupPr>
                            <m:e>
                              <m:r>
                                <a:rPr lang="en-US" sz="2000" i="1">
                                  <a:latin typeface="Cambria Math" panose="02040503050406030204" pitchFamily="18" charset="0"/>
                                </a:rPr>
                                <m:t>𝐴</m:t>
                              </m:r>
                            </m:e>
                            <m:sup>
                              <m:r>
                                <a:rPr lang="en-US" sz="2000" i="1">
                                  <a:latin typeface="Cambria Math" panose="02040503050406030204" pitchFamily="18" charset="0"/>
                                </a:rPr>
                                <m:t>𝑘</m:t>
                              </m:r>
                            </m:sup>
                          </m:sSup>
                        </m:e>
                      </m:nary>
                      <m:r>
                        <a:rPr lang="en-US" sz="2000" b="0" i="1">
                          <a:latin typeface="Cambria Math" panose="02040503050406030204" pitchFamily="18" charset="0"/>
                        </a:rPr>
                        <m:t>)</m:t>
                      </m:r>
                    </m:oMath>
                  </m:oMathPara>
                </a14:m>
                <a:endParaRPr lang="en-US" sz="2000" dirty="0"/>
              </a:p>
              <a:p>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𝐿</m:t>
                        </m:r>
                      </m:e>
                      <m:sub>
                        <m:r>
                          <a:rPr lang="en-US" sz="2000" i="1">
                            <a:latin typeface="Cambria Math" panose="02040503050406030204" pitchFamily="18" charset="0"/>
                          </a:rPr>
                          <m:t>𝐺𝑟𝑎𝑑</m:t>
                        </m:r>
                        <m:r>
                          <a:rPr lang="en-US" sz="2000" i="1">
                            <a:latin typeface="Cambria Math" panose="02040503050406030204" pitchFamily="18" charset="0"/>
                          </a:rPr>
                          <m:t>−</m:t>
                        </m:r>
                        <m:r>
                          <a:rPr lang="en-US" sz="2000" i="1">
                            <a:latin typeface="Cambria Math" panose="02040503050406030204" pitchFamily="18" charset="0"/>
                          </a:rPr>
                          <m:t>𝐶𝐴𝑀</m:t>
                        </m:r>
                      </m:sub>
                      <m:sup>
                        <m:r>
                          <a:rPr lang="en-US" sz="2000" i="1">
                            <a:latin typeface="Cambria Math" panose="02040503050406030204" pitchFamily="18" charset="0"/>
                          </a:rPr>
                          <m:t>𝑐</m:t>
                        </m:r>
                      </m:sup>
                    </m:sSubSup>
                  </m:oMath>
                </a14:m>
                <a:r>
                  <a:rPr lang="en-US" sz="2000" dirty="0"/>
                  <a:t> </a:t>
                </a:r>
                <a:r>
                  <a:rPr lang="en-US" sz="2000" dirty="0" err="1"/>
                  <a:t>predstavlja</a:t>
                </a:r>
                <a:r>
                  <a:rPr lang="en-US" sz="2000" dirty="0"/>
                  <a:t> </a:t>
                </a:r>
                <a:r>
                  <a:rPr lang="en-US" sz="2000" dirty="0" err="1"/>
                  <a:t>mapu</a:t>
                </a:r>
                <a:r>
                  <a:rPr lang="en-US" sz="2000" dirty="0"/>
                  <a:t> </a:t>
                </a:r>
                <a:r>
                  <a:rPr lang="en-US" sz="2000" dirty="0" err="1"/>
                  <a:t>lokalizacije</a:t>
                </a:r>
                <a:r>
                  <a:rPr lang="en-US" sz="2000" dirty="0"/>
                  <a:t> za </a:t>
                </a:r>
                <a:r>
                  <a:rPr lang="en-US" sz="2000" dirty="0" err="1"/>
                  <a:t>klasu</a:t>
                </a:r>
                <a:r>
                  <a:rPr lang="en-US" sz="2000" dirty="0"/>
                  <a:t> </a:t>
                </a:r>
                <a14:m>
                  <m:oMath xmlns:m="http://schemas.openxmlformats.org/officeDocument/2006/math">
                    <m:r>
                      <a:rPr lang="en-US" sz="2000" i="1">
                        <a:latin typeface="Cambria Math" panose="02040503050406030204" pitchFamily="18" charset="0"/>
                      </a:rPr>
                      <m:t>𝑐</m:t>
                    </m:r>
                  </m:oMath>
                </a14:m>
                <a:r>
                  <a:rPr lang="en-US" sz="2000" dirty="0"/>
                  <a:t>. </a:t>
                </a:r>
                <a:r>
                  <a:rPr lang="en-US" sz="2000" dirty="0" err="1"/>
                  <a:t>ReLU</a:t>
                </a:r>
                <a:r>
                  <a:rPr lang="en-US" sz="2000" dirty="0"/>
                  <a:t> </a:t>
                </a:r>
                <a:r>
                  <a:rPr lang="en-US" sz="2000" dirty="0" err="1"/>
                  <a:t>zadržava</a:t>
                </a:r>
                <a:r>
                  <a:rPr lang="en-US" sz="2000" dirty="0"/>
                  <a:t> </a:t>
                </a:r>
                <a:r>
                  <a:rPr lang="en-US" sz="2000" dirty="0" err="1"/>
                  <a:t>pozitivne</a:t>
                </a:r>
                <a:r>
                  <a:rPr lang="en-US" sz="2000" dirty="0"/>
                  <a:t> </a:t>
                </a:r>
                <a:r>
                  <a:rPr lang="en-US" sz="2000" dirty="0" err="1"/>
                  <a:t>uticaje</a:t>
                </a:r>
                <a:r>
                  <a:rPr lang="en-US" sz="2000" dirty="0"/>
                  <a:t> </a:t>
                </a:r>
                <a:r>
                  <a:rPr lang="en-US" sz="2000" dirty="0" err="1"/>
                  <a:t>na</a:t>
                </a:r>
                <a:r>
                  <a:rPr lang="en-US" sz="2000" dirty="0"/>
                  <a:t> </a:t>
                </a:r>
                <a:r>
                  <a:rPr lang="en-US" sz="2000" dirty="0" err="1"/>
                  <a:t>ciljnu</a:t>
                </a:r>
                <a:r>
                  <a:rPr lang="en-US" sz="2000" dirty="0"/>
                  <a:t> </a:t>
                </a:r>
                <a:r>
                  <a:rPr lang="en-US" sz="2000" dirty="0" err="1"/>
                  <a:t>klasu</a:t>
                </a:r>
                <a:r>
                  <a:rPr lang="en-US" sz="2000" dirty="0"/>
                  <a:t>, </a:t>
                </a:r>
                <a:r>
                  <a:rPr lang="en-US" sz="2000" dirty="0" err="1"/>
                  <a:t>dok</a:t>
                </a:r>
                <a:r>
                  <a:rPr lang="en-US" sz="2000" dirty="0"/>
                  <a:t> se </a:t>
                </a:r>
                <a:r>
                  <a:rPr lang="en-US" sz="2000" dirty="0" err="1"/>
                  <a:t>negativne</a:t>
                </a:r>
                <a:r>
                  <a:rPr lang="en-US" sz="2000" dirty="0"/>
                  <a:t> </a:t>
                </a:r>
                <a:r>
                  <a:rPr lang="en-US" sz="2000" dirty="0" err="1"/>
                  <a:t>vrednosti</a:t>
                </a:r>
                <a:r>
                  <a:rPr lang="en-US" sz="2000" dirty="0"/>
                  <a:t> </a:t>
                </a:r>
                <a:r>
                  <a:rPr lang="en-US" sz="2000" dirty="0" err="1"/>
                  <a:t>odbacuju</a:t>
                </a:r>
                <a:r>
                  <a:rPr lang="en-US" sz="2000" dirty="0"/>
                  <a:t>. </a:t>
                </a:r>
                <a:r>
                  <a:rPr lang="en-US" sz="2000" dirty="0" err="1"/>
                  <a:t>Dobijena</a:t>
                </a:r>
                <a:r>
                  <a:rPr lang="en-US" sz="2000" dirty="0"/>
                  <a:t> </a:t>
                </a:r>
                <a:r>
                  <a:rPr lang="en-US" sz="2000" dirty="0" err="1"/>
                  <a:t>mapa</a:t>
                </a:r>
                <a:r>
                  <a:rPr lang="en-US" sz="2000" dirty="0"/>
                  <a:t> se </a:t>
                </a:r>
                <a:r>
                  <a:rPr lang="en-US" sz="2000" dirty="0" err="1"/>
                  <a:t>zatim</a:t>
                </a:r>
                <a:r>
                  <a:rPr lang="en-US" sz="2000" dirty="0"/>
                  <a:t> </a:t>
                </a:r>
                <a:r>
                  <a:rPr lang="en-US" sz="2000" dirty="0" err="1"/>
                  <a:t>povećava</a:t>
                </a:r>
                <a:r>
                  <a:rPr lang="en-US" sz="2000" dirty="0"/>
                  <a:t> </a:t>
                </a:r>
                <a:r>
                  <a:rPr lang="en-US" sz="2000" dirty="0" err="1"/>
                  <a:t>na</a:t>
                </a:r>
                <a:r>
                  <a:rPr lang="en-US" sz="2000" dirty="0"/>
                  <a:t> </a:t>
                </a:r>
                <a:r>
                  <a:rPr lang="en-US" sz="2000" dirty="0" err="1"/>
                  <a:t>dimenzije</a:t>
                </a:r>
                <a:r>
                  <a:rPr lang="en-US" sz="2000" dirty="0"/>
                  <a:t> </a:t>
                </a:r>
                <a:r>
                  <a:rPr lang="en-US" sz="2000" dirty="0" err="1"/>
                  <a:t>ulazne</a:t>
                </a:r>
                <a:r>
                  <a:rPr lang="en-US" sz="2000" dirty="0"/>
                  <a:t> </a:t>
                </a:r>
                <a:r>
                  <a:rPr lang="en-US" sz="2000" dirty="0" err="1"/>
                  <a:t>slike</a:t>
                </a:r>
                <a:r>
                  <a:rPr lang="en-US" sz="2000" dirty="0"/>
                  <a:t> </a:t>
                </a:r>
                <a:r>
                  <a:rPr lang="en-US" sz="2000" dirty="0" err="1"/>
                  <a:t>i</a:t>
                </a:r>
                <a:r>
                  <a:rPr lang="en-US" sz="2000" dirty="0"/>
                  <a:t> </a:t>
                </a:r>
                <a:r>
                  <a:rPr lang="en-US" sz="2000" dirty="0" err="1"/>
                  <a:t>prikazuje</a:t>
                </a:r>
                <a:r>
                  <a:rPr lang="en-US" sz="2000" dirty="0"/>
                  <a:t> </a:t>
                </a:r>
                <a:r>
                  <a:rPr lang="en-US" sz="2000" dirty="0" err="1"/>
                  <a:t>kao</a:t>
                </a:r>
                <a:r>
                  <a:rPr lang="en-US" sz="2000" dirty="0"/>
                  <a:t> heatmap.</a:t>
                </a:r>
              </a:p>
              <a:p>
                <a:endParaRPr lang="en-US" sz="2000" dirty="0"/>
              </a:p>
              <a:p>
                <a:endParaRPr lang="en-US" sz="2000" dirty="0"/>
              </a:p>
            </p:txBody>
          </p:sp>
        </mc:Choice>
        <mc:Fallback>
          <p:sp>
            <p:nvSpPr>
              <p:cNvPr id="3" name="Content Placeholder 2">
                <a:extLst>
                  <a:ext uri="{FF2B5EF4-FFF2-40B4-BE49-F238E27FC236}">
                    <a16:creationId xmlns:a16="http://schemas.microsoft.com/office/drawing/2014/main" id="{39919F2D-FE3C-D158-4F3A-C140DA719CC6}"/>
                  </a:ext>
                </a:extLst>
              </p:cNvPr>
              <p:cNvSpPr>
                <a:spLocks noGrp="1" noRot="1" noChangeAspect="1" noMove="1" noResize="1" noEditPoints="1" noAdjustHandles="1" noChangeArrowheads="1" noChangeShapeType="1" noTextEdit="1"/>
              </p:cNvSpPr>
              <p:nvPr>
                <p:ph idx="1"/>
              </p:nvPr>
            </p:nvSpPr>
            <p:spPr>
              <a:xfrm>
                <a:off x="1371599" y="2318197"/>
                <a:ext cx="9724031" cy="3683358"/>
              </a:xfrm>
              <a:blipFill>
                <a:blip r:embed="rId2"/>
                <a:stretch>
                  <a:fillRect l="-522" t="-21649"/>
                </a:stretch>
              </a:blipFill>
            </p:spPr>
            <p:txBody>
              <a:bodyPr/>
              <a:lstStyle/>
              <a:p>
                <a:r>
                  <a:rPr lang="en-US">
                    <a:noFill/>
                  </a:rPr>
                  <a:t> </a:t>
                </a:r>
              </a:p>
            </p:txBody>
          </p:sp>
        </mc:Fallback>
      </mc:AlternateContent>
    </p:spTree>
    <p:extLst>
      <p:ext uri="{BB962C8B-B14F-4D97-AF65-F5344CB8AC3E}">
        <p14:creationId xmlns:p14="http://schemas.microsoft.com/office/powerpoint/2010/main" val="1918088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5DA657D6-3C07-94FB-C1E7-D555DD90E526}"/>
              </a:ext>
            </a:extLst>
          </p:cNvPr>
          <p:cNvPicPr>
            <a:picLocks noChangeAspect="1"/>
          </p:cNvPicPr>
          <p:nvPr/>
        </p:nvPicPr>
        <p:blipFill>
          <a:blip r:embed="rId2"/>
          <a:stretch>
            <a:fillRect/>
          </a:stretch>
        </p:blipFill>
        <p:spPr>
          <a:xfrm>
            <a:off x="1488462" y="457200"/>
            <a:ext cx="9276038" cy="3455325"/>
          </a:xfrm>
          <a:prstGeom prst="rect">
            <a:avLst/>
          </a:prstGeom>
        </p:spPr>
      </p:pic>
      <p:sp>
        <p:nvSpPr>
          <p:cNvPr id="9" name="Content Placeholder 8">
            <a:extLst>
              <a:ext uri="{FF2B5EF4-FFF2-40B4-BE49-F238E27FC236}">
                <a16:creationId xmlns:a16="http://schemas.microsoft.com/office/drawing/2014/main" id="{67AE5567-28E6-026D-1649-6BBF2A5FD690}"/>
              </a:ext>
            </a:extLst>
          </p:cNvPr>
          <p:cNvSpPr>
            <a:spLocks noGrp="1"/>
          </p:cNvSpPr>
          <p:nvPr>
            <p:ph idx="1"/>
          </p:nvPr>
        </p:nvSpPr>
        <p:spPr>
          <a:xfrm>
            <a:off x="5246415" y="4230094"/>
            <a:ext cx="6235268" cy="1800164"/>
          </a:xfrm>
        </p:spPr>
        <p:txBody>
          <a:bodyPr anchor="t">
            <a:normAutofit/>
          </a:bodyPr>
          <a:lstStyle/>
          <a:p>
            <a:r>
              <a:rPr lang="en-US" sz="1300" dirty="0"/>
              <a:t>Grad-CAM </a:t>
            </a:r>
            <a:r>
              <a:rPr lang="en-US" sz="1300" dirty="0" err="1"/>
              <a:t>algoritam</a:t>
            </a:r>
            <a:r>
              <a:rPr lang="en-US" sz="1300" dirty="0"/>
              <a:t>:</a:t>
            </a:r>
          </a:p>
          <a:p>
            <a:pPr marL="800100" lvl="1" indent="-342900">
              <a:buFont typeface="+mj-lt"/>
              <a:buAutoNum type="arabicPeriod"/>
            </a:pPr>
            <a:r>
              <a:rPr lang="en-US" sz="1300" dirty="0"/>
              <a:t>Forward pass</a:t>
            </a:r>
          </a:p>
          <a:p>
            <a:pPr marL="800100" lvl="1" indent="-342900">
              <a:buFont typeface="+mj-lt"/>
              <a:buAutoNum type="arabicPeriod"/>
            </a:pPr>
            <a:r>
              <a:rPr lang="en-US" sz="1300" dirty="0" err="1"/>
              <a:t>Izbor</a:t>
            </a:r>
            <a:r>
              <a:rPr lang="en-US" sz="1300" dirty="0"/>
              <a:t> </a:t>
            </a:r>
            <a:r>
              <a:rPr lang="en-US" sz="1300" dirty="0" err="1"/>
              <a:t>konvolucionog</a:t>
            </a:r>
            <a:r>
              <a:rPr lang="en-US" sz="1300" dirty="0"/>
              <a:t> </a:t>
            </a:r>
            <a:r>
              <a:rPr lang="en-US" sz="1300" dirty="0" err="1"/>
              <a:t>sloja</a:t>
            </a:r>
            <a:endParaRPr lang="en-US" sz="1300" dirty="0"/>
          </a:p>
          <a:p>
            <a:pPr marL="800100" lvl="1" indent="-342900">
              <a:buFont typeface="+mj-lt"/>
              <a:buAutoNum type="arabicPeriod"/>
            </a:pPr>
            <a:r>
              <a:rPr lang="en-US" sz="1300" dirty="0"/>
              <a:t>Backpropagation</a:t>
            </a:r>
          </a:p>
          <a:p>
            <a:pPr marL="800100" lvl="1" indent="-342900">
              <a:buFont typeface="+mj-lt"/>
              <a:buAutoNum type="arabicPeriod"/>
            </a:pPr>
            <a:r>
              <a:rPr lang="en-US" sz="1300" dirty="0" err="1"/>
              <a:t>Određivanje</a:t>
            </a:r>
            <a:r>
              <a:rPr lang="en-US" sz="1300" dirty="0"/>
              <a:t> </a:t>
            </a:r>
            <a:r>
              <a:rPr lang="en-US" sz="1300" dirty="0" err="1"/>
              <a:t>značaja</a:t>
            </a:r>
            <a:r>
              <a:rPr lang="en-US" sz="1300" dirty="0"/>
              <a:t> feature </a:t>
            </a:r>
            <a:r>
              <a:rPr lang="en-US" sz="1300" dirty="0" err="1"/>
              <a:t>mapa</a:t>
            </a:r>
            <a:endParaRPr lang="en-US" sz="1300" dirty="0"/>
          </a:p>
          <a:p>
            <a:pPr marL="800100" lvl="1" indent="-342900">
              <a:buFont typeface="+mj-lt"/>
              <a:buAutoNum type="arabicPeriod"/>
            </a:pPr>
            <a:r>
              <a:rPr lang="en-US" sz="1300" dirty="0" err="1"/>
              <a:t>Formiranje</a:t>
            </a:r>
            <a:r>
              <a:rPr lang="en-US" sz="1300" dirty="0"/>
              <a:t> localization </a:t>
            </a:r>
            <a:r>
              <a:rPr lang="en-US" sz="1300" dirty="0" err="1"/>
              <a:t>mape</a:t>
            </a:r>
            <a:endParaRPr lang="en-US" sz="1300" dirty="0"/>
          </a:p>
          <a:p>
            <a:pPr marL="800100" lvl="1" indent="-342900">
              <a:buFont typeface="+mj-lt"/>
              <a:buAutoNum type="arabicPeriod"/>
            </a:pPr>
            <a:r>
              <a:rPr lang="en-US" sz="1300" dirty="0" err="1"/>
              <a:t>Vizualizacija</a:t>
            </a:r>
            <a:endParaRPr lang="en-US" sz="1300" dirty="0"/>
          </a:p>
          <a:p>
            <a:pPr marL="800100" lvl="1" indent="-342900">
              <a:buFont typeface="+mj-lt"/>
              <a:buAutoNum type="arabicPeriod"/>
            </a:pPr>
            <a:endParaRPr lang="en-US" sz="1300" dirty="0"/>
          </a:p>
        </p:txBody>
      </p:sp>
      <p:sp>
        <p:nvSpPr>
          <p:cNvPr id="28" name="Rectangle 27">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609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4B08DB-F7B0-A05B-B76A-B57F3E047739}"/>
              </a:ext>
            </a:extLst>
          </p:cNvPr>
          <p:cNvSpPr>
            <a:spLocks noGrp="1"/>
          </p:cNvSpPr>
          <p:nvPr>
            <p:ph type="title"/>
          </p:nvPr>
        </p:nvSpPr>
        <p:spPr>
          <a:xfrm>
            <a:off x="818984" y="4230093"/>
            <a:ext cx="4150581" cy="1800165"/>
          </a:xfrm>
        </p:spPr>
        <p:txBody>
          <a:bodyPr>
            <a:normAutofit/>
          </a:bodyPr>
          <a:lstStyle/>
          <a:p>
            <a:pPr algn="r"/>
            <a:r>
              <a:rPr lang="en-US" sz="4000"/>
              <a:t>Guided Grad-CAM</a:t>
            </a:r>
          </a:p>
        </p:txBody>
      </p:sp>
      <p:pic>
        <p:nvPicPr>
          <p:cNvPr id="4" name="Picture 3" descr="grad-cam · GitHub Topics · GitHub">
            <a:extLst>
              <a:ext uri="{FF2B5EF4-FFF2-40B4-BE49-F238E27FC236}">
                <a16:creationId xmlns:a16="http://schemas.microsoft.com/office/drawing/2014/main" id="{812F4A85-597A-4022-FD3B-FA075394B85E}"/>
              </a:ext>
            </a:extLst>
          </p:cNvPr>
          <p:cNvPicPr>
            <a:picLocks noChangeAspect="1"/>
          </p:cNvPicPr>
          <p:nvPr/>
        </p:nvPicPr>
        <p:blipFill>
          <a:blip r:embed="rId2"/>
          <a:srcRect b="19094"/>
          <a:stretch>
            <a:fillRect/>
          </a:stretch>
        </p:blipFill>
        <p:spPr>
          <a:xfrm>
            <a:off x="1855690" y="457200"/>
            <a:ext cx="8541581" cy="3455325"/>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3246A60-30F9-3D2C-DEFB-E838AD6DE547}"/>
                  </a:ext>
                </a:extLst>
              </p:cNvPr>
              <p:cNvSpPr>
                <a:spLocks noGrp="1"/>
              </p:cNvSpPr>
              <p:nvPr>
                <p:ph idx="1"/>
              </p:nvPr>
            </p:nvSpPr>
            <p:spPr>
              <a:xfrm>
                <a:off x="5246415" y="4230094"/>
                <a:ext cx="6235268" cy="1800164"/>
              </a:xfrm>
            </p:spPr>
            <p:txBody>
              <a:bodyPr>
                <a:normAutofit/>
              </a:bodyPr>
              <a:lstStyle/>
              <a:p>
                <a:r>
                  <a:rPr lang="en-US" sz="1600"/>
                  <a:t>Grad-CAM generiše class-discriminative, ali prostorno grubu mapu lokalizacije.</a:t>
                </a:r>
              </a:p>
              <a:p>
                <a:r>
                  <a:rPr lang="en-US" sz="1600"/>
                  <a:t>Guided Backpropagation pruža vizualizaciju visoke rezolucije, ali nije dovoljno class-discriminative.</a:t>
                </a:r>
              </a:p>
              <a:p>
                <a:r>
                  <a:rPr lang="en-US" sz="1600"/>
                  <a:t>Kombinovanjem ove dve metode dobija se Guided Grad-CAM:</a:t>
                </a:r>
              </a:p>
              <a:p>
                <a:pPr marL="0" indent="0">
                  <a:buNone/>
                </a:pPr>
                <a14:m>
                  <m:oMathPara xmlns:m="http://schemas.openxmlformats.org/officeDocument/2006/math">
                    <m:oMath>
                      <m:r>
                        <a:rPr lang="en-US" sz="1600" b="0" i="1">
                          <a:latin typeface="Cambria Math" panose="02040503050406030204" pitchFamily="18" charset="0"/>
                        </a:rPr>
                        <m:t>𝐺𝑢𝑖𝑑𝑒𝑑</m:t>
                      </m:r>
                      <m:r>
                        <a:rPr lang="en-US" sz="1600" b="0" i="1">
                          <a:latin typeface="Cambria Math" panose="02040503050406030204" pitchFamily="18" charset="0"/>
                        </a:rPr>
                        <m:t> </m:t>
                      </m:r>
                      <m:r>
                        <a:rPr lang="en-US" sz="1600" b="0" i="1">
                          <a:latin typeface="Cambria Math" panose="02040503050406030204" pitchFamily="18" charset="0"/>
                        </a:rPr>
                        <m:t>𝐺𝑟𝑎𝑑</m:t>
                      </m:r>
                      <m:r>
                        <a:rPr lang="en-US" sz="1600" b="0" i="1">
                          <a:latin typeface="Cambria Math" panose="02040503050406030204" pitchFamily="18" charset="0"/>
                        </a:rPr>
                        <m:t>−</m:t>
                      </m:r>
                      <m:r>
                        <a:rPr lang="en-US" sz="1600" b="0" i="1">
                          <a:latin typeface="Cambria Math" panose="02040503050406030204" pitchFamily="18" charset="0"/>
                        </a:rPr>
                        <m:t>𝐶𝐴𝑀</m:t>
                      </m:r>
                      <m:r>
                        <a:rPr lang="en-US" sz="1600" b="0" i="1">
                          <a:latin typeface="Cambria Math" panose="02040503050406030204" pitchFamily="18" charset="0"/>
                        </a:rPr>
                        <m:t>=</m:t>
                      </m:r>
                      <m:r>
                        <a:rPr lang="en-US" sz="1600" b="0" i="1">
                          <a:latin typeface="Cambria Math" panose="02040503050406030204" pitchFamily="18" charset="0"/>
                        </a:rPr>
                        <m:t>𝐺𝑟𝑎𝑑</m:t>
                      </m:r>
                      <m:r>
                        <a:rPr lang="en-US" sz="1600" b="0" i="1">
                          <a:latin typeface="Cambria Math" panose="02040503050406030204" pitchFamily="18" charset="0"/>
                        </a:rPr>
                        <m:t>−</m:t>
                      </m:r>
                      <m:r>
                        <a:rPr lang="en-US" sz="1600" b="0" i="1">
                          <a:latin typeface="Cambria Math" panose="02040503050406030204" pitchFamily="18" charset="0"/>
                        </a:rPr>
                        <m:t>𝐶𝐴𝑀</m:t>
                      </m:r>
                      <m:r>
                        <a:rPr lang="en-US" sz="1600" b="0" i="1">
                          <a:latin typeface="Cambria Math" panose="02040503050406030204" pitchFamily="18" charset="0"/>
                          <a:ea typeface="Cambria Math" panose="02040503050406030204" pitchFamily="18" charset="0"/>
                        </a:rPr>
                        <m:t>⊙</m:t>
                      </m:r>
                      <m:r>
                        <a:rPr lang="en-US" sz="1600" b="0" i="1">
                          <a:latin typeface="Cambria Math" panose="02040503050406030204" pitchFamily="18" charset="0"/>
                          <a:ea typeface="Cambria Math" panose="02040503050406030204" pitchFamily="18" charset="0"/>
                        </a:rPr>
                        <m:t>𝐺𝑢𝑖𝑑𝑒𝑑</m:t>
                      </m:r>
                      <m:r>
                        <a:rPr lang="en-US" sz="1600" b="0" i="1">
                          <a:latin typeface="Cambria Math" panose="02040503050406030204" pitchFamily="18" charset="0"/>
                          <a:ea typeface="Cambria Math" panose="02040503050406030204" pitchFamily="18" charset="0"/>
                        </a:rPr>
                        <m:t> </m:t>
                      </m:r>
                      <m:r>
                        <a:rPr lang="en-US" sz="1600" b="0" i="1">
                          <a:latin typeface="Cambria Math" panose="02040503050406030204" pitchFamily="18" charset="0"/>
                          <a:ea typeface="Cambria Math" panose="02040503050406030204" pitchFamily="18" charset="0"/>
                        </a:rPr>
                        <m:t>𝐵𝑎𝑐𝑘𝑝𝑟𝑜𝑝𝑎𝑔𝑎𝑡𝑖𝑜𝑛</m:t>
                      </m:r>
                    </m:oMath>
                  </m:oMathPara>
                </a14:m>
                <a:endParaRPr lang="en-US" sz="1600"/>
              </a:p>
              <a:p>
                <a:endParaRPr lang="en-US" sz="1600"/>
              </a:p>
            </p:txBody>
          </p:sp>
        </mc:Choice>
        <mc:Fallback>
          <p:sp>
            <p:nvSpPr>
              <p:cNvPr id="3" name="Content Placeholder 2">
                <a:extLst>
                  <a:ext uri="{FF2B5EF4-FFF2-40B4-BE49-F238E27FC236}">
                    <a16:creationId xmlns:a16="http://schemas.microsoft.com/office/drawing/2014/main" id="{93246A60-30F9-3D2C-DEFB-E838AD6DE547}"/>
                  </a:ext>
                </a:extLst>
              </p:cNvPr>
              <p:cNvSpPr>
                <a:spLocks noGrp="1" noRot="1" noChangeAspect="1" noMove="1" noResize="1" noEditPoints="1" noAdjustHandles="1" noChangeArrowheads="1" noChangeShapeType="1" noTextEdit="1"/>
              </p:cNvSpPr>
              <p:nvPr>
                <p:ph idx="1"/>
              </p:nvPr>
            </p:nvSpPr>
            <p:spPr>
              <a:xfrm>
                <a:off x="5246415" y="4230094"/>
                <a:ext cx="6235268" cy="1800164"/>
              </a:xfrm>
              <a:blipFill>
                <a:blip r:embed="rId3"/>
                <a:stretch>
                  <a:fillRect l="-611" t="-2817"/>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4961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7E89E9-6674-3A03-4826-AF04B3A5CAD7}"/>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Primene Grad-CAM metode</a:t>
            </a:r>
          </a:p>
        </p:txBody>
      </p:sp>
      <p:sp>
        <p:nvSpPr>
          <p:cNvPr id="3" name="Content Placeholder 2">
            <a:extLst>
              <a:ext uri="{FF2B5EF4-FFF2-40B4-BE49-F238E27FC236}">
                <a16:creationId xmlns:a16="http://schemas.microsoft.com/office/drawing/2014/main" id="{0C15FA0B-96C6-F1A3-F184-894D18D67949}"/>
              </a:ext>
            </a:extLst>
          </p:cNvPr>
          <p:cNvSpPr>
            <a:spLocks noGrp="1"/>
          </p:cNvSpPr>
          <p:nvPr>
            <p:ph idx="1"/>
          </p:nvPr>
        </p:nvSpPr>
        <p:spPr>
          <a:xfrm>
            <a:off x="4810259" y="649480"/>
            <a:ext cx="6555347" cy="5546047"/>
          </a:xfrm>
        </p:spPr>
        <p:txBody>
          <a:bodyPr anchor="ctr">
            <a:normAutofit/>
          </a:bodyPr>
          <a:lstStyle/>
          <a:p>
            <a:pPr algn="just"/>
            <a:r>
              <a:rPr lang="en-US" sz="2000" dirty="0"/>
              <a:t>Grad-CAM </a:t>
            </a:r>
            <a:r>
              <a:rPr lang="en-US" sz="2000" dirty="0" err="1"/>
              <a:t>nije</a:t>
            </a:r>
            <a:r>
              <a:rPr lang="en-US" sz="2000" dirty="0"/>
              <a:t> </a:t>
            </a:r>
            <a:r>
              <a:rPr lang="en-US" sz="2000" dirty="0" err="1"/>
              <a:t>ograničen</a:t>
            </a:r>
            <a:r>
              <a:rPr lang="en-US" sz="2000" dirty="0"/>
              <a:t> </a:t>
            </a:r>
            <a:r>
              <a:rPr lang="en-US" sz="2000" dirty="0" err="1"/>
              <a:t>na</a:t>
            </a:r>
            <a:r>
              <a:rPr lang="en-US" sz="2000" dirty="0"/>
              <a:t> </a:t>
            </a:r>
            <a:r>
              <a:rPr lang="en-US" sz="2000" dirty="0" err="1"/>
              <a:t>jednu</a:t>
            </a:r>
            <a:r>
              <a:rPr lang="en-US" sz="2000" dirty="0"/>
              <a:t> CNN </a:t>
            </a:r>
            <a:r>
              <a:rPr lang="en-US" sz="2000" dirty="0" err="1"/>
              <a:t>arhitekturu</a:t>
            </a:r>
            <a:r>
              <a:rPr lang="en-US" sz="2000" dirty="0"/>
              <a:t> </a:t>
            </a:r>
            <a:r>
              <a:rPr lang="en-US" sz="2000" dirty="0" err="1"/>
              <a:t>niti</a:t>
            </a:r>
            <a:r>
              <a:rPr lang="en-US" sz="2000" dirty="0"/>
              <a:t> </a:t>
            </a:r>
            <a:r>
              <a:rPr lang="en-US" sz="2000" dirty="0" err="1"/>
              <a:t>samo</a:t>
            </a:r>
            <a:r>
              <a:rPr lang="en-US" sz="2000" dirty="0"/>
              <a:t> </a:t>
            </a:r>
            <a:r>
              <a:rPr lang="en-US" sz="2000" dirty="0" err="1"/>
              <a:t>na</a:t>
            </a:r>
            <a:r>
              <a:rPr lang="en-US" sz="2000" dirty="0"/>
              <a:t> </a:t>
            </a:r>
            <a:r>
              <a:rPr lang="en-US" sz="2000" dirty="0" err="1"/>
              <a:t>zadatak</a:t>
            </a:r>
            <a:r>
              <a:rPr lang="en-US" sz="2000" dirty="0"/>
              <a:t> </a:t>
            </a:r>
            <a:r>
              <a:rPr lang="en-US" sz="2000" dirty="0" err="1"/>
              <a:t>klasifikacije</a:t>
            </a:r>
            <a:r>
              <a:rPr lang="en-US" sz="2000" dirty="0"/>
              <a:t> </a:t>
            </a:r>
            <a:r>
              <a:rPr lang="en-US" sz="2000" dirty="0" err="1"/>
              <a:t>slika</a:t>
            </a:r>
            <a:r>
              <a:rPr lang="en-US" sz="2000" dirty="0"/>
              <a:t>. </a:t>
            </a:r>
            <a:r>
              <a:rPr lang="en-US" sz="2000" dirty="0" err="1"/>
              <a:t>Metoda</a:t>
            </a:r>
            <a:r>
              <a:rPr lang="en-US" sz="2000" dirty="0"/>
              <a:t> se </a:t>
            </a:r>
            <a:r>
              <a:rPr lang="en-US" sz="2000" dirty="0" err="1"/>
              <a:t>može</a:t>
            </a:r>
            <a:r>
              <a:rPr lang="en-US" sz="2000" dirty="0"/>
              <a:t> </a:t>
            </a:r>
            <a:r>
              <a:rPr lang="en-US" sz="2000" dirty="0" err="1"/>
              <a:t>primeniti</a:t>
            </a:r>
            <a:r>
              <a:rPr lang="en-US" sz="2000" dirty="0"/>
              <a:t> </a:t>
            </a:r>
            <a:r>
              <a:rPr lang="en-US" sz="2000" dirty="0" err="1"/>
              <a:t>na</a:t>
            </a:r>
            <a:r>
              <a:rPr lang="en-US" sz="2000" dirty="0"/>
              <a:t> </a:t>
            </a:r>
            <a:r>
              <a:rPr lang="en-US" sz="2000" dirty="0" err="1"/>
              <a:t>različite</a:t>
            </a:r>
            <a:r>
              <a:rPr lang="en-US" sz="2000" dirty="0"/>
              <a:t> CNN </a:t>
            </a:r>
            <a:r>
              <a:rPr lang="en-US" sz="2000" dirty="0" err="1"/>
              <a:t>modele</a:t>
            </a:r>
            <a:r>
              <a:rPr lang="en-US" sz="2000" dirty="0"/>
              <a:t> bez </a:t>
            </a:r>
            <a:r>
              <a:rPr lang="en-US" sz="2000" dirty="0" err="1"/>
              <a:t>njihove</a:t>
            </a:r>
            <a:r>
              <a:rPr lang="en-US" sz="2000" dirty="0"/>
              <a:t> </a:t>
            </a:r>
            <a:r>
              <a:rPr lang="en-US" sz="2000" dirty="0" err="1"/>
              <a:t>izmene</a:t>
            </a:r>
            <a:r>
              <a:rPr lang="en-US" sz="2000" dirty="0"/>
              <a:t> </a:t>
            </a:r>
            <a:r>
              <a:rPr lang="en-US" sz="2000" dirty="0" err="1"/>
              <a:t>ili</a:t>
            </a:r>
            <a:r>
              <a:rPr lang="en-US" sz="2000" dirty="0"/>
              <a:t> </a:t>
            </a:r>
            <a:r>
              <a:rPr lang="en-US" sz="2000" dirty="0" err="1"/>
              <a:t>ponovnog</a:t>
            </a:r>
            <a:r>
              <a:rPr lang="en-US" sz="2000" dirty="0"/>
              <a:t> </a:t>
            </a:r>
            <a:r>
              <a:rPr lang="en-US" sz="2000" dirty="0" err="1"/>
              <a:t>treniranja</a:t>
            </a:r>
            <a:r>
              <a:rPr lang="en-US" sz="2000" dirty="0"/>
              <a:t>.</a:t>
            </a:r>
          </a:p>
          <a:p>
            <a:r>
              <a:rPr lang="en-US" sz="2000" dirty="0"/>
              <a:t>U </a:t>
            </a:r>
            <a:r>
              <a:rPr lang="en-US" sz="2000" dirty="0" err="1"/>
              <a:t>radu</a:t>
            </a:r>
            <a:r>
              <a:rPr lang="en-US" sz="2000" dirty="0"/>
              <a:t> Selvaraju et al. </a:t>
            </a:r>
            <a:r>
              <a:rPr lang="en-US" sz="2000" dirty="0" err="1"/>
              <a:t>prikazana</a:t>
            </a:r>
            <a:r>
              <a:rPr lang="en-US" sz="2000" dirty="0"/>
              <a:t> je </a:t>
            </a:r>
            <a:r>
              <a:rPr lang="en-US" sz="2000" dirty="0" err="1"/>
              <a:t>primena</a:t>
            </a:r>
            <a:r>
              <a:rPr lang="en-US" sz="2000" dirty="0"/>
              <a:t> </a:t>
            </a:r>
            <a:r>
              <a:rPr lang="en-US" sz="2000" dirty="0" err="1"/>
              <a:t>na</a:t>
            </a:r>
            <a:r>
              <a:rPr lang="en-US" sz="2000" dirty="0"/>
              <a:t>:</a:t>
            </a:r>
          </a:p>
          <a:p>
            <a:pPr lvl="1" algn="just"/>
            <a:r>
              <a:rPr lang="en-US" sz="2000" dirty="0" err="1"/>
              <a:t>Klasifikaciju</a:t>
            </a:r>
            <a:r>
              <a:rPr lang="en-US" sz="2000" dirty="0"/>
              <a:t> </a:t>
            </a:r>
            <a:r>
              <a:rPr lang="en-US" sz="2000" dirty="0" err="1"/>
              <a:t>slika</a:t>
            </a:r>
            <a:r>
              <a:rPr lang="en-US" sz="2000" dirty="0"/>
              <a:t> - </a:t>
            </a:r>
            <a:r>
              <a:rPr lang="en-US" sz="2000" dirty="0" err="1"/>
              <a:t>lokalizacija</a:t>
            </a:r>
            <a:r>
              <a:rPr lang="en-US" sz="2000" dirty="0"/>
              <a:t> </a:t>
            </a:r>
            <a:r>
              <a:rPr lang="en-US" sz="2000" dirty="0" err="1"/>
              <a:t>regiona</a:t>
            </a:r>
            <a:r>
              <a:rPr lang="en-US" sz="2000" dirty="0"/>
              <a:t> koji </a:t>
            </a:r>
            <a:r>
              <a:rPr lang="en-US" sz="2000" dirty="0" err="1"/>
              <a:t>doprinose</a:t>
            </a:r>
            <a:r>
              <a:rPr lang="en-US" sz="2000" dirty="0"/>
              <a:t> </a:t>
            </a:r>
            <a:r>
              <a:rPr lang="en-US" sz="2000" dirty="0" err="1"/>
              <a:t>predikciji</a:t>
            </a:r>
            <a:r>
              <a:rPr lang="en-US" sz="2000" dirty="0"/>
              <a:t> </a:t>
            </a:r>
            <a:r>
              <a:rPr lang="en-US" sz="2000" dirty="0" err="1"/>
              <a:t>određene</a:t>
            </a:r>
            <a:r>
              <a:rPr lang="en-US" sz="2000" dirty="0"/>
              <a:t> </a:t>
            </a:r>
            <a:r>
              <a:rPr lang="en-US" sz="2000" dirty="0" err="1"/>
              <a:t>klase</a:t>
            </a:r>
            <a:r>
              <a:rPr lang="en-US" sz="2000" dirty="0"/>
              <a:t>.</a:t>
            </a:r>
          </a:p>
          <a:p>
            <a:pPr lvl="1" algn="just"/>
            <a:r>
              <a:rPr lang="en-US" sz="2000" dirty="0"/>
              <a:t>Image Captioning - </a:t>
            </a:r>
            <a:r>
              <a:rPr lang="en-US" sz="2000" dirty="0" err="1"/>
              <a:t>vizuelizacija</a:t>
            </a:r>
            <a:r>
              <a:rPr lang="en-US" sz="2000" dirty="0"/>
              <a:t> </a:t>
            </a:r>
            <a:r>
              <a:rPr lang="en-US" sz="2000" dirty="0" err="1"/>
              <a:t>regiona</a:t>
            </a:r>
            <a:r>
              <a:rPr lang="en-US" sz="2000" dirty="0"/>
              <a:t> </a:t>
            </a:r>
            <a:r>
              <a:rPr lang="en-US" sz="2000" dirty="0" err="1"/>
              <a:t>slike</a:t>
            </a:r>
            <a:r>
              <a:rPr lang="en-US" sz="2000" dirty="0"/>
              <a:t> </a:t>
            </a:r>
            <a:r>
              <a:rPr lang="en-US" sz="2000" dirty="0" err="1"/>
              <a:t>značajnih</a:t>
            </a:r>
            <a:r>
              <a:rPr lang="en-US" sz="2000" dirty="0"/>
              <a:t> za </a:t>
            </a:r>
            <a:r>
              <a:rPr lang="en-US" sz="2000" dirty="0" err="1"/>
              <a:t>generisanje</a:t>
            </a:r>
            <a:r>
              <a:rPr lang="en-US" sz="2000" dirty="0"/>
              <a:t> </a:t>
            </a:r>
            <a:r>
              <a:rPr lang="en-US" sz="2000" dirty="0" err="1"/>
              <a:t>određenih</a:t>
            </a:r>
            <a:r>
              <a:rPr lang="en-US" sz="2000" dirty="0"/>
              <a:t> </a:t>
            </a:r>
            <a:r>
              <a:rPr lang="en-US" sz="2000" dirty="0" err="1"/>
              <a:t>reči</a:t>
            </a:r>
            <a:r>
              <a:rPr lang="en-US" sz="2000" dirty="0"/>
              <a:t> u </a:t>
            </a:r>
            <a:r>
              <a:rPr lang="en-US" sz="2000" dirty="0" err="1"/>
              <a:t>opisu</a:t>
            </a:r>
            <a:r>
              <a:rPr lang="en-US" sz="2000" dirty="0"/>
              <a:t>.</a:t>
            </a:r>
          </a:p>
          <a:p>
            <a:pPr lvl="1" algn="just"/>
            <a:r>
              <a:rPr lang="en-US" sz="2000" dirty="0"/>
              <a:t>Visual Question Answering (VQA) - </a:t>
            </a:r>
            <a:r>
              <a:rPr lang="en-US" sz="2000" dirty="0" err="1"/>
              <a:t>određivanje</a:t>
            </a:r>
            <a:r>
              <a:rPr lang="en-US" sz="2000" dirty="0"/>
              <a:t> </a:t>
            </a:r>
            <a:r>
              <a:rPr lang="en-US" sz="2000" dirty="0" err="1"/>
              <a:t>regiona</a:t>
            </a:r>
            <a:r>
              <a:rPr lang="en-US" sz="2000" dirty="0"/>
              <a:t> </a:t>
            </a:r>
            <a:r>
              <a:rPr lang="en-US" sz="2000" dirty="0" err="1"/>
              <a:t>slike</a:t>
            </a:r>
            <a:r>
              <a:rPr lang="en-US" sz="2000" dirty="0"/>
              <a:t> koji </a:t>
            </a:r>
            <a:r>
              <a:rPr lang="en-US" sz="2000" dirty="0" err="1"/>
              <a:t>utiču</a:t>
            </a:r>
            <a:r>
              <a:rPr lang="en-US" sz="2000" dirty="0"/>
              <a:t> </a:t>
            </a:r>
            <a:r>
              <a:rPr lang="en-US" sz="2000" dirty="0" err="1"/>
              <a:t>na</a:t>
            </a:r>
            <a:r>
              <a:rPr lang="en-US" sz="2000" dirty="0"/>
              <a:t> </a:t>
            </a:r>
            <a:r>
              <a:rPr lang="en-US" sz="2000" dirty="0" err="1"/>
              <a:t>odgovor</a:t>
            </a:r>
            <a:r>
              <a:rPr lang="en-US" sz="2000" dirty="0"/>
              <a:t> </a:t>
            </a:r>
            <a:r>
              <a:rPr lang="en-US" sz="2000" dirty="0" err="1"/>
              <a:t>modela</a:t>
            </a:r>
            <a:r>
              <a:rPr lang="en-US" sz="2000" dirty="0"/>
              <a:t> </a:t>
            </a:r>
            <a:r>
              <a:rPr lang="en-US" sz="2000" dirty="0" err="1"/>
              <a:t>na</a:t>
            </a:r>
            <a:r>
              <a:rPr lang="en-US" sz="2000" dirty="0"/>
              <a:t> </a:t>
            </a:r>
            <a:r>
              <a:rPr lang="en-US" sz="2000" dirty="0" err="1"/>
              <a:t>postavljeno</a:t>
            </a:r>
            <a:r>
              <a:rPr lang="en-US" sz="2000" dirty="0"/>
              <a:t> </a:t>
            </a:r>
            <a:r>
              <a:rPr lang="en-US" sz="2000" dirty="0" err="1"/>
              <a:t>pitanje</a:t>
            </a:r>
            <a:r>
              <a:rPr lang="en-US" sz="2000" dirty="0"/>
              <a:t>.</a:t>
            </a:r>
          </a:p>
          <a:p>
            <a:pPr algn="just"/>
            <a:r>
              <a:rPr lang="en-US" sz="2000" dirty="0"/>
              <a:t>Pored </a:t>
            </a:r>
            <a:r>
              <a:rPr lang="en-US" sz="2000" dirty="0" err="1"/>
              <a:t>ovih</a:t>
            </a:r>
            <a:r>
              <a:rPr lang="en-US" sz="2000" dirty="0"/>
              <a:t> </a:t>
            </a:r>
            <a:r>
              <a:rPr lang="en-US" sz="2000" dirty="0" err="1"/>
              <a:t>primena</a:t>
            </a:r>
            <a:r>
              <a:rPr lang="en-US" sz="2000" dirty="0"/>
              <a:t> </a:t>
            </a:r>
            <a:r>
              <a:rPr lang="en-US" sz="2000" dirty="0" err="1"/>
              <a:t>postoje</a:t>
            </a:r>
            <a:r>
              <a:rPr lang="en-US" sz="2000" dirty="0"/>
              <a:t> </a:t>
            </a:r>
            <a:r>
              <a:rPr lang="en-US" sz="2000" dirty="0" err="1"/>
              <a:t>primene</a:t>
            </a:r>
            <a:r>
              <a:rPr lang="en-US" sz="2000" dirty="0"/>
              <a:t> </a:t>
            </a:r>
            <a:r>
              <a:rPr lang="en-US" sz="2000" dirty="0" err="1"/>
              <a:t>i</a:t>
            </a:r>
            <a:r>
              <a:rPr lang="en-US" sz="2000" dirty="0"/>
              <a:t> </a:t>
            </a:r>
            <a:r>
              <a:rPr lang="en-US" sz="2000" dirty="0" err="1"/>
              <a:t>prilikom</a:t>
            </a:r>
            <a:r>
              <a:rPr lang="en-US" sz="2000" dirty="0"/>
              <a:t> </a:t>
            </a:r>
            <a:r>
              <a:rPr lang="en-US" sz="2000" dirty="0" err="1"/>
              <a:t>segmentacije</a:t>
            </a:r>
            <a:r>
              <a:rPr lang="en-US" sz="2000" dirty="0"/>
              <a:t> </a:t>
            </a:r>
            <a:r>
              <a:rPr lang="en-US" sz="2000" dirty="0" err="1"/>
              <a:t>slika</a:t>
            </a:r>
            <a:r>
              <a:rPr lang="en-US" sz="2000" dirty="0"/>
              <a:t> </a:t>
            </a:r>
            <a:r>
              <a:rPr lang="en-US" sz="2000" dirty="0" err="1"/>
              <a:t>kao</a:t>
            </a:r>
            <a:r>
              <a:rPr lang="en-US" sz="2000" dirty="0"/>
              <a:t> i </a:t>
            </a:r>
            <a:r>
              <a:rPr lang="en-US" sz="2000" dirty="0" err="1"/>
              <a:t>mnoge</a:t>
            </a:r>
            <a:r>
              <a:rPr lang="en-US" sz="2000" dirty="0"/>
              <a:t> </a:t>
            </a:r>
            <a:r>
              <a:rPr lang="en-US" sz="2000" dirty="0" err="1"/>
              <a:t>druge</a:t>
            </a:r>
            <a:r>
              <a:rPr lang="en-US" sz="2000" dirty="0"/>
              <a:t>…</a:t>
            </a:r>
          </a:p>
          <a:p>
            <a:pPr lvl="1"/>
            <a:endParaRPr lang="en-US" sz="2000" dirty="0"/>
          </a:p>
          <a:p>
            <a:pPr lvl="1"/>
            <a:endParaRPr lang="en-US" sz="2000" dirty="0"/>
          </a:p>
          <a:p>
            <a:endParaRPr lang="en-US" sz="2000" dirty="0"/>
          </a:p>
        </p:txBody>
      </p:sp>
    </p:spTree>
    <p:extLst>
      <p:ext uri="{BB962C8B-B14F-4D97-AF65-F5344CB8AC3E}">
        <p14:creationId xmlns:p14="http://schemas.microsoft.com/office/powerpoint/2010/main" val="1798177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7655E73-DBC9-7FD8-3931-41F152F66975}"/>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Prednosti i mane Grad-CAM-a</a:t>
            </a:r>
          </a:p>
        </p:txBody>
      </p:sp>
      <p:graphicFrame>
        <p:nvGraphicFramePr>
          <p:cNvPr id="4" name="Content Placeholder 3">
            <a:extLst>
              <a:ext uri="{FF2B5EF4-FFF2-40B4-BE49-F238E27FC236}">
                <a16:creationId xmlns:a16="http://schemas.microsoft.com/office/drawing/2014/main" id="{7CBC7A27-88C2-FF4D-A928-66D66117ECBF}"/>
              </a:ext>
            </a:extLst>
          </p:cNvPr>
          <p:cNvGraphicFramePr>
            <a:graphicFrameLocks noGrp="1"/>
          </p:cNvGraphicFramePr>
          <p:nvPr>
            <p:ph idx="1"/>
            <p:extLst>
              <p:ext uri="{D42A27DB-BD31-4B8C-83A1-F6EECF244321}">
                <p14:modId xmlns:p14="http://schemas.microsoft.com/office/powerpoint/2010/main" val="204946674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42765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1B439-6828-56F5-40AA-820F6C7902B0}"/>
              </a:ext>
            </a:extLst>
          </p:cNvPr>
          <p:cNvSpPr>
            <a:spLocks noGrp="1"/>
          </p:cNvSpPr>
          <p:nvPr>
            <p:ph type="title"/>
          </p:nvPr>
        </p:nvSpPr>
        <p:spPr/>
        <p:txBody>
          <a:bodyPr/>
          <a:lstStyle/>
          <a:p>
            <a:r>
              <a:rPr lang="sr-Latn-RS" noProof="0" dirty="0"/>
              <a:t>Literatura i reference</a:t>
            </a:r>
          </a:p>
        </p:txBody>
      </p:sp>
      <p:sp>
        <p:nvSpPr>
          <p:cNvPr id="3" name="Content Placeholder 2">
            <a:extLst>
              <a:ext uri="{FF2B5EF4-FFF2-40B4-BE49-F238E27FC236}">
                <a16:creationId xmlns:a16="http://schemas.microsoft.com/office/drawing/2014/main" id="{4C810408-3A6D-D196-9639-785B56B1D769}"/>
              </a:ext>
            </a:extLst>
          </p:cNvPr>
          <p:cNvSpPr>
            <a:spLocks noGrp="1"/>
          </p:cNvSpPr>
          <p:nvPr>
            <p:ph idx="1"/>
          </p:nvPr>
        </p:nvSpPr>
        <p:spPr/>
        <p:txBody>
          <a:bodyPr/>
          <a:lstStyle/>
          <a:p>
            <a:pPr marL="514350" indent="-514350">
              <a:buFont typeface="+mj-lt"/>
              <a:buAutoNum type="arabicPeriod"/>
            </a:pPr>
            <a:r>
              <a:rPr lang="sr-Latn-RS" noProof="0" dirty="0" err="1"/>
              <a:t>Explainable</a:t>
            </a:r>
            <a:r>
              <a:rPr lang="sr-Latn-RS" noProof="0" dirty="0"/>
              <a:t> AI </a:t>
            </a:r>
            <a:r>
              <a:rPr lang="sr-Latn-RS" noProof="0" dirty="0" err="1"/>
              <a:t>for</a:t>
            </a:r>
            <a:r>
              <a:rPr lang="sr-Latn-RS" noProof="0" dirty="0"/>
              <a:t> </a:t>
            </a:r>
            <a:r>
              <a:rPr lang="sr-Latn-RS" noProof="0" dirty="0" err="1"/>
              <a:t>Practitioners</a:t>
            </a:r>
            <a:r>
              <a:rPr lang="sr-Latn-RS" noProof="0" dirty="0"/>
              <a:t>; </a:t>
            </a:r>
            <a:r>
              <a:rPr lang="sr-Latn-RS" noProof="0" dirty="0" err="1"/>
              <a:t>Michael</a:t>
            </a:r>
            <a:r>
              <a:rPr lang="sr-Latn-RS" noProof="0" dirty="0"/>
              <a:t> </a:t>
            </a:r>
            <a:r>
              <a:rPr lang="sr-Latn-RS" noProof="0" dirty="0" err="1"/>
              <a:t>Munn</a:t>
            </a:r>
            <a:r>
              <a:rPr lang="sr-Latn-RS" noProof="0" dirty="0"/>
              <a:t> </a:t>
            </a:r>
            <a:r>
              <a:rPr lang="sr-Latn-RS" noProof="0" dirty="0" err="1"/>
              <a:t>and</a:t>
            </a:r>
            <a:r>
              <a:rPr lang="sr-Latn-RS" noProof="0" dirty="0"/>
              <a:t> David </a:t>
            </a:r>
            <a:r>
              <a:rPr lang="sr-Latn-RS" noProof="0" dirty="0" err="1"/>
              <a:t>Pitman</a:t>
            </a:r>
            <a:endParaRPr lang="sr-Latn-RS" noProof="0" dirty="0"/>
          </a:p>
          <a:p>
            <a:pPr marL="514350" indent="-514350">
              <a:buFont typeface="+mj-lt"/>
              <a:buAutoNum type="arabicPeriod"/>
            </a:pPr>
            <a:r>
              <a:rPr lang="sr-Latn-RS" noProof="0" dirty="0"/>
              <a:t>CS231n </a:t>
            </a:r>
            <a:r>
              <a:rPr lang="sr-Latn-RS" noProof="0" dirty="0" err="1"/>
              <a:t>Deep</a:t>
            </a:r>
            <a:r>
              <a:rPr lang="sr-Latn-RS" noProof="0" dirty="0"/>
              <a:t> </a:t>
            </a:r>
            <a:r>
              <a:rPr lang="sr-Latn-RS" noProof="0" dirty="0" err="1"/>
              <a:t>Learning</a:t>
            </a:r>
            <a:r>
              <a:rPr lang="sr-Latn-RS" noProof="0" dirty="0"/>
              <a:t> </a:t>
            </a:r>
            <a:r>
              <a:rPr lang="sr-Latn-RS" noProof="0" dirty="0" err="1"/>
              <a:t>for</a:t>
            </a:r>
            <a:r>
              <a:rPr lang="sr-Latn-RS" noProof="0" dirty="0"/>
              <a:t> </a:t>
            </a:r>
            <a:r>
              <a:rPr lang="sr-Latn-RS" noProof="0" dirty="0" err="1"/>
              <a:t>Computer</a:t>
            </a:r>
            <a:r>
              <a:rPr lang="sr-Latn-RS" noProof="0" dirty="0"/>
              <a:t> </a:t>
            </a:r>
            <a:r>
              <a:rPr lang="sr-Latn-RS" noProof="0" dirty="0" err="1"/>
              <a:t>Vision</a:t>
            </a:r>
            <a:r>
              <a:rPr lang="sr-Latn-RS" noProof="0" dirty="0"/>
              <a:t>; </a:t>
            </a:r>
            <a:r>
              <a:rPr lang="sr-Latn-RS" noProof="0" dirty="0" err="1"/>
              <a:t>Stanford</a:t>
            </a:r>
            <a:endParaRPr lang="sr-Latn-RS" noProof="0" dirty="0"/>
          </a:p>
          <a:p>
            <a:pPr marL="514350" indent="-514350">
              <a:buFont typeface="+mj-lt"/>
              <a:buAutoNum type="arabicPeriod"/>
            </a:pPr>
            <a:r>
              <a:rPr lang="sr-Latn-RS" noProof="0" dirty="0"/>
              <a:t>Grad-CAM: </a:t>
            </a:r>
            <a:r>
              <a:rPr lang="sr-Latn-RS" noProof="0" dirty="0" err="1"/>
              <a:t>Visual</a:t>
            </a:r>
            <a:r>
              <a:rPr lang="sr-Latn-RS" noProof="0" dirty="0"/>
              <a:t> </a:t>
            </a:r>
            <a:r>
              <a:rPr lang="sr-Latn-RS" noProof="0" dirty="0" err="1"/>
              <a:t>Explanations</a:t>
            </a:r>
            <a:r>
              <a:rPr lang="sr-Latn-RS" noProof="0" dirty="0"/>
              <a:t> from </a:t>
            </a:r>
            <a:r>
              <a:rPr lang="sr-Latn-RS" noProof="0" dirty="0" err="1"/>
              <a:t>Deep</a:t>
            </a:r>
            <a:r>
              <a:rPr lang="sr-Latn-RS" noProof="0" dirty="0"/>
              <a:t> </a:t>
            </a:r>
            <a:r>
              <a:rPr lang="sr-Latn-RS" noProof="0" dirty="0" err="1"/>
              <a:t>Networks</a:t>
            </a:r>
            <a:r>
              <a:rPr lang="sr-Latn-RS" dirty="0"/>
              <a:t> </a:t>
            </a:r>
            <a:r>
              <a:rPr lang="sr-Latn-RS" noProof="0" dirty="0" err="1"/>
              <a:t>via</a:t>
            </a:r>
            <a:r>
              <a:rPr lang="sr-Latn-RS" noProof="0" dirty="0"/>
              <a:t> </a:t>
            </a:r>
            <a:r>
              <a:rPr lang="sr-Latn-RS" noProof="0" dirty="0" err="1"/>
              <a:t>Gradient-based</a:t>
            </a:r>
            <a:r>
              <a:rPr lang="sr-Latn-RS" noProof="0" dirty="0"/>
              <a:t> </a:t>
            </a:r>
            <a:r>
              <a:rPr lang="sr-Latn-RS" noProof="0" dirty="0" err="1"/>
              <a:t>Localization</a:t>
            </a:r>
            <a:r>
              <a:rPr lang="sr-Latn-RS" noProof="0" dirty="0"/>
              <a:t>;</a:t>
            </a:r>
            <a:r>
              <a:rPr lang="en-US" dirty="0"/>
              <a:t> Selvaraju, Cogswell, Das, Vedantam, Parikh, Batra</a:t>
            </a:r>
          </a:p>
          <a:p>
            <a:pPr marL="514350" indent="-514350">
              <a:buFont typeface="+mj-lt"/>
              <a:buAutoNum type="arabicPeriod"/>
            </a:pPr>
            <a:endParaRPr lang="en-US" dirty="0"/>
          </a:p>
          <a:p>
            <a:pPr marL="514350" indent="-514350">
              <a:buFont typeface="+mj-lt"/>
              <a:buAutoNum type="arabicPeriod"/>
            </a:pPr>
            <a:endParaRPr lang="sr-Latn-RS" noProof="0" dirty="0"/>
          </a:p>
          <a:p>
            <a:pPr marL="514350" indent="-514350">
              <a:buFont typeface="+mj-lt"/>
              <a:buAutoNum type="arabicPeriod"/>
            </a:pPr>
            <a:endParaRPr lang="sr-Latn-RS" noProof="0" dirty="0"/>
          </a:p>
          <a:p>
            <a:pPr marL="514350" indent="-514350">
              <a:buFont typeface="+mj-lt"/>
              <a:buAutoNum type="arabicPeriod"/>
            </a:pPr>
            <a:endParaRPr lang="sr-Latn-RS" noProof="0" dirty="0"/>
          </a:p>
          <a:p>
            <a:endParaRPr lang="sr-Latn-RS" noProof="0" dirty="0"/>
          </a:p>
        </p:txBody>
      </p:sp>
    </p:spTree>
    <p:extLst>
      <p:ext uri="{BB962C8B-B14F-4D97-AF65-F5344CB8AC3E}">
        <p14:creationId xmlns:p14="http://schemas.microsoft.com/office/powerpoint/2010/main" val="2031357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 name="Title 1">
            <a:extLst>
              <a:ext uri="{FF2B5EF4-FFF2-40B4-BE49-F238E27FC236}">
                <a16:creationId xmlns:a16="http://schemas.microsoft.com/office/drawing/2014/main" id="{BD05EA60-1FE2-616D-7CC0-DFCA8AFCC9C2}"/>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sr-Latn-RS" sz="4800" kern="1200" noProof="0" dirty="0">
                <a:solidFill>
                  <a:srgbClr val="FFFFFF"/>
                </a:solidFill>
                <a:latin typeface="+mj-lt"/>
                <a:ea typeface="+mj-ea"/>
                <a:cs typeface="+mj-cs"/>
              </a:rPr>
              <a:t>Hvala na pažnji</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r-Latn-RS" noProof="0" dirty="0"/>
          </a:p>
        </p:txBody>
      </p:sp>
    </p:spTree>
    <p:extLst>
      <p:ext uri="{BB962C8B-B14F-4D97-AF65-F5344CB8AC3E}">
        <p14:creationId xmlns:p14="http://schemas.microsoft.com/office/powerpoint/2010/main" val="3034697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60b115b-374e-4b71-aad0-cadb89449ff3}" enabled="1" method="Standard" siteId="{0f34b654-0236-4838-a647-96f3fe3d479d}" contentBits="0" removed="0"/>
</clbl:labelList>
</file>

<file path=docProps/app.xml><?xml version="1.0" encoding="utf-8"?>
<Properties xmlns="http://schemas.openxmlformats.org/officeDocument/2006/extended-properties" xmlns:vt="http://schemas.openxmlformats.org/officeDocument/2006/docPropsVTypes">
  <TotalTime>2942</TotalTime>
  <Words>1618</Words>
  <Application>Microsoft Macintosh PowerPoint</Application>
  <PresentationFormat>Widescreen</PresentationFormat>
  <Paragraphs>152</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Cambria Math</vt:lpstr>
      <vt:lpstr>Office Theme</vt:lpstr>
      <vt:lpstr>Grad-CAM: Visual Explanations from Deep Networks </vt:lpstr>
      <vt:lpstr>Zašto nam je potrebna interpretabilnost?</vt:lpstr>
      <vt:lpstr>AI kao neizostavan deo svakodnevnice</vt:lpstr>
      <vt:lpstr>Interpretability vs. Explainability </vt:lpstr>
      <vt:lpstr>Interpretability vs. Explainability</vt:lpstr>
      <vt:lpstr>Najveći izazovi sa kojima se susrećemo u XAI</vt:lpstr>
      <vt:lpstr>Neophodni pojmovi za razumeti prilikom korišćenja XAI</vt:lpstr>
      <vt:lpstr>CNN - osnova Grad-CAM metode</vt:lpstr>
      <vt:lpstr>Zašto koristimo CNNs uopšte?</vt:lpstr>
      <vt:lpstr>Lokalna povezanost i deljenje parametara kod CNNs </vt:lpstr>
      <vt:lpstr>PowerPoint Presentation</vt:lpstr>
      <vt:lpstr>Od klasifikacije do lokalizacije</vt:lpstr>
      <vt:lpstr>CAM – Class Activation Mapping</vt:lpstr>
      <vt:lpstr>Ograničenja CAM-a → Grad-CAM</vt:lpstr>
      <vt:lpstr>Grad-CAM-osnovna ideja</vt:lpstr>
      <vt:lpstr>Grad-CAM-značaj feature mapa</vt:lpstr>
      <vt:lpstr>Grad-CAM – mapa lokalizacije</vt:lpstr>
      <vt:lpstr>PowerPoint Presentation</vt:lpstr>
      <vt:lpstr>Guided Grad-CAM</vt:lpstr>
      <vt:lpstr>Primene Grad-CAM metode</vt:lpstr>
      <vt:lpstr>Prednosti i mane Grad-CAM-a</vt:lpstr>
      <vt:lpstr>Literatura i reference</vt:lpstr>
      <vt:lpstr>Hvala na pažnji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Milic Mladen</dc:creator>
  <cp:lastModifiedBy>Milic Mladen</cp:lastModifiedBy>
  <cp:revision>35</cp:revision>
  <dcterms:created xsi:type="dcterms:W3CDTF">2026-09-20T18:56:06Z</dcterms:created>
  <dcterms:modified xsi:type="dcterms:W3CDTF">2026-09-23T09:02:07Z</dcterms:modified>
</cp:coreProperties>
</file>